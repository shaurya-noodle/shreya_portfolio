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59" r:id="rId1"/>
  </p:sldMasterIdLst>
  <p:notesMasterIdLst>
    <p:notesMasterId r:id="rId45"/>
  </p:notesMasterIdLst>
  <p:handoutMasterIdLst>
    <p:handoutMasterId r:id="rId4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9144000" cy="5143500" type="screen16x9"/>
  <p:notesSz cx="6858000" cy="9144000"/>
  <p:embeddedFontLst>
    <p:embeddedFont>
      <p:font typeface="Roboto" panose="02000000000000000000" pitchFamily="2" charset="0"/>
      <p:regular r:id="rId47"/>
      <p:bold r:id="rId48"/>
      <p:italic r:id="rId49"/>
      <p:boldItalic r:id="rId50"/>
    </p:embeddedFont>
    <p:embeddedFont>
      <p:font typeface="Roboto Thin" panose="02000000000000000000" pitchFamily="2"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C6D46BF-26D9-4197-9B16-C44D34832C7E}">
  <a:tblStyle styleId="{4C6D46BF-26D9-4197-9B16-C44D34832C7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33"/>
  </p:normalViewPr>
  <p:slideViewPr>
    <p:cSldViewPr snapToGrid="0">
      <p:cViewPr varScale="1">
        <p:scale>
          <a:sx n="138" d="100"/>
          <a:sy n="138" d="100"/>
        </p:scale>
        <p:origin x="784" y="184"/>
      </p:cViewPr>
      <p:guideLst>
        <p:guide orient="horz" pos="1620"/>
        <p:guide pos="2880"/>
      </p:guideLst>
    </p:cSldViewPr>
  </p:slideViewPr>
  <p:notesTextViewPr>
    <p:cViewPr>
      <p:scale>
        <a:sx n="1" d="1"/>
        <a:sy n="1" d="1"/>
      </p:scale>
      <p:origin x="0" y="0"/>
    </p:cViewPr>
  </p:notesTextViewPr>
  <p:notesViewPr>
    <p:cSldViewPr snapToGrid="0">
      <p:cViewPr varScale="1">
        <p:scale>
          <a:sx n="83" d="100"/>
          <a:sy n="83" d="100"/>
        </p:scale>
        <p:origin x="3992"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7.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A28D7E-622A-686D-3193-9A4F09CAFA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D56265A-B222-B9A9-8BC3-3BA597B72E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A7ED414-BDBC-FC40-9147-31CB0A531842}" type="datetimeFigureOut">
              <a:rPr lang="en-US" smtClean="0"/>
              <a:t>12/10/25</a:t>
            </a:fld>
            <a:endParaRPr lang="en-US"/>
          </a:p>
        </p:txBody>
      </p:sp>
      <p:sp>
        <p:nvSpPr>
          <p:cNvPr id="4" name="Footer Placeholder 3">
            <a:extLst>
              <a:ext uri="{FF2B5EF4-FFF2-40B4-BE49-F238E27FC236}">
                <a16:creationId xmlns:a16="http://schemas.microsoft.com/office/drawing/2014/main" id="{3A96C1C9-A56D-71C9-6CC0-C7E786FB09C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72F0AEF-5799-0530-92DC-ED88E6FB92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1A6716-80B4-F241-878B-A73D15F7C536}" type="slidenum">
              <a:rPr lang="en-US" smtClean="0"/>
              <a:t>‹#›</a:t>
            </a:fld>
            <a:endParaRPr lang="en-US"/>
          </a:p>
        </p:txBody>
      </p:sp>
    </p:spTree>
    <p:extLst>
      <p:ext uri="{BB962C8B-B14F-4D97-AF65-F5344CB8AC3E}">
        <p14:creationId xmlns:p14="http://schemas.microsoft.com/office/powerpoint/2010/main" val="15146229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6ca9c2d545_0_2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6ca9c2d545_0_2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c702852570_3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c702852570_3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6ca9c2d545_0_2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6ca9c2d545_0_2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c702852570_3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c702852570_3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c6f5c1f50a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c6f5c1f50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c6f5c1f50a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6f5c1f50a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c6f5c1f50a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c6f5c1f50a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c702852570_6_8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c702852570_6_8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c6f5c1f50a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c6f5c1f50a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c6f5c1f50a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c6f5c1f50a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c6f5c1f50a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c6f5c1f50a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c702852570_6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c702852570_6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c702852570_6_1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c702852570_6_1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c702852570_3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c702852570_3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6ca9c2d545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6ca9c2d545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6ca9c2d545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6ca9c2d545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6ca9c2d545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6ca9c2d545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c702852570_6_17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c702852570_6_17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c6f5c1f50a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c6f5c1f50a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6ca9c2d545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6ca9c2d545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6ca9c2d545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6ca9c2d545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26ca9c2d545_0_7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26ca9c2d545_0_7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26ca9c2d545_0_7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26ca9c2d545_0_7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26ca9c2d545_0_1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26ca9c2d545_0_1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6ca9c2d545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6ca9c2d545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26ca9c2d545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26ca9c2d545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26ca9c2d545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26ca9c2d545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6ca9c2d545_0_1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26ca9c2d545_0_1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26ca9c2d545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26ca9c2d545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6ca9c2d545_0_2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26ca9c2d545_0_2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26ca9c2d545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26ca9c2d545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c702852570_7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2c702852570_7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2c702852570_7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2c702852570_7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26ca9c2d545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6ca9c2d545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6ca9c2d545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6ca9c2d545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6ca9c2d545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6ca9c2d545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6ca9c2d545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6ca9c2d545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6ca9c2d545_0_2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26ca9c2d545_0_2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26ca9c2d545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26ca9c2d545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2c702852570_3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2c702852570_3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2c702852570_7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2c702852570_7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26ca9c2d545_0_2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26ca9c2d545_0_2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7B7B7"/>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389100" y="790375"/>
            <a:ext cx="8548200" cy="128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4000">
              <a:solidFill>
                <a:schemeClr val="lt1"/>
              </a:solidFill>
            </a:endParaRPr>
          </a:p>
          <a:p>
            <a:pPr marL="0" lvl="0" indent="0" algn="ctr" rtl="0">
              <a:spcBef>
                <a:spcPts val="0"/>
              </a:spcBef>
              <a:spcAft>
                <a:spcPts val="0"/>
              </a:spcAft>
              <a:buNone/>
            </a:pPr>
            <a:r>
              <a:rPr lang="en" sz="4000">
                <a:solidFill>
                  <a:schemeClr val="dk1"/>
                </a:solidFill>
              </a:rPr>
              <a:t>Martha Stewart Cannabis</a:t>
            </a:r>
            <a:endParaRPr sz="4000">
              <a:solidFill>
                <a:schemeClr val="dk1"/>
              </a:solidFill>
            </a:endParaRPr>
          </a:p>
        </p:txBody>
      </p:sp>
      <p:sp>
        <p:nvSpPr>
          <p:cNvPr id="55" name="Google Shape;55;p13"/>
          <p:cNvSpPr txBox="1"/>
          <p:nvPr/>
        </p:nvSpPr>
        <p:spPr>
          <a:xfrm>
            <a:off x="2936550" y="2887900"/>
            <a:ext cx="3270900" cy="94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1"/>
                </a:solidFill>
              </a:rPr>
              <a:t>PRESENTED BY : </a:t>
            </a:r>
            <a:br>
              <a:rPr lang="en" sz="1800" dirty="0">
                <a:solidFill>
                  <a:schemeClr val="dk1"/>
                </a:solidFill>
              </a:rPr>
            </a:br>
            <a:r>
              <a:rPr lang="en" sz="1800" dirty="0">
                <a:solidFill>
                  <a:schemeClr val="dk1"/>
                </a:solidFill>
              </a:rPr>
              <a:t>Shreya Punj(131271207)</a:t>
            </a:r>
            <a:endParaRPr sz="1800" dirty="0">
              <a:solidFill>
                <a:schemeClr val="dk1"/>
              </a:solidFill>
            </a:endParaRPr>
          </a:p>
        </p:txBody>
      </p:sp>
      <p:sp>
        <p:nvSpPr>
          <p:cNvPr id="2" name="Slide Number Placeholder 1">
            <a:extLst>
              <a:ext uri="{FF2B5EF4-FFF2-40B4-BE49-F238E27FC236}">
                <a16:creationId xmlns:a16="http://schemas.microsoft.com/office/drawing/2014/main" id="{80EA209F-A669-9473-49F3-A712337837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0</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graphicFrame>
        <p:nvGraphicFramePr>
          <p:cNvPr id="60" name="Google Shape;60;p14"/>
          <p:cNvGraphicFramePr/>
          <p:nvPr/>
        </p:nvGraphicFramePr>
        <p:xfrm>
          <a:off x="75650" y="668300"/>
          <a:ext cx="9068350" cy="3881217"/>
        </p:xfrm>
        <a:graphic>
          <a:graphicData uri="http://schemas.openxmlformats.org/drawingml/2006/table">
            <a:tbl>
              <a:tblPr>
                <a:noFill/>
                <a:tableStyleId>{4C6D46BF-26D9-4197-9B16-C44D34832C7E}</a:tableStyleId>
              </a:tblPr>
              <a:tblGrid>
                <a:gridCol w="1759525">
                  <a:extLst>
                    <a:ext uri="{9D8B030D-6E8A-4147-A177-3AD203B41FA5}">
                      <a16:colId xmlns:a16="http://schemas.microsoft.com/office/drawing/2014/main" val="20000"/>
                    </a:ext>
                  </a:extLst>
                </a:gridCol>
                <a:gridCol w="1909925">
                  <a:extLst>
                    <a:ext uri="{9D8B030D-6E8A-4147-A177-3AD203B41FA5}">
                      <a16:colId xmlns:a16="http://schemas.microsoft.com/office/drawing/2014/main" val="20001"/>
                    </a:ext>
                  </a:extLst>
                </a:gridCol>
                <a:gridCol w="1879850">
                  <a:extLst>
                    <a:ext uri="{9D8B030D-6E8A-4147-A177-3AD203B41FA5}">
                      <a16:colId xmlns:a16="http://schemas.microsoft.com/office/drawing/2014/main" val="20002"/>
                    </a:ext>
                  </a:extLst>
                </a:gridCol>
                <a:gridCol w="1714400">
                  <a:extLst>
                    <a:ext uri="{9D8B030D-6E8A-4147-A177-3AD203B41FA5}">
                      <a16:colId xmlns:a16="http://schemas.microsoft.com/office/drawing/2014/main" val="20003"/>
                    </a:ext>
                  </a:extLst>
                </a:gridCol>
                <a:gridCol w="1804650">
                  <a:extLst>
                    <a:ext uri="{9D8B030D-6E8A-4147-A177-3AD203B41FA5}">
                      <a16:colId xmlns:a16="http://schemas.microsoft.com/office/drawing/2014/main" val="20004"/>
                    </a:ext>
                  </a:extLst>
                </a:gridCol>
              </a:tblGrid>
              <a:tr h="876300">
                <a:tc>
                  <a:txBody>
                    <a:bodyPr/>
                    <a:lstStyle/>
                    <a:p>
                      <a:pPr marL="0" lvl="0" indent="0" algn="l" rtl="0">
                        <a:lnSpc>
                          <a:spcPct val="115000"/>
                        </a:lnSpc>
                        <a:spcBef>
                          <a:spcPts val="1200"/>
                        </a:spcBef>
                        <a:spcAft>
                          <a:spcPts val="0"/>
                        </a:spcAft>
                        <a:buNone/>
                      </a:pPr>
                      <a:r>
                        <a:rPr lang="en" sz="1200" b="1"/>
                        <a:t>Criteria for Market Assessment</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1200" b="1"/>
                        <a:t>Market 1 (Premium CBD Market)</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1200" b="1"/>
                        <a:t>Market 2 (Recreational Cannabis)</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1200" b="1"/>
                        <a:t>Market 3 (Medical Cannabis)</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1200" b="1"/>
                        <a:t>Market 4 (Culinary Industry)</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33400">
                <a:tc>
                  <a:txBody>
                    <a:bodyPr/>
                    <a:lstStyle/>
                    <a:p>
                      <a:pPr marL="0" lvl="0" indent="0" algn="just" rtl="0">
                        <a:lnSpc>
                          <a:spcPct val="115000"/>
                        </a:lnSpc>
                        <a:spcBef>
                          <a:spcPts val="1200"/>
                        </a:spcBef>
                        <a:spcAft>
                          <a:spcPts val="0"/>
                        </a:spcAft>
                        <a:buNone/>
                      </a:pPr>
                      <a:r>
                        <a:rPr lang="en" sz="1200"/>
                        <a:t>Legal Status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Federal Legalization</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Recreational Use Legalization</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Medical Use Legalization</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N/A (Legalization Irrelevant)</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38225">
                <a:tc>
                  <a:txBody>
                    <a:bodyPr/>
                    <a:lstStyle/>
                    <a:p>
                      <a:pPr marL="0" lvl="0" indent="0" algn="just" rtl="0">
                        <a:lnSpc>
                          <a:spcPct val="115000"/>
                        </a:lnSpc>
                        <a:spcBef>
                          <a:spcPts val="1200"/>
                        </a:spcBef>
                        <a:spcAft>
                          <a:spcPts val="0"/>
                        </a:spcAft>
                        <a:buNone/>
                      </a:pPr>
                      <a:r>
                        <a:rPr lang="en" sz="1200"/>
                        <a:t>Consumer Perception</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High-quality, effective, luxurious, and associated with wellness benefits.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Lifestyle Choice</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Medicinal Benefits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Culinary Experience</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381125">
                <a:tc>
                  <a:txBody>
                    <a:bodyPr/>
                    <a:lstStyle/>
                    <a:p>
                      <a:pPr marL="0" lvl="0" indent="0" algn="just" rtl="0">
                        <a:lnSpc>
                          <a:spcPct val="115000"/>
                        </a:lnSpc>
                        <a:spcBef>
                          <a:spcPts val="1200"/>
                        </a:spcBef>
                        <a:spcAft>
                          <a:spcPts val="0"/>
                        </a:spcAft>
                        <a:buNone/>
                      </a:pPr>
                      <a:r>
                        <a:rPr lang="en" sz="1200"/>
                        <a:t>Target Demographic</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Affluent, health-conscious individuals seeking targeted solutions for various concerns (anxiety, sleep, pain).</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Adult Consumers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Patients with Specific Conditions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Food Enthusiasts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61" name="Google Shape;61;p14"/>
          <p:cNvSpPr txBox="1"/>
          <p:nvPr/>
        </p:nvSpPr>
        <p:spPr>
          <a:xfrm>
            <a:off x="195925" y="88600"/>
            <a:ext cx="8827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The Perfect Fit: Positioning Martha Stewart CBD in the Premium Market</a:t>
            </a:r>
            <a:endParaRPr sz="1800" b="1">
              <a:solidFill>
                <a:schemeClr val="dk1"/>
              </a:solidFill>
            </a:endParaRPr>
          </a:p>
        </p:txBody>
      </p:sp>
      <p:sp>
        <p:nvSpPr>
          <p:cNvPr id="2" name="Slide Number Placeholder 1">
            <a:extLst>
              <a:ext uri="{FF2B5EF4-FFF2-40B4-BE49-F238E27FC236}">
                <a16:creationId xmlns:a16="http://schemas.microsoft.com/office/drawing/2014/main" id="{54BAECDC-81C7-ABCA-9516-6899BCAF8A67}"/>
              </a:ext>
            </a:extLst>
          </p:cNvPr>
          <p:cNvSpPr>
            <a:spLocks noGrp="1"/>
          </p:cNvSpPr>
          <p:nvPr>
            <p:ph type="sldNum" idx="12"/>
          </p:nvPr>
        </p:nvSpPr>
        <p:spPr>
          <a:xfrm>
            <a:off x="75650" y="4663217"/>
            <a:ext cx="8945508" cy="393600"/>
          </a:xfrm>
        </p:spPr>
        <p:txBody>
          <a:bodyPr/>
          <a:lstStyle/>
          <a:p>
            <a:pPr marL="0" lvl="0" indent="0" algn="r" rtl="0">
              <a:spcBef>
                <a:spcPts val="0"/>
              </a:spcBef>
              <a:spcAft>
                <a:spcPts val="0"/>
              </a:spcAft>
              <a:buNone/>
            </a:pPr>
            <a:fld id="{00000000-1234-1234-1234-123412341234}" type="slidenum">
              <a:rPr lang="en" smtClean="0"/>
              <a:t>1</a:t>
            </a:fld>
            <a:endParaRPr lang="e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graphicFrame>
        <p:nvGraphicFramePr>
          <p:cNvPr id="66" name="Google Shape;66;p15"/>
          <p:cNvGraphicFramePr/>
          <p:nvPr>
            <p:extLst>
              <p:ext uri="{D42A27DB-BD31-4B8C-83A1-F6EECF244321}">
                <p14:modId xmlns:p14="http://schemas.microsoft.com/office/powerpoint/2010/main" val="2297418553"/>
              </p:ext>
            </p:extLst>
          </p:nvPr>
        </p:nvGraphicFramePr>
        <p:xfrm>
          <a:off x="347200" y="595375"/>
          <a:ext cx="8409525" cy="4271900"/>
        </p:xfrm>
        <a:graphic>
          <a:graphicData uri="http://schemas.openxmlformats.org/drawingml/2006/table">
            <a:tbl>
              <a:tblPr>
                <a:noFill/>
                <a:tableStyleId>{4C6D46BF-26D9-4197-9B16-C44D34832C7E}</a:tableStyleId>
              </a:tblPr>
              <a:tblGrid>
                <a:gridCol w="1656850">
                  <a:extLst>
                    <a:ext uri="{9D8B030D-6E8A-4147-A177-3AD203B41FA5}">
                      <a16:colId xmlns:a16="http://schemas.microsoft.com/office/drawing/2014/main" val="20000"/>
                    </a:ext>
                  </a:extLst>
                </a:gridCol>
                <a:gridCol w="1712525">
                  <a:extLst>
                    <a:ext uri="{9D8B030D-6E8A-4147-A177-3AD203B41FA5}">
                      <a16:colId xmlns:a16="http://schemas.microsoft.com/office/drawing/2014/main" val="20001"/>
                    </a:ext>
                  </a:extLst>
                </a:gridCol>
                <a:gridCol w="1768225">
                  <a:extLst>
                    <a:ext uri="{9D8B030D-6E8A-4147-A177-3AD203B41FA5}">
                      <a16:colId xmlns:a16="http://schemas.microsoft.com/office/drawing/2014/main" val="20002"/>
                    </a:ext>
                  </a:extLst>
                </a:gridCol>
                <a:gridCol w="1656850">
                  <a:extLst>
                    <a:ext uri="{9D8B030D-6E8A-4147-A177-3AD203B41FA5}">
                      <a16:colId xmlns:a16="http://schemas.microsoft.com/office/drawing/2014/main" val="20003"/>
                    </a:ext>
                  </a:extLst>
                </a:gridCol>
                <a:gridCol w="1615075">
                  <a:extLst>
                    <a:ext uri="{9D8B030D-6E8A-4147-A177-3AD203B41FA5}">
                      <a16:colId xmlns:a16="http://schemas.microsoft.com/office/drawing/2014/main" val="20004"/>
                    </a:ext>
                  </a:extLst>
                </a:gridCol>
              </a:tblGrid>
              <a:tr h="946400">
                <a:tc>
                  <a:txBody>
                    <a:bodyPr/>
                    <a:lstStyle/>
                    <a:p>
                      <a:pPr marL="0" lvl="0" indent="0" algn="l" rtl="0">
                        <a:lnSpc>
                          <a:spcPct val="115000"/>
                        </a:lnSpc>
                        <a:spcBef>
                          <a:spcPts val="1200"/>
                        </a:spcBef>
                        <a:spcAft>
                          <a:spcPts val="0"/>
                        </a:spcAft>
                        <a:buNone/>
                      </a:pPr>
                      <a:r>
                        <a:rPr lang="en" sz="1200" b="1"/>
                        <a:t>Criteria for Market Assessment</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1200" b="1" dirty="0"/>
                        <a:t>Market 1(Premium CBD Market)</a:t>
                      </a:r>
                      <a:endParaRPr sz="1200" b="1" dirty="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1200" b="1"/>
                        <a:t>Market 2 (Recreational Cannabis)</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1200" b="1"/>
                        <a:t>Market 3 (Medical Cannabis)</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 sz="1200" b="1"/>
                        <a:t>Market 4 (Culinary Industry)</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740650">
                <a:tc>
                  <a:txBody>
                    <a:bodyPr/>
                    <a:lstStyle/>
                    <a:p>
                      <a:pPr marL="0" lvl="0" indent="0" algn="just" rtl="0">
                        <a:lnSpc>
                          <a:spcPct val="115000"/>
                        </a:lnSpc>
                        <a:spcBef>
                          <a:spcPts val="1200"/>
                        </a:spcBef>
                        <a:spcAft>
                          <a:spcPts val="0"/>
                        </a:spcAft>
                        <a:buNone/>
                      </a:pPr>
                      <a:r>
                        <a:rPr lang="en" sz="1200" b="1"/>
                        <a:t>Market Growth Potential</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High Growth</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High Growth</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Moderate Growth</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Moderate Growth</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44875">
                <a:tc>
                  <a:txBody>
                    <a:bodyPr/>
                    <a:lstStyle/>
                    <a:p>
                      <a:pPr marL="0" lvl="0" indent="0" algn="just" rtl="0">
                        <a:lnSpc>
                          <a:spcPct val="115000"/>
                        </a:lnSpc>
                        <a:spcBef>
                          <a:spcPts val="1200"/>
                        </a:spcBef>
                        <a:spcAft>
                          <a:spcPts val="0"/>
                        </a:spcAft>
                        <a:buNone/>
                      </a:pPr>
                      <a:r>
                        <a:rPr lang="en" sz="1200" b="1"/>
                        <a:t>Competition</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Increasing competition</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Intense Competition</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Limited Competition</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Intense Competition</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40650">
                <a:tc>
                  <a:txBody>
                    <a:bodyPr/>
                    <a:lstStyle/>
                    <a:p>
                      <a:pPr marL="0" lvl="0" indent="0" algn="just" rtl="0">
                        <a:lnSpc>
                          <a:spcPct val="115000"/>
                        </a:lnSpc>
                        <a:spcBef>
                          <a:spcPts val="1200"/>
                        </a:spcBef>
                        <a:spcAft>
                          <a:spcPts val="0"/>
                        </a:spcAft>
                        <a:buNone/>
                      </a:pPr>
                      <a:r>
                        <a:rPr lang="en" sz="1200" b="1"/>
                        <a:t>Regulatory Environment</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Evolving Regulations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Evolving Regulations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Strict Regulations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Established Regulations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54450">
                <a:tc>
                  <a:txBody>
                    <a:bodyPr/>
                    <a:lstStyle/>
                    <a:p>
                      <a:pPr marL="0" lvl="0" indent="0" algn="just" rtl="0">
                        <a:lnSpc>
                          <a:spcPct val="115000"/>
                        </a:lnSpc>
                        <a:spcBef>
                          <a:spcPts val="1200"/>
                        </a:spcBef>
                        <a:spcAft>
                          <a:spcPts val="0"/>
                        </a:spcAft>
                        <a:buNone/>
                      </a:pPr>
                      <a:r>
                        <a:rPr lang="en" sz="1200" b="1"/>
                        <a:t>Collaborators</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Premium brands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Cannabis Dispensaries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Medical Professionals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Specialty Food Suppliers</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44875">
                <a:tc>
                  <a:txBody>
                    <a:bodyPr/>
                    <a:lstStyle/>
                    <a:p>
                      <a:pPr marL="0" lvl="0" indent="0" algn="just" rtl="0">
                        <a:lnSpc>
                          <a:spcPct val="115000"/>
                        </a:lnSpc>
                        <a:spcBef>
                          <a:spcPts val="1200"/>
                        </a:spcBef>
                        <a:spcAft>
                          <a:spcPts val="0"/>
                        </a:spcAft>
                        <a:buNone/>
                      </a:pPr>
                      <a:r>
                        <a:rPr lang="en" sz="1200" b="1"/>
                        <a:t>Brand Fit</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Quality &amp; Luxury</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Lifestyle Appeal</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a:t>Medical Expertise</a:t>
                      </a:r>
                      <a:endParaRPr sz="120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15000"/>
                        </a:lnSpc>
                        <a:spcBef>
                          <a:spcPts val="1200"/>
                        </a:spcBef>
                        <a:spcAft>
                          <a:spcPts val="0"/>
                        </a:spcAft>
                        <a:buNone/>
                      </a:pPr>
                      <a:r>
                        <a:rPr lang="en" sz="1200" dirty="0"/>
                        <a:t>Culinary Expertise</a:t>
                      </a:r>
                      <a:endParaRPr sz="1200" dirty="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67" name="Google Shape;67;p15"/>
          <p:cNvSpPr txBox="1"/>
          <p:nvPr/>
        </p:nvSpPr>
        <p:spPr>
          <a:xfrm>
            <a:off x="144300" y="60800"/>
            <a:ext cx="8999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The Perfect Fit: Positioning Martha Stewart CBD in the Premium Market</a:t>
            </a:r>
            <a:endParaRPr sz="1800" b="1">
              <a:solidFill>
                <a:schemeClr val="dk1"/>
              </a:solidFill>
            </a:endParaRPr>
          </a:p>
        </p:txBody>
      </p:sp>
      <p:sp>
        <p:nvSpPr>
          <p:cNvPr id="2" name="Slide Number Placeholder 1">
            <a:extLst>
              <a:ext uri="{FF2B5EF4-FFF2-40B4-BE49-F238E27FC236}">
                <a16:creationId xmlns:a16="http://schemas.microsoft.com/office/drawing/2014/main" id="{1B3C182D-E92C-737E-DC51-B00A4C8D0E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body" idx="1"/>
          </p:nvPr>
        </p:nvSpPr>
        <p:spPr>
          <a:xfrm>
            <a:off x="676375" y="461700"/>
            <a:ext cx="8321700" cy="4708500"/>
          </a:xfrm>
          <a:prstGeom prst="rect">
            <a:avLst/>
          </a:prstGeom>
        </p:spPr>
        <p:txBody>
          <a:bodyPr spcFirstLastPara="1" wrap="square" lIns="91425" tIns="91425" rIns="91425" bIns="91425" anchor="t" anchorCtr="0">
            <a:noAutofit/>
          </a:bodyPr>
          <a:lstStyle/>
          <a:p>
            <a:pPr marL="457200" lvl="0" indent="0" algn="just" rtl="0">
              <a:lnSpc>
                <a:spcPct val="150000"/>
              </a:lnSpc>
              <a:spcBef>
                <a:spcPts val="0"/>
              </a:spcBef>
              <a:spcAft>
                <a:spcPts val="0"/>
              </a:spcAft>
              <a:buNone/>
            </a:pPr>
            <a:r>
              <a:rPr lang="en" sz="1200" b="1">
                <a:solidFill>
                  <a:srgbClr val="0D0D0D"/>
                </a:solidFill>
              </a:rPr>
              <a:t>Premium CBD Market(Market 1): </a:t>
            </a:r>
            <a:r>
              <a:rPr lang="en" sz="1200">
                <a:solidFill>
                  <a:srgbClr val="0D0D0D"/>
                </a:solidFill>
              </a:rPr>
              <a:t>:The premium CBD market is a rapidly growing segment within the larger CBD industry. It caters to discerning consumers seeking high-quality, effective, and often luxurious CBD products. The target consumers for this is affluent &amp; health conscious individuals These consumers have disposable income and are willing to pay a premium for quality CBD products perceived as more effective and trustworthy.</a:t>
            </a:r>
            <a:endParaRPr sz="1200">
              <a:solidFill>
                <a:srgbClr val="0D0D0D"/>
              </a:solidFill>
              <a:highlight>
                <a:srgbClr val="FFFFFF"/>
              </a:highlight>
            </a:endParaRPr>
          </a:p>
          <a:p>
            <a:pPr marL="457200" lvl="0" indent="0" algn="just" rtl="0">
              <a:lnSpc>
                <a:spcPct val="150000"/>
              </a:lnSpc>
              <a:spcBef>
                <a:spcPts val="0"/>
              </a:spcBef>
              <a:spcAft>
                <a:spcPts val="0"/>
              </a:spcAft>
              <a:buNone/>
            </a:pPr>
            <a:r>
              <a:rPr lang="en" sz="1200" b="1">
                <a:solidFill>
                  <a:schemeClr val="dk1"/>
                </a:solidFill>
              </a:rPr>
              <a:t>Recreational Cannabis Market (Market 2):</a:t>
            </a:r>
            <a:r>
              <a:rPr lang="en" sz="1200">
                <a:solidFill>
                  <a:schemeClr val="dk1"/>
                </a:solidFill>
              </a:rPr>
              <a:t> </a:t>
            </a:r>
            <a:r>
              <a:rPr lang="en" sz="1200">
                <a:solidFill>
                  <a:srgbClr val="0D0D0D"/>
                </a:solidFill>
                <a:highlight>
                  <a:srgbClr val="FFFFFF"/>
                </a:highlight>
              </a:rPr>
              <a:t>The target market comprises adult consumers seeking recreational cannabis use, presenting significant growth potential amid evolving legal landscapes. Although competition is intense, expanding legalization offers opportunities for market growth. Consumer perception views cannabis as a lifestyle choice rather than solely medicinal, driving demand in this segment.</a:t>
            </a:r>
            <a:endParaRPr sz="1200">
              <a:solidFill>
                <a:srgbClr val="0D0D0D"/>
              </a:solidFill>
              <a:highlight>
                <a:srgbClr val="FFFFFF"/>
              </a:highlight>
            </a:endParaRPr>
          </a:p>
          <a:p>
            <a:pPr marL="457200" lvl="0" indent="0" algn="just" rtl="0">
              <a:lnSpc>
                <a:spcPct val="150000"/>
              </a:lnSpc>
              <a:spcBef>
                <a:spcPts val="0"/>
              </a:spcBef>
              <a:spcAft>
                <a:spcPts val="0"/>
              </a:spcAft>
              <a:buNone/>
            </a:pPr>
            <a:r>
              <a:rPr lang="en" sz="1200" b="1">
                <a:solidFill>
                  <a:schemeClr val="dk1"/>
                </a:solidFill>
              </a:rPr>
              <a:t>Medical Cannabis Market (Market 3):</a:t>
            </a:r>
            <a:r>
              <a:rPr lang="en" sz="1200">
                <a:solidFill>
                  <a:schemeClr val="dk1"/>
                </a:solidFill>
              </a:rPr>
              <a:t> This market targets patients seeking therapeutic benefits from cannabis products, representing a niche segment with minimal competition. The target demographic consists of individuals with specific medical conditions. Legal status is paramount, as stringent regulations govern the distribution and use of medical cannabis.</a:t>
            </a:r>
            <a:endParaRPr sz="1200">
              <a:solidFill>
                <a:schemeClr val="dk1"/>
              </a:solidFill>
            </a:endParaRPr>
          </a:p>
          <a:p>
            <a:pPr marL="457200" lvl="0" indent="0" algn="just" rtl="0">
              <a:lnSpc>
                <a:spcPct val="150000"/>
              </a:lnSpc>
              <a:spcBef>
                <a:spcPts val="0"/>
              </a:spcBef>
              <a:spcAft>
                <a:spcPts val="800"/>
              </a:spcAft>
              <a:buNone/>
            </a:pPr>
            <a:r>
              <a:rPr lang="en" sz="1200" b="1">
                <a:solidFill>
                  <a:schemeClr val="dk1"/>
                </a:solidFill>
              </a:rPr>
              <a:t>Culinary Industry (Market 4):</a:t>
            </a:r>
            <a:r>
              <a:rPr lang="en" sz="1200">
                <a:solidFill>
                  <a:schemeClr val="dk1"/>
                </a:solidFill>
              </a:rPr>
              <a:t> Positioned within the culinary landscape, this market targets food enthusiasts seeking innovative culinary experiences. While not directly related to cannabis legalization, it offers moderate growth potential with intense competition from specialty food suppliers. Consumer perception emphasizes the culinary applications of cannabis, aligning with the market's target demographic of food enthusiasts.</a:t>
            </a:r>
            <a:endParaRPr sz="1200"/>
          </a:p>
        </p:txBody>
      </p:sp>
      <p:sp>
        <p:nvSpPr>
          <p:cNvPr id="73" name="Google Shape;73;p16"/>
          <p:cNvSpPr txBox="1"/>
          <p:nvPr/>
        </p:nvSpPr>
        <p:spPr>
          <a:xfrm>
            <a:off x="112900" y="0"/>
            <a:ext cx="8265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The Perfect Fit: Positioning Martha Stewart CBD in the Premium Market</a:t>
            </a:r>
            <a:endParaRPr sz="1800" b="1">
              <a:solidFill>
                <a:schemeClr val="dk1"/>
              </a:solidFill>
            </a:endParaRPr>
          </a:p>
        </p:txBody>
      </p:sp>
      <p:sp>
        <p:nvSpPr>
          <p:cNvPr id="74" name="Google Shape;74;p16"/>
          <p:cNvSpPr/>
          <p:nvPr/>
        </p:nvSpPr>
        <p:spPr>
          <a:xfrm rot="5401346">
            <a:off x="303930" y="583719"/>
            <a:ext cx="766200" cy="693000"/>
          </a:xfrm>
          <a:prstGeom prst="leftRigh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 name="Google Shape;75;p16"/>
          <p:cNvSpPr/>
          <p:nvPr/>
        </p:nvSpPr>
        <p:spPr>
          <a:xfrm rot="5401346">
            <a:off x="303930" y="1690644"/>
            <a:ext cx="766200" cy="693000"/>
          </a:xfrm>
          <a:prstGeom prst="leftRigh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 name="Google Shape;76;p16"/>
          <p:cNvSpPr/>
          <p:nvPr/>
        </p:nvSpPr>
        <p:spPr>
          <a:xfrm rot="5401346">
            <a:off x="303930" y="2797569"/>
            <a:ext cx="766200" cy="693000"/>
          </a:xfrm>
          <a:prstGeom prst="leftRigh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 name="Google Shape;77;p16"/>
          <p:cNvSpPr/>
          <p:nvPr/>
        </p:nvSpPr>
        <p:spPr>
          <a:xfrm rot="5401346">
            <a:off x="303930" y="3849769"/>
            <a:ext cx="766200" cy="693000"/>
          </a:xfrm>
          <a:prstGeom prst="leftRigh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Slide Number Placeholder 1">
            <a:extLst>
              <a:ext uri="{FF2B5EF4-FFF2-40B4-BE49-F238E27FC236}">
                <a16:creationId xmlns:a16="http://schemas.microsoft.com/office/drawing/2014/main" id="{CB62B7EF-9D27-FB25-BEEC-69A0A6D3E8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p:nvPr/>
        </p:nvSpPr>
        <p:spPr>
          <a:xfrm>
            <a:off x="104975" y="84525"/>
            <a:ext cx="83901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Clr>
                <a:schemeClr val="dk1"/>
              </a:buClr>
              <a:buSzPts val="1100"/>
              <a:buFont typeface="Arial"/>
              <a:buNone/>
            </a:pPr>
            <a:r>
              <a:rPr lang="en" sz="1800">
                <a:solidFill>
                  <a:schemeClr val="dk1"/>
                </a:solidFill>
              </a:rPr>
              <a:t>The Premium CBD Market (Market 1) emerges as the most suitable target segment for Martha Stewart CBD. </a:t>
            </a:r>
            <a:endParaRPr sz="1800">
              <a:solidFill>
                <a:schemeClr val="dk1"/>
              </a:solidFill>
            </a:endParaRPr>
          </a:p>
        </p:txBody>
      </p:sp>
      <p:grpSp>
        <p:nvGrpSpPr>
          <p:cNvPr id="83" name="Google Shape;83;p17"/>
          <p:cNvGrpSpPr/>
          <p:nvPr/>
        </p:nvGrpSpPr>
        <p:grpSpPr>
          <a:xfrm>
            <a:off x="323525" y="1398350"/>
            <a:ext cx="2952113" cy="1878300"/>
            <a:chOff x="323525" y="1398350"/>
            <a:chExt cx="2952113" cy="1878300"/>
          </a:xfrm>
        </p:grpSpPr>
        <p:sp>
          <p:nvSpPr>
            <p:cNvPr id="84" name="Google Shape;84;p17"/>
            <p:cNvSpPr txBox="1"/>
            <p:nvPr/>
          </p:nvSpPr>
          <p:spPr>
            <a:xfrm>
              <a:off x="323525" y="1398350"/>
              <a:ext cx="2124000" cy="187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a:latin typeface="Roboto"/>
                  <a:ea typeface="Roboto"/>
                  <a:cs typeface="Roboto"/>
                  <a:sym typeface="Roboto"/>
                </a:rPr>
                <a:t>Strong Brand Alignment</a:t>
              </a:r>
              <a:endParaRPr sz="1600" b="1">
                <a:latin typeface="Roboto"/>
                <a:ea typeface="Roboto"/>
                <a:cs typeface="Roboto"/>
                <a:sym typeface="Roboto"/>
              </a:endParaRPr>
            </a:p>
            <a:p>
              <a:pPr marL="0" lvl="0" indent="0" algn="l" rtl="0">
                <a:spcBef>
                  <a:spcPts val="0"/>
                </a:spcBef>
                <a:spcAft>
                  <a:spcPts val="0"/>
                </a:spcAft>
                <a:buNone/>
              </a:pPr>
              <a:endParaRPr sz="1200" b="1">
                <a:latin typeface="Roboto"/>
                <a:ea typeface="Roboto"/>
                <a:cs typeface="Roboto"/>
                <a:sym typeface="Roboto"/>
              </a:endParaRPr>
            </a:p>
            <a:p>
              <a:pPr marL="0" lvl="0" indent="0" algn="l" rtl="0">
                <a:spcBef>
                  <a:spcPts val="0"/>
                </a:spcBef>
                <a:spcAft>
                  <a:spcPts val="1600"/>
                </a:spcAft>
                <a:buNone/>
              </a:pPr>
              <a:r>
                <a:rPr lang="en" sz="1200">
                  <a:latin typeface="Roboto"/>
                  <a:ea typeface="Roboto"/>
                  <a:cs typeface="Roboto"/>
                  <a:sym typeface="Roboto"/>
                </a:rPr>
                <a:t>Martha Stewart's brand is synonymous with quality, luxury, and a focus on well-being. This aligns perfectly with the core values of the premium CBD market.</a:t>
              </a:r>
              <a:endParaRPr sz="1200" b="1">
                <a:latin typeface="Roboto"/>
                <a:ea typeface="Roboto"/>
                <a:cs typeface="Roboto"/>
                <a:sym typeface="Roboto"/>
              </a:endParaRPr>
            </a:p>
          </p:txBody>
        </p:sp>
        <p:cxnSp>
          <p:nvCxnSpPr>
            <p:cNvPr id="85" name="Google Shape;85;p17"/>
            <p:cNvCxnSpPr/>
            <p:nvPr/>
          </p:nvCxnSpPr>
          <p:spPr>
            <a:xfrm rot="10800000">
              <a:off x="2642038" y="2647950"/>
              <a:ext cx="633600" cy="0"/>
            </a:xfrm>
            <a:prstGeom prst="straightConnector1">
              <a:avLst/>
            </a:prstGeom>
            <a:noFill/>
            <a:ln w="9525" cap="flat" cmpd="sng">
              <a:solidFill>
                <a:srgbClr val="505050"/>
              </a:solidFill>
              <a:prstDash val="solid"/>
              <a:round/>
              <a:headEnd type="none" w="sm" len="sm"/>
              <a:tailEnd type="oval" w="med" len="med"/>
            </a:ln>
          </p:spPr>
        </p:cxnSp>
      </p:grpSp>
      <p:grpSp>
        <p:nvGrpSpPr>
          <p:cNvPr id="86" name="Google Shape;86;p17"/>
          <p:cNvGrpSpPr/>
          <p:nvPr/>
        </p:nvGrpSpPr>
        <p:grpSpPr>
          <a:xfrm>
            <a:off x="5209838" y="1060350"/>
            <a:ext cx="3610650" cy="1289700"/>
            <a:chOff x="5209838" y="1060350"/>
            <a:chExt cx="3610650" cy="1289700"/>
          </a:xfrm>
        </p:grpSpPr>
        <p:sp>
          <p:nvSpPr>
            <p:cNvPr id="87" name="Google Shape;87;p17"/>
            <p:cNvSpPr txBox="1"/>
            <p:nvPr/>
          </p:nvSpPr>
          <p:spPr>
            <a:xfrm>
              <a:off x="6696488" y="1060350"/>
              <a:ext cx="2124000" cy="12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a:solidFill>
                    <a:schemeClr val="dk1"/>
                  </a:solidFill>
                  <a:latin typeface="Roboto"/>
                  <a:ea typeface="Roboto"/>
                  <a:cs typeface="Roboto"/>
                  <a:sym typeface="Roboto"/>
                </a:rPr>
                <a:t>Target Consumer Match</a:t>
              </a:r>
              <a:endParaRPr sz="1600" b="1">
                <a:latin typeface="Roboto"/>
                <a:ea typeface="Roboto"/>
                <a:cs typeface="Roboto"/>
                <a:sym typeface="Roboto"/>
              </a:endParaRPr>
            </a:p>
            <a:p>
              <a:pPr marL="0" lvl="0" indent="0" algn="l" rtl="0">
                <a:spcBef>
                  <a:spcPts val="1600"/>
                </a:spcBef>
                <a:spcAft>
                  <a:spcPts val="1600"/>
                </a:spcAft>
                <a:buNone/>
              </a:pPr>
              <a:r>
                <a:rPr lang="en" sz="1200">
                  <a:latin typeface="Roboto"/>
                  <a:ea typeface="Roboto"/>
                  <a:cs typeface="Roboto"/>
                  <a:sym typeface="Roboto"/>
                </a:rPr>
                <a:t>The premium CBD market caters to affluent, health-conscious individuals interested in high-quality, effective products. This perfectly describes Martha Stewart's core demographic.</a:t>
              </a:r>
              <a:endParaRPr sz="1200" b="1">
                <a:latin typeface="Roboto"/>
                <a:ea typeface="Roboto"/>
                <a:cs typeface="Roboto"/>
                <a:sym typeface="Roboto"/>
              </a:endParaRPr>
            </a:p>
          </p:txBody>
        </p:sp>
        <p:cxnSp>
          <p:nvCxnSpPr>
            <p:cNvPr id="88" name="Google Shape;88;p17"/>
            <p:cNvCxnSpPr/>
            <p:nvPr/>
          </p:nvCxnSpPr>
          <p:spPr>
            <a:xfrm>
              <a:off x="5209838" y="1705200"/>
              <a:ext cx="1286700" cy="0"/>
            </a:xfrm>
            <a:prstGeom prst="straightConnector1">
              <a:avLst/>
            </a:prstGeom>
            <a:noFill/>
            <a:ln w="9525" cap="flat" cmpd="sng">
              <a:solidFill>
                <a:srgbClr val="2F2F2F"/>
              </a:solidFill>
              <a:prstDash val="solid"/>
              <a:round/>
              <a:headEnd type="none" w="sm" len="sm"/>
              <a:tailEnd type="oval" w="med" len="med"/>
            </a:ln>
          </p:spPr>
        </p:cxnSp>
      </p:grpSp>
      <p:grpSp>
        <p:nvGrpSpPr>
          <p:cNvPr id="89" name="Google Shape;89;p17"/>
          <p:cNvGrpSpPr/>
          <p:nvPr/>
        </p:nvGrpSpPr>
        <p:grpSpPr>
          <a:xfrm>
            <a:off x="5209838" y="3020450"/>
            <a:ext cx="3610650" cy="1289700"/>
            <a:chOff x="5209838" y="3020450"/>
            <a:chExt cx="3610650" cy="1289700"/>
          </a:xfrm>
        </p:grpSpPr>
        <p:sp>
          <p:nvSpPr>
            <p:cNvPr id="90" name="Google Shape;90;p17"/>
            <p:cNvSpPr txBox="1"/>
            <p:nvPr/>
          </p:nvSpPr>
          <p:spPr>
            <a:xfrm>
              <a:off x="6696488" y="3020450"/>
              <a:ext cx="2124000" cy="128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a:latin typeface="Roboto"/>
                  <a:ea typeface="Roboto"/>
                  <a:cs typeface="Roboto"/>
                  <a:sym typeface="Roboto"/>
                </a:rPr>
                <a:t>Product Focus</a:t>
              </a:r>
              <a:endParaRPr sz="1600" b="1">
                <a:latin typeface="Roboto"/>
                <a:ea typeface="Roboto"/>
                <a:cs typeface="Roboto"/>
                <a:sym typeface="Roboto"/>
              </a:endParaRPr>
            </a:p>
            <a:p>
              <a:pPr marL="0" lvl="0" indent="0" algn="l" rtl="0">
                <a:spcBef>
                  <a:spcPts val="0"/>
                </a:spcBef>
                <a:spcAft>
                  <a:spcPts val="0"/>
                </a:spcAft>
                <a:buNone/>
              </a:pPr>
              <a:endParaRPr sz="1200" b="1">
                <a:latin typeface="Roboto"/>
                <a:ea typeface="Roboto"/>
                <a:cs typeface="Roboto"/>
                <a:sym typeface="Roboto"/>
              </a:endParaRPr>
            </a:p>
            <a:p>
              <a:pPr marL="0" lvl="0" indent="0" algn="l" rtl="0">
                <a:spcBef>
                  <a:spcPts val="0"/>
                </a:spcBef>
                <a:spcAft>
                  <a:spcPts val="1600"/>
                </a:spcAft>
                <a:buNone/>
              </a:pPr>
              <a:r>
                <a:rPr lang="en" sz="1200">
                  <a:latin typeface="Roboto"/>
                  <a:ea typeface="Roboto"/>
                  <a:cs typeface="Roboto"/>
                  <a:sym typeface="Roboto"/>
                </a:rPr>
                <a:t>Martha Stewart CBD's focus on effective, premium CBD products directly addresses the needs of consumers in this segment.</a:t>
              </a:r>
              <a:endParaRPr sz="1200" b="1">
                <a:latin typeface="Roboto"/>
                <a:ea typeface="Roboto"/>
                <a:cs typeface="Roboto"/>
                <a:sym typeface="Roboto"/>
              </a:endParaRPr>
            </a:p>
          </p:txBody>
        </p:sp>
        <p:cxnSp>
          <p:nvCxnSpPr>
            <p:cNvPr id="91" name="Google Shape;91;p17"/>
            <p:cNvCxnSpPr/>
            <p:nvPr/>
          </p:nvCxnSpPr>
          <p:spPr>
            <a:xfrm>
              <a:off x="5209838" y="3648300"/>
              <a:ext cx="1286700" cy="0"/>
            </a:xfrm>
            <a:prstGeom prst="straightConnector1">
              <a:avLst/>
            </a:prstGeom>
            <a:noFill/>
            <a:ln w="9525" cap="flat" cmpd="sng">
              <a:solidFill>
                <a:srgbClr val="414141"/>
              </a:solidFill>
              <a:prstDash val="solid"/>
              <a:round/>
              <a:headEnd type="none" w="sm" len="sm"/>
              <a:tailEnd type="oval" w="med" len="med"/>
            </a:ln>
          </p:spPr>
        </p:cxnSp>
      </p:grpSp>
      <p:grpSp>
        <p:nvGrpSpPr>
          <p:cNvPr id="92" name="Google Shape;92;p17"/>
          <p:cNvGrpSpPr/>
          <p:nvPr/>
        </p:nvGrpSpPr>
        <p:grpSpPr>
          <a:xfrm>
            <a:off x="2662213" y="728463"/>
            <a:ext cx="3814835" cy="3790597"/>
            <a:chOff x="2662213" y="676344"/>
            <a:chExt cx="3814835" cy="3790597"/>
          </a:xfrm>
        </p:grpSpPr>
        <p:sp>
          <p:nvSpPr>
            <p:cNvPr id="93" name="Google Shape;93;p17"/>
            <p:cNvSpPr/>
            <p:nvPr/>
          </p:nvSpPr>
          <p:spPr>
            <a:xfrm rot="3600185">
              <a:off x="3169983" y="1184511"/>
              <a:ext cx="2774659" cy="2774659"/>
            </a:xfrm>
            <a:prstGeom prst="blockArc">
              <a:avLst>
                <a:gd name="adj1" fmla="val 12622480"/>
                <a:gd name="adj2" fmla="val 19781569"/>
                <a:gd name="adj3" fmla="val 20773"/>
              </a:avLst>
            </a:prstGeom>
            <a:solidFill>
              <a:srgbClr val="2F2F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p:nvPr/>
          </p:nvSpPr>
          <p:spPr>
            <a:xfrm rot="10800000">
              <a:off x="3183490" y="1163229"/>
              <a:ext cx="2774700" cy="2774700"/>
            </a:xfrm>
            <a:prstGeom prst="blockArc">
              <a:avLst>
                <a:gd name="adj1" fmla="val 12622480"/>
                <a:gd name="adj2" fmla="val 19662822"/>
                <a:gd name="adj3" fmla="val 20729"/>
              </a:avLst>
            </a:prstGeom>
            <a:solidFill>
              <a:srgbClr val="414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7"/>
            <p:cNvSpPr/>
            <p:nvPr/>
          </p:nvSpPr>
          <p:spPr>
            <a:xfrm rot="-3600185">
              <a:off x="3194618" y="1184114"/>
              <a:ext cx="2774659" cy="2774659"/>
            </a:xfrm>
            <a:prstGeom prst="blockArc">
              <a:avLst>
                <a:gd name="adj1" fmla="val 12622480"/>
                <a:gd name="adj2" fmla="val 19703271"/>
                <a:gd name="adj3" fmla="val 20851"/>
              </a:avLst>
            </a:prstGeom>
            <a:solidFill>
              <a:srgbClr val="50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 name="Google Shape;96;p17"/>
            <p:cNvGrpSpPr/>
            <p:nvPr/>
          </p:nvGrpSpPr>
          <p:grpSpPr>
            <a:xfrm rot="-7200165">
              <a:off x="3337679" y="2826785"/>
              <a:ext cx="585011" cy="585536"/>
              <a:chOff x="1967628" y="812211"/>
              <a:chExt cx="588000" cy="588000"/>
            </a:xfrm>
          </p:grpSpPr>
          <p:sp>
            <p:nvSpPr>
              <p:cNvPr id="97" name="Google Shape;97;p17"/>
              <p:cNvSpPr/>
              <p:nvPr/>
            </p:nvSpPr>
            <p:spPr>
              <a:xfrm rot="39023">
                <a:off x="1970909" y="815492"/>
                <a:ext cx="581437" cy="581437"/>
              </a:xfrm>
              <a:prstGeom prst="pie">
                <a:avLst>
                  <a:gd name="adj1" fmla="val 6190354"/>
                  <a:gd name="adj2" fmla="val 14996165"/>
                </a:avLst>
              </a:prstGeom>
              <a:solidFill>
                <a:srgbClr val="505050"/>
              </a:solidFill>
              <a:ln>
                <a:noFill/>
              </a:ln>
              <a:effectLst>
                <a:outerShdw blurRad="142875" algn="bl" rotWithShape="0">
                  <a:srgbClr val="000000">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7"/>
              <p:cNvSpPr/>
              <p:nvPr/>
            </p:nvSpPr>
            <p:spPr>
              <a:xfrm rot="10800000">
                <a:off x="1970875" y="815525"/>
                <a:ext cx="581400" cy="581400"/>
              </a:xfrm>
              <a:prstGeom prst="pie">
                <a:avLst>
                  <a:gd name="adj1" fmla="val 4028252"/>
                  <a:gd name="adj2" fmla="val 17183677"/>
                </a:avLst>
              </a:prstGeom>
              <a:solidFill>
                <a:srgbClr val="50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17"/>
            <p:cNvGrpSpPr/>
            <p:nvPr/>
          </p:nvGrpSpPr>
          <p:grpSpPr>
            <a:xfrm>
              <a:off x="4264097" y="1180331"/>
              <a:ext cx="585001" cy="585530"/>
              <a:chOff x="1970048" y="811613"/>
              <a:chExt cx="588000" cy="588000"/>
            </a:xfrm>
          </p:grpSpPr>
          <p:sp>
            <p:nvSpPr>
              <p:cNvPr id="100" name="Google Shape;100;p17"/>
              <p:cNvSpPr/>
              <p:nvPr/>
            </p:nvSpPr>
            <p:spPr>
              <a:xfrm rot="39023">
                <a:off x="1973329" y="814894"/>
                <a:ext cx="581437" cy="581437"/>
              </a:xfrm>
              <a:prstGeom prst="pie">
                <a:avLst>
                  <a:gd name="adj1" fmla="val 6190354"/>
                  <a:gd name="adj2" fmla="val 14996165"/>
                </a:avLst>
              </a:prstGeom>
              <a:solidFill>
                <a:srgbClr val="2F2F2F"/>
              </a:solidFill>
              <a:ln>
                <a:noFill/>
              </a:ln>
              <a:effectLst>
                <a:outerShdw blurRad="142875" algn="bl" rotWithShape="0">
                  <a:srgbClr val="000000">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7"/>
              <p:cNvSpPr/>
              <p:nvPr/>
            </p:nvSpPr>
            <p:spPr>
              <a:xfrm rot="10800000">
                <a:off x="1973295" y="814927"/>
                <a:ext cx="581400" cy="581400"/>
              </a:xfrm>
              <a:prstGeom prst="pie">
                <a:avLst>
                  <a:gd name="adj1" fmla="val 4028252"/>
                  <a:gd name="adj2" fmla="val 17183677"/>
                </a:avLst>
              </a:prstGeom>
              <a:solidFill>
                <a:srgbClr val="2F2F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102;p17"/>
            <p:cNvGrpSpPr/>
            <p:nvPr/>
          </p:nvGrpSpPr>
          <p:grpSpPr>
            <a:xfrm rot="7200165">
              <a:off x="5229930" y="2804716"/>
              <a:ext cx="585011" cy="585536"/>
              <a:chOff x="1977085" y="811649"/>
              <a:chExt cx="588000" cy="588000"/>
            </a:xfrm>
          </p:grpSpPr>
          <p:sp>
            <p:nvSpPr>
              <p:cNvPr id="103" name="Google Shape;103;p17"/>
              <p:cNvSpPr/>
              <p:nvPr/>
            </p:nvSpPr>
            <p:spPr>
              <a:xfrm rot="39023">
                <a:off x="1980366" y="814930"/>
                <a:ext cx="581437" cy="581437"/>
              </a:xfrm>
              <a:prstGeom prst="pie">
                <a:avLst>
                  <a:gd name="adj1" fmla="val 6190354"/>
                  <a:gd name="adj2" fmla="val 14996165"/>
                </a:avLst>
              </a:prstGeom>
              <a:solidFill>
                <a:srgbClr val="414141"/>
              </a:solidFill>
              <a:ln>
                <a:noFill/>
              </a:ln>
              <a:effectLst>
                <a:outerShdw blurRad="142875" algn="bl" rotWithShape="0">
                  <a:srgbClr val="000000">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7"/>
              <p:cNvSpPr/>
              <p:nvPr/>
            </p:nvSpPr>
            <p:spPr>
              <a:xfrm rot="10800000">
                <a:off x="1980332" y="814963"/>
                <a:ext cx="581400" cy="581400"/>
              </a:xfrm>
              <a:prstGeom prst="pie">
                <a:avLst>
                  <a:gd name="adj1" fmla="val 4028252"/>
                  <a:gd name="adj2" fmla="val 17183677"/>
                </a:avLst>
              </a:prstGeom>
              <a:solidFill>
                <a:srgbClr val="414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17"/>
            <p:cNvSpPr txBox="1"/>
            <p:nvPr/>
          </p:nvSpPr>
          <p:spPr>
            <a:xfrm>
              <a:off x="4334550" y="1255312"/>
              <a:ext cx="509100" cy="2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rgbClr val="FFFFFF"/>
                  </a:solidFill>
                  <a:latin typeface="Roboto"/>
                  <a:ea typeface="Roboto"/>
                  <a:cs typeface="Roboto"/>
                  <a:sym typeface="Roboto"/>
                </a:rPr>
                <a:t>03 </a:t>
              </a:r>
              <a:endParaRPr sz="1600" b="1">
                <a:solidFill>
                  <a:srgbClr val="FFFFFF"/>
                </a:solidFill>
                <a:latin typeface="Roboto"/>
                <a:ea typeface="Roboto"/>
                <a:cs typeface="Roboto"/>
                <a:sym typeface="Roboto"/>
              </a:endParaRPr>
            </a:p>
          </p:txBody>
        </p:sp>
        <p:sp>
          <p:nvSpPr>
            <p:cNvPr id="106" name="Google Shape;106;p17"/>
            <p:cNvSpPr txBox="1"/>
            <p:nvPr/>
          </p:nvSpPr>
          <p:spPr>
            <a:xfrm>
              <a:off x="3375648" y="2887440"/>
              <a:ext cx="509100" cy="2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rgbClr val="FFFFFF"/>
                  </a:solidFill>
                  <a:latin typeface="Roboto"/>
                  <a:ea typeface="Roboto"/>
                  <a:cs typeface="Roboto"/>
                  <a:sym typeface="Roboto"/>
                </a:rPr>
                <a:t>01 </a:t>
              </a:r>
              <a:endParaRPr sz="1600" b="1">
                <a:solidFill>
                  <a:srgbClr val="FFFFFF"/>
                </a:solidFill>
                <a:latin typeface="Roboto"/>
                <a:ea typeface="Roboto"/>
                <a:cs typeface="Roboto"/>
                <a:sym typeface="Roboto"/>
              </a:endParaRPr>
            </a:p>
          </p:txBody>
        </p:sp>
        <p:sp>
          <p:nvSpPr>
            <p:cNvPr id="107" name="Google Shape;107;p17"/>
            <p:cNvSpPr txBox="1"/>
            <p:nvPr/>
          </p:nvSpPr>
          <p:spPr>
            <a:xfrm>
              <a:off x="5281877" y="2857865"/>
              <a:ext cx="509100" cy="2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rgbClr val="FFFFFF"/>
                  </a:solidFill>
                  <a:latin typeface="Roboto"/>
                  <a:ea typeface="Roboto"/>
                  <a:cs typeface="Roboto"/>
                  <a:sym typeface="Roboto"/>
                </a:rPr>
                <a:t>02 </a:t>
              </a:r>
              <a:endParaRPr sz="1600" b="1">
                <a:solidFill>
                  <a:srgbClr val="FFFFFF"/>
                </a:solidFill>
                <a:latin typeface="Roboto"/>
                <a:ea typeface="Roboto"/>
                <a:cs typeface="Roboto"/>
                <a:sym typeface="Roboto"/>
              </a:endParaRPr>
            </a:p>
          </p:txBody>
        </p:sp>
      </p:grpSp>
      <p:sp>
        <p:nvSpPr>
          <p:cNvPr id="108" name="Google Shape;108;p17"/>
          <p:cNvSpPr txBox="1"/>
          <p:nvPr/>
        </p:nvSpPr>
        <p:spPr>
          <a:xfrm>
            <a:off x="218875" y="3684350"/>
            <a:ext cx="3056700" cy="128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By focusing on the premium CBD market, Martha Stewart CBD can leverage its brand strengths and target a receptive audience willing to pay a premium for quality and effectiveness.</a:t>
            </a:r>
            <a:endParaRPr sz="1500">
              <a:solidFill>
                <a:schemeClr val="dk1"/>
              </a:solidFill>
            </a:endParaRPr>
          </a:p>
        </p:txBody>
      </p:sp>
      <p:sp>
        <p:nvSpPr>
          <p:cNvPr id="2" name="Slide Number Placeholder 1">
            <a:extLst>
              <a:ext uri="{FF2B5EF4-FFF2-40B4-BE49-F238E27FC236}">
                <a16:creationId xmlns:a16="http://schemas.microsoft.com/office/drawing/2014/main" id="{9010064D-08A3-4DAF-5DC8-6AEF5D0321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a:spLocks noGrp="1"/>
          </p:cNvSpPr>
          <p:nvPr>
            <p:ph type="title"/>
          </p:nvPr>
        </p:nvSpPr>
        <p:spPr>
          <a:xfrm>
            <a:off x="56350" y="9240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Strategic Landscape: Martha Stewart &amp; Canopy Growth</a:t>
            </a:r>
            <a:endParaRPr sz="2420" b="1"/>
          </a:p>
        </p:txBody>
      </p:sp>
      <p:sp>
        <p:nvSpPr>
          <p:cNvPr id="114" name="Google Shape;114;p18"/>
          <p:cNvSpPr txBox="1">
            <a:spLocks noGrp="1"/>
          </p:cNvSpPr>
          <p:nvPr>
            <p:ph type="body" idx="1"/>
          </p:nvPr>
        </p:nvSpPr>
        <p:spPr>
          <a:xfrm>
            <a:off x="1240275" y="665100"/>
            <a:ext cx="7592100" cy="41016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0"/>
              </a:spcAft>
              <a:buClr>
                <a:schemeClr val="dk1"/>
              </a:buClr>
              <a:buSzPts val="1100"/>
              <a:buFont typeface="Arial"/>
              <a:buNone/>
            </a:pPr>
            <a:r>
              <a:rPr lang="en" sz="1300" b="1" u="sng">
                <a:solidFill>
                  <a:schemeClr val="dk1"/>
                </a:solidFill>
              </a:rPr>
              <a:t>Canopy Growth Corporation (Canopy):</a:t>
            </a:r>
            <a:endParaRPr sz="1300" b="1" u="sng">
              <a:solidFill>
                <a:schemeClr val="dk1"/>
              </a:solidFill>
            </a:endParaRPr>
          </a:p>
          <a:p>
            <a:pPr marL="457200" lvl="0" indent="-311150" algn="just" rtl="0">
              <a:lnSpc>
                <a:spcPct val="150000"/>
              </a:lnSpc>
              <a:spcBef>
                <a:spcPts val="1200"/>
              </a:spcBef>
              <a:spcAft>
                <a:spcPts val="0"/>
              </a:spcAft>
              <a:buClr>
                <a:schemeClr val="dk1"/>
              </a:buClr>
              <a:buSzPts val="1300"/>
              <a:buChar char="●"/>
            </a:pPr>
            <a:r>
              <a:rPr lang="en" sz="1300">
                <a:solidFill>
                  <a:schemeClr val="dk1"/>
                </a:solidFill>
              </a:rPr>
              <a:t>Canopy Growth Corporation is a leading cannabis company headquartered in Canada.</a:t>
            </a:r>
            <a:endParaRPr sz="1300">
              <a:solidFill>
                <a:schemeClr val="dk1"/>
              </a:solidFill>
            </a:endParaRPr>
          </a:p>
          <a:p>
            <a:pPr marL="457200" lvl="0" indent="-311150" algn="just" rtl="0">
              <a:lnSpc>
                <a:spcPct val="150000"/>
              </a:lnSpc>
              <a:spcBef>
                <a:spcPts val="0"/>
              </a:spcBef>
              <a:spcAft>
                <a:spcPts val="0"/>
              </a:spcAft>
              <a:buClr>
                <a:schemeClr val="dk1"/>
              </a:buClr>
              <a:buSzPts val="1300"/>
              <a:buChar char="●"/>
            </a:pPr>
            <a:r>
              <a:rPr lang="en" sz="1300">
                <a:solidFill>
                  <a:schemeClr val="dk1"/>
                </a:solidFill>
              </a:rPr>
              <a:t>·As of the current situation in 2024, Canopy has expanded its operations globally, with a presence in both medical and  recreational cannabis markets.</a:t>
            </a:r>
            <a:endParaRPr sz="1300">
              <a:solidFill>
                <a:schemeClr val="dk1"/>
              </a:solidFill>
            </a:endParaRPr>
          </a:p>
          <a:p>
            <a:pPr marL="457200" lvl="0" indent="-311150" algn="just" rtl="0">
              <a:lnSpc>
                <a:spcPct val="150000"/>
              </a:lnSpc>
              <a:spcBef>
                <a:spcPts val="0"/>
              </a:spcBef>
              <a:spcAft>
                <a:spcPts val="0"/>
              </a:spcAft>
              <a:buClr>
                <a:schemeClr val="dk1"/>
              </a:buClr>
              <a:buSzPts val="1300"/>
              <a:buChar char="●"/>
            </a:pPr>
            <a:r>
              <a:rPr lang="en" sz="1300">
                <a:solidFill>
                  <a:schemeClr val="dk1"/>
                </a:solidFill>
              </a:rPr>
              <a:t>Despite facing challenges in the past related to regulatory changes and market volatility, Canopy has maintained its position as a key player in the cannabis industry.</a:t>
            </a:r>
            <a:endParaRPr sz="1300">
              <a:solidFill>
                <a:schemeClr val="dk1"/>
              </a:solidFill>
            </a:endParaRPr>
          </a:p>
          <a:p>
            <a:pPr marL="457200" lvl="0" indent="-311150" algn="just" rtl="0">
              <a:lnSpc>
                <a:spcPct val="150000"/>
              </a:lnSpc>
              <a:spcBef>
                <a:spcPts val="0"/>
              </a:spcBef>
              <a:spcAft>
                <a:spcPts val="0"/>
              </a:spcAft>
              <a:buClr>
                <a:schemeClr val="dk1"/>
              </a:buClr>
              <a:buSzPts val="1300"/>
              <a:buChar char="●"/>
            </a:pPr>
            <a:r>
              <a:rPr lang="en" sz="1300">
                <a:solidFill>
                  <a:schemeClr val="dk1"/>
                </a:solidFill>
              </a:rPr>
              <a:t>Financially, Canopy has demonstrated steady revenue growth over the years, although profitability has been affected by factors such as regulatory hurdles and increased competition.</a:t>
            </a:r>
            <a:endParaRPr sz="1300">
              <a:solidFill>
                <a:schemeClr val="dk1"/>
              </a:solidFill>
            </a:endParaRPr>
          </a:p>
          <a:p>
            <a:pPr marL="457200" lvl="0" indent="-311150" algn="just" rtl="0">
              <a:lnSpc>
                <a:spcPct val="150000"/>
              </a:lnSpc>
              <a:spcBef>
                <a:spcPts val="0"/>
              </a:spcBef>
              <a:spcAft>
                <a:spcPts val="0"/>
              </a:spcAft>
              <a:buClr>
                <a:schemeClr val="dk1"/>
              </a:buClr>
              <a:buSzPts val="1300"/>
              <a:buChar char="●"/>
            </a:pPr>
            <a:r>
              <a:rPr lang="en" sz="1300">
                <a:solidFill>
                  <a:schemeClr val="dk1"/>
                </a:solidFill>
              </a:rPr>
              <a:t>In order to drive future growth and preserve its competitive advantage in the market, the corporation keeps funding R&amp;D, innovation, and strategic alliances.</a:t>
            </a:r>
            <a:endParaRPr sz="1300">
              <a:solidFill>
                <a:schemeClr val="dk1"/>
              </a:solidFill>
            </a:endParaRPr>
          </a:p>
          <a:p>
            <a:pPr marL="0" lvl="0" indent="0" algn="l" rtl="0">
              <a:spcBef>
                <a:spcPts val="1200"/>
              </a:spcBef>
              <a:spcAft>
                <a:spcPts val="1200"/>
              </a:spcAft>
              <a:buNone/>
            </a:pPr>
            <a:endParaRPr/>
          </a:p>
        </p:txBody>
      </p:sp>
      <p:sp>
        <p:nvSpPr>
          <p:cNvPr id="115" name="Google Shape;115;p18"/>
          <p:cNvSpPr/>
          <p:nvPr/>
        </p:nvSpPr>
        <p:spPr>
          <a:xfrm>
            <a:off x="352625" y="1167325"/>
            <a:ext cx="887700" cy="303900"/>
          </a:xfrm>
          <a:prstGeom prst="notched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 name="Google Shape;116;p18"/>
          <p:cNvSpPr/>
          <p:nvPr/>
        </p:nvSpPr>
        <p:spPr>
          <a:xfrm>
            <a:off x="352625" y="1471225"/>
            <a:ext cx="887700" cy="303900"/>
          </a:xfrm>
          <a:prstGeom prst="notched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 name="Google Shape;117;p18"/>
          <p:cNvSpPr/>
          <p:nvPr/>
        </p:nvSpPr>
        <p:spPr>
          <a:xfrm>
            <a:off x="352625" y="2067925"/>
            <a:ext cx="887700" cy="303900"/>
          </a:xfrm>
          <a:prstGeom prst="notched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 name="Google Shape;118;p18"/>
          <p:cNvSpPr/>
          <p:nvPr/>
        </p:nvSpPr>
        <p:spPr>
          <a:xfrm>
            <a:off x="352625" y="2664625"/>
            <a:ext cx="887700" cy="303900"/>
          </a:xfrm>
          <a:prstGeom prst="notched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18"/>
          <p:cNvSpPr/>
          <p:nvPr/>
        </p:nvSpPr>
        <p:spPr>
          <a:xfrm>
            <a:off x="352625" y="3261325"/>
            <a:ext cx="887700" cy="303900"/>
          </a:xfrm>
          <a:prstGeom prst="notched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Slide Number Placeholder 1">
            <a:extLst>
              <a:ext uri="{FF2B5EF4-FFF2-40B4-BE49-F238E27FC236}">
                <a16:creationId xmlns:a16="http://schemas.microsoft.com/office/drawing/2014/main" id="{A7363847-9B60-D6A7-A13A-C3C7693B49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92825" y="9240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Strategic Landscape: Martha Stewart &amp; Canopy Growth</a:t>
            </a:r>
            <a:endParaRPr sz="2420" b="1"/>
          </a:p>
        </p:txBody>
      </p:sp>
      <p:sp>
        <p:nvSpPr>
          <p:cNvPr id="125" name="Google Shape;125;p19"/>
          <p:cNvSpPr txBox="1">
            <a:spLocks noGrp="1"/>
          </p:cNvSpPr>
          <p:nvPr>
            <p:ph type="body" idx="1"/>
          </p:nvPr>
        </p:nvSpPr>
        <p:spPr>
          <a:xfrm>
            <a:off x="1495625" y="787675"/>
            <a:ext cx="7336800" cy="40032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0"/>
              </a:spcAft>
              <a:buClr>
                <a:schemeClr val="dk1"/>
              </a:buClr>
              <a:buSzPts val="1100"/>
              <a:buFont typeface="Arial"/>
              <a:buNone/>
            </a:pPr>
            <a:r>
              <a:rPr lang="en" sz="1300" b="1" u="sng">
                <a:solidFill>
                  <a:schemeClr val="dk1"/>
                </a:solidFill>
              </a:rPr>
              <a:t>Martha Stewart Living Omnimedia:</a:t>
            </a:r>
            <a:endParaRPr sz="1300" b="1" u="sng">
              <a:solidFill>
                <a:schemeClr val="dk1"/>
              </a:solidFill>
            </a:endParaRPr>
          </a:p>
          <a:p>
            <a:pPr marL="457200" lvl="0" indent="-311150" algn="just" rtl="0">
              <a:lnSpc>
                <a:spcPct val="150000"/>
              </a:lnSpc>
              <a:spcBef>
                <a:spcPts val="1200"/>
              </a:spcBef>
              <a:spcAft>
                <a:spcPts val="0"/>
              </a:spcAft>
              <a:buClr>
                <a:schemeClr val="dk1"/>
              </a:buClr>
              <a:buSzPts val="1300"/>
              <a:buChar char="●"/>
            </a:pPr>
            <a:r>
              <a:rPr lang="en" sz="1300">
                <a:solidFill>
                  <a:schemeClr val="dk1"/>
                </a:solidFill>
              </a:rPr>
              <a:t>Martha Stewart Living Omnimedia is a diversified media and merchandising company founded by lifestyle icon Martha Stewart.</a:t>
            </a:r>
            <a:endParaRPr sz="1300">
              <a:solidFill>
                <a:schemeClr val="dk1"/>
              </a:solidFill>
            </a:endParaRPr>
          </a:p>
          <a:p>
            <a:pPr marL="457200" lvl="0" indent="-311150" algn="just" rtl="0">
              <a:lnSpc>
                <a:spcPct val="150000"/>
              </a:lnSpc>
              <a:spcBef>
                <a:spcPts val="0"/>
              </a:spcBef>
              <a:spcAft>
                <a:spcPts val="0"/>
              </a:spcAft>
              <a:buClr>
                <a:schemeClr val="dk1"/>
              </a:buClr>
              <a:buSzPts val="1300"/>
              <a:buChar char="●"/>
            </a:pPr>
            <a:r>
              <a:rPr lang="en" sz="1300">
                <a:solidFill>
                  <a:schemeClr val="dk1"/>
                </a:solidFill>
              </a:rPr>
              <a:t>The company has a strong brand presence in various sectors, including home and lifestyle, media, and consumer goods.</a:t>
            </a:r>
            <a:endParaRPr sz="1300">
              <a:solidFill>
                <a:schemeClr val="dk1"/>
              </a:solidFill>
            </a:endParaRPr>
          </a:p>
          <a:p>
            <a:pPr marL="457200" lvl="0" indent="-311150" algn="just" rtl="0">
              <a:lnSpc>
                <a:spcPct val="150000"/>
              </a:lnSpc>
              <a:spcBef>
                <a:spcPts val="0"/>
              </a:spcBef>
              <a:spcAft>
                <a:spcPts val="0"/>
              </a:spcAft>
              <a:buClr>
                <a:schemeClr val="dk1"/>
              </a:buClr>
              <a:buSzPts val="1300"/>
              <a:buChar char="●"/>
            </a:pPr>
            <a:r>
              <a:rPr lang="en" sz="1300">
                <a:solidFill>
                  <a:schemeClr val="dk1"/>
                </a:solidFill>
              </a:rPr>
              <a:t>Martha Stewart has a loyal customer base and is known for her expertise in lifestyle and home-related products and services.</a:t>
            </a:r>
            <a:endParaRPr sz="1300">
              <a:solidFill>
                <a:schemeClr val="dk1"/>
              </a:solidFill>
            </a:endParaRPr>
          </a:p>
          <a:p>
            <a:pPr marL="457200" lvl="0" indent="-311150" algn="just" rtl="0">
              <a:lnSpc>
                <a:spcPct val="150000"/>
              </a:lnSpc>
              <a:spcBef>
                <a:spcPts val="0"/>
              </a:spcBef>
              <a:spcAft>
                <a:spcPts val="0"/>
              </a:spcAft>
              <a:buClr>
                <a:schemeClr val="dk1"/>
              </a:buClr>
              <a:buSzPts val="1300"/>
              <a:buChar char="●"/>
            </a:pPr>
            <a:r>
              <a:rPr lang="en" sz="1300">
                <a:solidFill>
                  <a:schemeClr val="dk1"/>
                </a:solidFill>
              </a:rPr>
              <a:t>In recent years, Martha Stewart Living Omnimedia has ventured into strategic partnerships to expand its reach and offer new product lines to its customers.</a:t>
            </a:r>
            <a:endParaRPr sz="1300">
              <a:solidFill>
                <a:schemeClr val="dk1"/>
              </a:solidFill>
            </a:endParaRPr>
          </a:p>
          <a:p>
            <a:pPr marL="457200" lvl="0" indent="-311150" algn="just" rtl="0">
              <a:lnSpc>
                <a:spcPct val="150000"/>
              </a:lnSpc>
              <a:spcBef>
                <a:spcPts val="0"/>
              </a:spcBef>
              <a:spcAft>
                <a:spcPts val="0"/>
              </a:spcAft>
              <a:buClr>
                <a:schemeClr val="dk1"/>
              </a:buClr>
              <a:buSzPts val="1300"/>
              <a:buChar char="●"/>
            </a:pPr>
            <a:r>
              <a:rPr lang="en" sz="1300">
                <a:solidFill>
                  <a:schemeClr val="dk1"/>
                </a:solidFill>
              </a:rPr>
              <a:t>The partnership with Canopy Growth Corporation represents a significant opportunity for Martha Stewart to enter the cannabis market and leverage her brand's reputation in new product categories.</a:t>
            </a:r>
            <a:endParaRPr sz="1300">
              <a:solidFill>
                <a:schemeClr val="dk1"/>
              </a:solidFill>
            </a:endParaRPr>
          </a:p>
          <a:p>
            <a:pPr marL="0" lvl="0" indent="0" algn="l" rtl="0">
              <a:spcBef>
                <a:spcPts val="1200"/>
              </a:spcBef>
              <a:spcAft>
                <a:spcPts val="1200"/>
              </a:spcAft>
              <a:buNone/>
            </a:pPr>
            <a:endParaRPr sz="1900"/>
          </a:p>
        </p:txBody>
      </p:sp>
      <p:sp>
        <p:nvSpPr>
          <p:cNvPr id="126" name="Google Shape;126;p19"/>
          <p:cNvSpPr/>
          <p:nvPr/>
        </p:nvSpPr>
        <p:spPr>
          <a:xfrm>
            <a:off x="316150" y="1276750"/>
            <a:ext cx="1094400" cy="4257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19"/>
          <p:cNvSpPr/>
          <p:nvPr/>
        </p:nvSpPr>
        <p:spPr>
          <a:xfrm>
            <a:off x="316150" y="1988500"/>
            <a:ext cx="1094400" cy="4257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 name="Google Shape;128;p19"/>
          <p:cNvSpPr/>
          <p:nvPr/>
        </p:nvSpPr>
        <p:spPr>
          <a:xfrm>
            <a:off x="316150" y="2651600"/>
            <a:ext cx="1094400" cy="4257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 name="Google Shape;129;p19"/>
          <p:cNvSpPr/>
          <p:nvPr/>
        </p:nvSpPr>
        <p:spPr>
          <a:xfrm>
            <a:off x="316150" y="3314700"/>
            <a:ext cx="1094400" cy="4257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 name="Google Shape;130;p19"/>
          <p:cNvSpPr/>
          <p:nvPr/>
        </p:nvSpPr>
        <p:spPr>
          <a:xfrm>
            <a:off x="316150" y="3977800"/>
            <a:ext cx="1094400" cy="4257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Slide Number Placeholder 1">
            <a:extLst>
              <a:ext uri="{FF2B5EF4-FFF2-40B4-BE49-F238E27FC236}">
                <a16:creationId xmlns:a16="http://schemas.microsoft.com/office/drawing/2014/main" id="{956C9548-6051-BB63-7FE0-41CE7BF84D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graphicFrame>
        <p:nvGraphicFramePr>
          <p:cNvPr id="135" name="Google Shape;135;p20"/>
          <p:cNvGraphicFramePr/>
          <p:nvPr/>
        </p:nvGraphicFramePr>
        <p:xfrm>
          <a:off x="1444299" y="1068450"/>
          <a:ext cx="5991225" cy="2938025"/>
        </p:xfrm>
        <a:graphic>
          <a:graphicData uri="http://schemas.openxmlformats.org/drawingml/2006/table">
            <a:tbl>
              <a:tblPr>
                <a:noFill/>
                <a:tableStyleId>{4C6D46BF-26D9-4197-9B16-C44D34832C7E}</a:tableStyleId>
              </a:tblPr>
              <a:tblGrid>
                <a:gridCol w="2971800">
                  <a:extLst>
                    <a:ext uri="{9D8B030D-6E8A-4147-A177-3AD203B41FA5}">
                      <a16:colId xmlns:a16="http://schemas.microsoft.com/office/drawing/2014/main" val="20000"/>
                    </a:ext>
                  </a:extLst>
                </a:gridCol>
                <a:gridCol w="3019425">
                  <a:extLst>
                    <a:ext uri="{9D8B030D-6E8A-4147-A177-3AD203B41FA5}">
                      <a16:colId xmlns:a16="http://schemas.microsoft.com/office/drawing/2014/main" val="20001"/>
                    </a:ext>
                  </a:extLst>
                </a:gridCol>
              </a:tblGrid>
              <a:tr h="542925">
                <a:tc>
                  <a:txBody>
                    <a:bodyPr/>
                    <a:lstStyle/>
                    <a:p>
                      <a:pPr marL="0" lvl="0" indent="0" algn="just" rtl="0">
                        <a:lnSpc>
                          <a:spcPct val="150000"/>
                        </a:lnSpc>
                        <a:spcBef>
                          <a:spcPts val="1200"/>
                        </a:spcBef>
                        <a:spcAft>
                          <a:spcPts val="0"/>
                        </a:spcAft>
                        <a:buNone/>
                      </a:pPr>
                      <a:r>
                        <a:rPr lang="en" sz="1200" u="sng">
                          <a:solidFill>
                            <a:schemeClr val="dk1"/>
                          </a:solidFill>
                        </a:rPr>
                        <a:t>Short-Term Objectives</a:t>
                      </a:r>
                      <a:endParaRPr sz="1200" u="sng">
                        <a:solidFill>
                          <a:schemeClr val="dk1"/>
                        </a:solidFill>
                      </a:endParaRPr>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u="sng">
                          <a:solidFill>
                            <a:schemeClr val="dk1"/>
                          </a:solidFill>
                        </a:rPr>
                        <a:t>Long-Term Objectives</a:t>
                      </a:r>
                      <a:endParaRPr sz="1200" u="sng">
                        <a:solidFill>
                          <a:schemeClr val="dk1"/>
                        </a:solidFill>
                      </a:endParaRPr>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395100">
                <a:tc>
                  <a:txBody>
                    <a:bodyPr/>
                    <a:lstStyle/>
                    <a:p>
                      <a:pPr marL="457200" lvl="0" indent="-304800" algn="l" rtl="0">
                        <a:lnSpc>
                          <a:spcPct val="150000"/>
                        </a:lnSpc>
                        <a:spcBef>
                          <a:spcPts val="1200"/>
                        </a:spcBef>
                        <a:spcAft>
                          <a:spcPts val="0"/>
                        </a:spcAft>
                        <a:buClr>
                          <a:schemeClr val="dk1"/>
                        </a:buClr>
                        <a:buSzPts val="1200"/>
                        <a:buAutoNum type="arabicPeriod"/>
                      </a:pPr>
                      <a:r>
                        <a:rPr lang="en" sz="1200">
                          <a:solidFill>
                            <a:schemeClr val="dk1"/>
                          </a:solidFill>
                        </a:rPr>
                        <a:t>Expand market presence in key regions.</a:t>
                      </a:r>
                      <a:endParaRPr sz="1200">
                        <a:solidFill>
                          <a:schemeClr val="dk1"/>
                        </a:solidFill>
                      </a:endParaRPr>
                    </a:p>
                    <a:p>
                      <a:pPr marL="457200" lvl="0" indent="-304800" algn="l" rtl="0">
                        <a:lnSpc>
                          <a:spcPct val="150000"/>
                        </a:lnSpc>
                        <a:spcBef>
                          <a:spcPts val="0"/>
                        </a:spcBef>
                        <a:spcAft>
                          <a:spcPts val="0"/>
                        </a:spcAft>
                        <a:buClr>
                          <a:schemeClr val="dk1"/>
                        </a:buClr>
                        <a:buSzPts val="1200"/>
                        <a:buAutoNum type="arabicPeriod"/>
                      </a:pPr>
                      <a:r>
                        <a:rPr lang="en" sz="1200">
                          <a:solidFill>
                            <a:schemeClr val="dk1"/>
                          </a:solidFill>
                        </a:rPr>
                        <a:t>Increase product innovation and portfolio diversification.</a:t>
                      </a:r>
                      <a:endParaRPr sz="1200">
                        <a:solidFill>
                          <a:schemeClr val="dk1"/>
                        </a:solidFill>
                      </a:endParaRPr>
                    </a:p>
                    <a:p>
                      <a:pPr marL="457200" lvl="0" indent="-304800" algn="l" rtl="0">
                        <a:lnSpc>
                          <a:spcPct val="150000"/>
                        </a:lnSpc>
                        <a:spcBef>
                          <a:spcPts val="0"/>
                        </a:spcBef>
                        <a:spcAft>
                          <a:spcPts val="0"/>
                        </a:spcAft>
                        <a:buClr>
                          <a:schemeClr val="dk1"/>
                        </a:buClr>
                        <a:buSzPts val="1200"/>
                        <a:buAutoNum type="arabicPeriod"/>
                      </a:pPr>
                      <a:r>
                        <a:rPr lang="en" sz="1200">
                          <a:solidFill>
                            <a:schemeClr val="dk1"/>
                          </a:solidFill>
                        </a:rPr>
                        <a:t>Strengthen supply chain efficiency and operational capabilities.</a:t>
                      </a:r>
                      <a:endParaRPr sz="1200">
                        <a:solidFill>
                          <a:schemeClr val="dk1"/>
                        </a:solidFill>
                      </a:endParaRPr>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457200" lvl="0" indent="-304800" algn="just" rtl="0">
                        <a:lnSpc>
                          <a:spcPct val="150000"/>
                        </a:lnSpc>
                        <a:spcBef>
                          <a:spcPts val="1200"/>
                        </a:spcBef>
                        <a:spcAft>
                          <a:spcPts val="0"/>
                        </a:spcAft>
                        <a:buClr>
                          <a:schemeClr val="dk1"/>
                        </a:buClr>
                        <a:buSzPts val="1200"/>
                        <a:buAutoNum type="arabicPeriod"/>
                      </a:pPr>
                      <a:r>
                        <a:rPr lang="en" sz="1200">
                          <a:solidFill>
                            <a:schemeClr val="dk1"/>
                          </a:solidFill>
                        </a:rPr>
                        <a:t>Achieve sustainable profitability and growth.</a:t>
                      </a:r>
                      <a:endParaRPr sz="1200">
                        <a:solidFill>
                          <a:schemeClr val="dk1"/>
                        </a:solidFill>
                      </a:endParaRPr>
                    </a:p>
                    <a:p>
                      <a:pPr marL="457200" lvl="0" indent="-304800" algn="just" rtl="0">
                        <a:lnSpc>
                          <a:spcPct val="150000"/>
                        </a:lnSpc>
                        <a:spcBef>
                          <a:spcPts val="0"/>
                        </a:spcBef>
                        <a:spcAft>
                          <a:spcPts val="0"/>
                        </a:spcAft>
                        <a:buClr>
                          <a:schemeClr val="dk1"/>
                        </a:buClr>
                        <a:buSzPts val="1200"/>
                        <a:buAutoNum type="arabicPeriod"/>
                      </a:pPr>
                      <a:r>
                        <a:rPr lang="en" sz="1200">
                          <a:solidFill>
                            <a:schemeClr val="dk1"/>
                          </a:solidFill>
                        </a:rPr>
                        <a:t>Establish a leadership position in emerging cannabis markets.</a:t>
                      </a:r>
                      <a:endParaRPr sz="1200">
                        <a:solidFill>
                          <a:schemeClr val="dk1"/>
                        </a:solidFill>
                      </a:endParaRPr>
                    </a:p>
                    <a:p>
                      <a:pPr marL="457200" lvl="0" indent="-304800" algn="just" rtl="0">
                        <a:lnSpc>
                          <a:spcPct val="150000"/>
                        </a:lnSpc>
                        <a:spcBef>
                          <a:spcPts val="0"/>
                        </a:spcBef>
                        <a:spcAft>
                          <a:spcPts val="0"/>
                        </a:spcAft>
                        <a:buClr>
                          <a:schemeClr val="dk1"/>
                        </a:buClr>
                        <a:buSzPts val="1200"/>
                        <a:buAutoNum type="arabicPeriod"/>
                      </a:pPr>
                      <a:r>
                        <a:rPr lang="en" sz="1200">
                          <a:solidFill>
                            <a:schemeClr val="dk1"/>
                          </a:solidFill>
                        </a:rPr>
                        <a:t>Drive research and development efforts to develop novel cannabis-based products.</a:t>
                      </a:r>
                      <a:endParaRPr sz="1200" b="1">
                        <a:solidFill>
                          <a:schemeClr val="dk1"/>
                        </a:solidFill>
                      </a:endParaRPr>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6" name="Google Shape;136;p20"/>
          <p:cNvSpPr txBox="1"/>
          <p:nvPr/>
        </p:nvSpPr>
        <p:spPr>
          <a:xfrm>
            <a:off x="2854813" y="580425"/>
            <a:ext cx="3000000" cy="3693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1200"/>
              </a:spcBef>
              <a:spcAft>
                <a:spcPts val="1200"/>
              </a:spcAft>
              <a:buNone/>
            </a:pPr>
            <a:r>
              <a:rPr lang="en" sz="1200" b="1" u="sng">
                <a:solidFill>
                  <a:schemeClr val="dk1"/>
                </a:solidFill>
              </a:rPr>
              <a:t>Canopy Growth</a:t>
            </a:r>
            <a:endParaRPr/>
          </a:p>
        </p:txBody>
      </p:sp>
      <p:sp>
        <p:nvSpPr>
          <p:cNvPr id="137" name="Google Shape;137;p20"/>
          <p:cNvSpPr txBox="1"/>
          <p:nvPr/>
        </p:nvSpPr>
        <p:spPr>
          <a:xfrm>
            <a:off x="125775" y="0"/>
            <a:ext cx="9159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Let's discuss Canopy short term and long term objectives </a:t>
            </a:r>
            <a:endParaRPr sz="1800" b="1">
              <a:solidFill>
                <a:schemeClr val="dk1"/>
              </a:solidFill>
            </a:endParaRPr>
          </a:p>
        </p:txBody>
      </p:sp>
      <p:sp>
        <p:nvSpPr>
          <p:cNvPr id="2" name="Slide Number Placeholder 1">
            <a:extLst>
              <a:ext uri="{FF2B5EF4-FFF2-40B4-BE49-F238E27FC236}">
                <a16:creationId xmlns:a16="http://schemas.microsoft.com/office/drawing/2014/main" id="{0AD1C67B-7015-AC5D-FC31-C9D75075E6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1"/>
          <p:cNvSpPr txBox="1"/>
          <p:nvPr/>
        </p:nvSpPr>
        <p:spPr>
          <a:xfrm>
            <a:off x="158075" y="1057825"/>
            <a:ext cx="3988500" cy="175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chemeClr val="dk1"/>
                </a:solidFill>
                <a:highlight>
                  <a:srgbClr val="FFFFFF"/>
                </a:highlight>
              </a:rPr>
              <a:t>In the short term, Canopy prioritizes expanding its market presence in key regions, leveraging opportunities presented by the legalization and acceptance of cannabis products. By strengthening its foothold in these markets, Canopy aims to increase brand visibility, capture market share, and drive revenue growth. Concurrently, the company focuses on optimizing its supply chain and operational capabilities to enhance efficiency and meet growing demand effectively.</a:t>
            </a:r>
            <a:endParaRPr sz="1800">
              <a:solidFill>
                <a:schemeClr val="dk1"/>
              </a:solidFill>
            </a:endParaRPr>
          </a:p>
        </p:txBody>
      </p:sp>
      <p:sp>
        <p:nvSpPr>
          <p:cNvPr id="143" name="Google Shape;143;p21"/>
          <p:cNvSpPr txBox="1"/>
          <p:nvPr/>
        </p:nvSpPr>
        <p:spPr>
          <a:xfrm>
            <a:off x="4511200" y="1057825"/>
            <a:ext cx="4377600" cy="1846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highlight>
                  <a:srgbClr val="FFFFFF"/>
                </a:highlight>
              </a:rPr>
              <a:t>Looking ahead, Canopy's long-term objectives emphasize innovation and portfolio diversification to stay ahead in a competitive landscape. Through continuous research and development efforts, Canopy seeks to pioneer novel cannabis-based products, catering to evolving consumer preferences and medical needs. By diversifying its product line, the firm hopes to stay relevant, grab new market niches, and generate long-term profitability.</a:t>
            </a:r>
            <a:endParaRPr sz="1150">
              <a:solidFill>
                <a:schemeClr val="dk1"/>
              </a:solidFill>
              <a:highlight>
                <a:srgbClr val="FFFFFF"/>
              </a:highlight>
            </a:endParaRPr>
          </a:p>
          <a:p>
            <a:pPr marL="0" lvl="0" indent="0" algn="l" rtl="0">
              <a:spcBef>
                <a:spcPts val="0"/>
              </a:spcBef>
              <a:spcAft>
                <a:spcPts val="0"/>
              </a:spcAft>
              <a:buNone/>
            </a:pPr>
            <a:endParaRPr sz="1800">
              <a:solidFill>
                <a:schemeClr val="dk1"/>
              </a:solidFill>
            </a:endParaRPr>
          </a:p>
        </p:txBody>
      </p:sp>
      <p:sp>
        <p:nvSpPr>
          <p:cNvPr id="144" name="Google Shape;144;p21"/>
          <p:cNvSpPr txBox="1"/>
          <p:nvPr/>
        </p:nvSpPr>
        <p:spPr>
          <a:xfrm>
            <a:off x="1082200" y="97275"/>
            <a:ext cx="7186200" cy="43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a:solidFill>
                  <a:schemeClr val="dk1"/>
                </a:solidFill>
              </a:rPr>
              <a:t>What did we understand from both objective’s ?</a:t>
            </a:r>
            <a:endParaRPr sz="2300">
              <a:solidFill>
                <a:schemeClr val="dk1"/>
              </a:solidFill>
            </a:endParaRPr>
          </a:p>
        </p:txBody>
      </p:sp>
      <p:cxnSp>
        <p:nvCxnSpPr>
          <p:cNvPr id="145" name="Google Shape;145;p21"/>
          <p:cNvCxnSpPr/>
          <p:nvPr/>
        </p:nvCxnSpPr>
        <p:spPr>
          <a:xfrm flipH="1">
            <a:off x="3185950" y="668775"/>
            <a:ext cx="765900" cy="389100"/>
          </a:xfrm>
          <a:prstGeom prst="straightConnector1">
            <a:avLst/>
          </a:prstGeom>
          <a:noFill/>
          <a:ln w="9525" cap="flat" cmpd="sng">
            <a:solidFill>
              <a:schemeClr val="dk2"/>
            </a:solidFill>
            <a:prstDash val="solid"/>
            <a:round/>
            <a:headEnd type="none" w="med" len="med"/>
            <a:tailEnd type="triangle" w="med" len="med"/>
          </a:ln>
        </p:spPr>
      </p:cxnSp>
      <p:cxnSp>
        <p:nvCxnSpPr>
          <p:cNvPr id="146" name="Google Shape;146;p21"/>
          <p:cNvCxnSpPr/>
          <p:nvPr/>
        </p:nvCxnSpPr>
        <p:spPr>
          <a:xfrm>
            <a:off x="5155650" y="693100"/>
            <a:ext cx="644400" cy="364800"/>
          </a:xfrm>
          <a:prstGeom prst="straightConnector1">
            <a:avLst/>
          </a:prstGeom>
          <a:noFill/>
          <a:ln w="9525" cap="flat" cmpd="sng">
            <a:solidFill>
              <a:schemeClr val="dk2"/>
            </a:solidFill>
            <a:prstDash val="solid"/>
            <a:round/>
            <a:headEnd type="none" w="med" len="med"/>
            <a:tailEnd type="triangle" w="med" len="med"/>
          </a:ln>
        </p:spPr>
      </p:cxnSp>
      <p:sp>
        <p:nvSpPr>
          <p:cNvPr id="147" name="Google Shape;147;p21"/>
          <p:cNvSpPr/>
          <p:nvPr/>
        </p:nvSpPr>
        <p:spPr>
          <a:xfrm rot="-5400000">
            <a:off x="4251429" y="-1123198"/>
            <a:ext cx="512100" cy="85680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 name="Google Shape;148;p21"/>
          <p:cNvSpPr txBox="1"/>
          <p:nvPr/>
        </p:nvSpPr>
        <p:spPr>
          <a:xfrm>
            <a:off x="376950" y="3477650"/>
            <a:ext cx="8568000" cy="159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0D0D0D"/>
                </a:solidFill>
              </a:rPr>
              <a:t>In conclusion, Canopy Growth Corporation blend of short-term objectives focused on market expansion and operational efficiency, coupled with long-term goals centered on innovation, leadership, and sustainability, reflects its commitment to navigating the complexities of the cannabis industry and driving value for stakeholders over the near and distant horizons.</a:t>
            </a:r>
            <a:endParaRPr sz="1800">
              <a:solidFill>
                <a:srgbClr val="0D0D0D"/>
              </a:solidFill>
            </a:endParaRPr>
          </a:p>
        </p:txBody>
      </p:sp>
      <p:sp>
        <p:nvSpPr>
          <p:cNvPr id="2" name="Slide Number Placeholder 1">
            <a:extLst>
              <a:ext uri="{FF2B5EF4-FFF2-40B4-BE49-F238E27FC236}">
                <a16:creationId xmlns:a16="http://schemas.microsoft.com/office/drawing/2014/main" id="{9D7B00EF-B4A5-8E9E-66E1-2F0AABA189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graphicFrame>
        <p:nvGraphicFramePr>
          <p:cNvPr id="153" name="Google Shape;153;p22"/>
          <p:cNvGraphicFramePr/>
          <p:nvPr>
            <p:extLst>
              <p:ext uri="{D42A27DB-BD31-4B8C-83A1-F6EECF244321}">
                <p14:modId xmlns:p14="http://schemas.microsoft.com/office/powerpoint/2010/main" val="1513892129"/>
              </p:ext>
            </p:extLst>
          </p:nvPr>
        </p:nvGraphicFramePr>
        <p:xfrm>
          <a:off x="838025" y="1029694"/>
          <a:ext cx="6881475" cy="2552881"/>
        </p:xfrm>
        <a:graphic>
          <a:graphicData uri="http://schemas.openxmlformats.org/drawingml/2006/table">
            <a:tbl>
              <a:tblPr>
                <a:noFill/>
                <a:tableStyleId>{4C6D46BF-26D9-4197-9B16-C44D34832C7E}</a:tableStyleId>
              </a:tblPr>
              <a:tblGrid>
                <a:gridCol w="3407850">
                  <a:extLst>
                    <a:ext uri="{9D8B030D-6E8A-4147-A177-3AD203B41FA5}">
                      <a16:colId xmlns:a16="http://schemas.microsoft.com/office/drawing/2014/main" val="20000"/>
                    </a:ext>
                  </a:extLst>
                </a:gridCol>
                <a:gridCol w="3473625">
                  <a:extLst>
                    <a:ext uri="{9D8B030D-6E8A-4147-A177-3AD203B41FA5}">
                      <a16:colId xmlns:a16="http://schemas.microsoft.com/office/drawing/2014/main" val="20001"/>
                    </a:ext>
                  </a:extLst>
                </a:gridCol>
              </a:tblGrid>
              <a:tr h="483700">
                <a:tc>
                  <a:txBody>
                    <a:bodyPr/>
                    <a:lstStyle/>
                    <a:p>
                      <a:pPr marL="0" lvl="0" indent="0" algn="just" rtl="0">
                        <a:lnSpc>
                          <a:spcPct val="150000"/>
                        </a:lnSpc>
                        <a:spcBef>
                          <a:spcPts val="1200"/>
                        </a:spcBef>
                        <a:spcAft>
                          <a:spcPts val="0"/>
                        </a:spcAft>
                        <a:buNone/>
                      </a:pPr>
                      <a:r>
                        <a:rPr lang="en" sz="1200" u="sng"/>
                        <a:t>Short-Term Objectives</a:t>
                      </a:r>
                      <a:endParaRPr sz="1200" u="sng"/>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just" rtl="0">
                        <a:lnSpc>
                          <a:spcPct val="150000"/>
                        </a:lnSpc>
                        <a:spcBef>
                          <a:spcPts val="1200"/>
                        </a:spcBef>
                        <a:spcAft>
                          <a:spcPts val="0"/>
                        </a:spcAft>
                        <a:buNone/>
                      </a:pPr>
                      <a:r>
                        <a:rPr lang="en" sz="1200" u="sng"/>
                        <a:t>Long-Term Objectives</a:t>
                      </a:r>
                      <a:endParaRPr sz="1200" u="sng"/>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794700">
                <a:tc>
                  <a:txBody>
                    <a:bodyPr/>
                    <a:lstStyle/>
                    <a:p>
                      <a:pPr marL="457200" lvl="0" indent="-304800" algn="l" rtl="0">
                        <a:lnSpc>
                          <a:spcPct val="150000"/>
                        </a:lnSpc>
                        <a:spcBef>
                          <a:spcPts val="1200"/>
                        </a:spcBef>
                        <a:spcAft>
                          <a:spcPts val="0"/>
                        </a:spcAft>
                        <a:buSzPts val="1200"/>
                        <a:buAutoNum type="arabicPeriod"/>
                      </a:pPr>
                      <a:r>
                        <a:rPr lang="en" sz="1200"/>
                        <a:t>Successfully launch cannabis-related products in collaboration with Canopy.</a:t>
                      </a:r>
                      <a:endParaRPr sz="1200"/>
                    </a:p>
                    <a:p>
                      <a:pPr marL="457200" lvl="0" indent="-304800" algn="l" rtl="0">
                        <a:lnSpc>
                          <a:spcPct val="150000"/>
                        </a:lnSpc>
                        <a:spcBef>
                          <a:spcPts val="0"/>
                        </a:spcBef>
                        <a:spcAft>
                          <a:spcPts val="0"/>
                        </a:spcAft>
                        <a:buSzPts val="1200"/>
                        <a:buAutoNum type="arabicPeriod"/>
                      </a:pPr>
                      <a:r>
                        <a:rPr lang="en" sz="1200"/>
                        <a:t>Build brand awareness and consumer trust in the cannabis segment.</a:t>
                      </a:r>
                      <a:endParaRPr sz="1200"/>
                    </a:p>
                    <a:p>
                      <a:pPr marL="457200" lvl="0" indent="-304800" algn="l" rtl="0">
                        <a:lnSpc>
                          <a:spcPct val="150000"/>
                        </a:lnSpc>
                        <a:spcBef>
                          <a:spcPts val="0"/>
                        </a:spcBef>
                        <a:spcAft>
                          <a:spcPts val="0"/>
                        </a:spcAft>
                        <a:buSzPts val="1200"/>
                        <a:buAutoNum type="arabicPeriod"/>
                      </a:pPr>
                      <a:r>
                        <a:rPr lang="en" sz="1200"/>
                        <a:t>Establish distribution channels and retail partnerships for cannabis products.</a:t>
                      </a:r>
                      <a:endParaRPr sz="1200" b="1"/>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457200" lvl="0" indent="-304800" algn="l" rtl="0">
                        <a:lnSpc>
                          <a:spcPct val="150000"/>
                        </a:lnSpc>
                        <a:spcBef>
                          <a:spcPts val="1200"/>
                        </a:spcBef>
                        <a:spcAft>
                          <a:spcPts val="0"/>
                        </a:spcAft>
                        <a:buSzPts val="1200"/>
                        <a:buAutoNum type="arabicPeriod"/>
                      </a:pPr>
                      <a:r>
                        <a:rPr lang="en" sz="1200" dirty="0"/>
                        <a:t>Establish Martha Stewart as a trusted authority in the cannabis industry.</a:t>
                      </a:r>
                      <a:endParaRPr sz="1200" dirty="0"/>
                    </a:p>
                    <a:p>
                      <a:pPr marL="457200" lvl="0" indent="-304800" algn="l" rtl="0">
                        <a:lnSpc>
                          <a:spcPct val="150000"/>
                        </a:lnSpc>
                        <a:spcBef>
                          <a:spcPts val="0"/>
                        </a:spcBef>
                        <a:spcAft>
                          <a:spcPts val="0"/>
                        </a:spcAft>
                        <a:buSzPts val="1200"/>
                        <a:buAutoNum type="arabicPeriod"/>
                      </a:pPr>
                      <a:r>
                        <a:rPr lang="en" sz="1200" dirty="0">
                          <a:latin typeface="Times New Roman"/>
                          <a:ea typeface="Times New Roman"/>
                          <a:cs typeface="Times New Roman"/>
                          <a:sym typeface="Times New Roman"/>
                        </a:rPr>
                        <a:t> </a:t>
                      </a:r>
                      <a:r>
                        <a:rPr lang="en" sz="1200" dirty="0"/>
                        <a:t>Expand product offerings and market reach in the cannabis segment.</a:t>
                      </a:r>
                      <a:endParaRPr sz="1200" dirty="0"/>
                    </a:p>
                    <a:p>
                      <a:pPr marL="457200" lvl="0" indent="-304800" algn="l" rtl="0">
                        <a:lnSpc>
                          <a:spcPct val="150000"/>
                        </a:lnSpc>
                        <a:spcBef>
                          <a:spcPts val="0"/>
                        </a:spcBef>
                        <a:spcAft>
                          <a:spcPts val="0"/>
                        </a:spcAft>
                        <a:buSzPts val="1200"/>
                        <a:buAutoNum type="arabicPeriod"/>
                      </a:pPr>
                      <a:r>
                        <a:rPr lang="en" sz="1200" dirty="0"/>
                        <a:t>Drive revenue growth and profitability through the sale of cannabis-related merchandise and services.</a:t>
                      </a:r>
                      <a:endParaRPr sz="1200" b="1" dirty="0"/>
                    </a:p>
                  </a:txBody>
                  <a:tcPr marL="68575" marR="6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54" name="Google Shape;154;p22"/>
          <p:cNvSpPr txBox="1"/>
          <p:nvPr/>
        </p:nvSpPr>
        <p:spPr>
          <a:xfrm>
            <a:off x="1723600" y="412575"/>
            <a:ext cx="4867200" cy="3693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1800"/>
              </a:spcBef>
              <a:spcAft>
                <a:spcPts val="1800"/>
              </a:spcAft>
              <a:buNone/>
            </a:pPr>
            <a:r>
              <a:rPr lang="en" sz="1200" b="1" u="sng" dirty="0">
                <a:solidFill>
                  <a:schemeClr val="dk1"/>
                </a:solidFill>
              </a:rPr>
              <a:t>Martha Stewart</a:t>
            </a:r>
            <a:endParaRPr sz="1200" dirty="0"/>
          </a:p>
        </p:txBody>
      </p:sp>
      <p:sp>
        <p:nvSpPr>
          <p:cNvPr id="155" name="Google Shape;155;p22"/>
          <p:cNvSpPr txBox="1"/>
          <p:nvPr/>
        </p:nvSpPr>
        <p:spPr>
          <a:xfrm>
            <a:off x="101125" y="-95300"/>
            <a:ext cx="86958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Just how we understood Canopy’s objectives let's have a look for Martha Stewart as well</a:t>
            </a:r>
            <a:endParaRPr sz="1800" b="1">
              <a:solidFill>
                <a:schemeClr val="dk1"/>
              </a:solidFill>
            </a:endParaRPr>
          </a:p>
        </p:txBody>
      </p:sp>
      <p:sp>
        <p:nvSpPr>
          <p:cNvPr id="156" name="Google Shape;156;p22"/>
          <p:cNvSpPr txBox="1"/>
          <p:nvPr/>
        </p:nvSpPr>
        <p:spPr>
          <a:xfrm>
            <a:off x="103350" y="3720850"/>
            <a:ext cx="8937300" cy="14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Finally, both Canopy Growth and Martha Stewart have outlined strategic objectives aimed at capitalizing on the burgeoning cannabis market. Canopy Growth short-term seeks are to increase market presence, build operational capabilities, and create leadership in new areas, while its long-term goals are to achieve sustained revenue, product innovation, and R&amp;D. Similarly, Martha Stewart's short-term objectives emphasize the successful launch and distribution of cannabis-related products, building brand awareness, and establishing retail partnerships. Their long-term objectives aim to solidify Martha Stewart's position as a trusted authority in the cannabis industry, expand product offerings, and drive revenue growth. By aligning their objectives with the evolving needs and trends of the cannabis market, both Canopy Growth and Martha Stewart are poised to capitalize on opportunities and achieve long-term success in the dynamic cannabis industry.</a:t>
            </a:r>
            <a:endParaRPr sz="1100">
              <a:solidFill>
                <a:schemeClr val="dk1"/>
              </a:solidFill>
            </a:endParaRPr>
          </a:p>
        </p:txBody>
      </p:sp>
      <p:sp>
        <p:nvSpPr>
          <p:cNvPr id="2" name="Slide Number Placeholder 1">
            <a:extLst>
              <a:ext uri="{FF2B5EF4-FFF2-40B4-BE49-F238E27FC236}">
                <a16:creationId xmlns:a16="http://schemas.microsoft.com/office/drawing/2014/main" id="{3E934B3A-E1E9-9973-A2C2-1E25DDCCF5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3"/>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220" b="1"/>
              <a:t>Strategic Landscape: Martha Stewart &amp; Canopy Growth</a:t>
            </a:r>
            <a:endParaRPr sz="2220" b="1"/>
          </a:p>
        </p:txBody>
      </p:sp>
      <p:sp>
        <p:nvSpPr>
          <p:cNvPr id="162" name="Google Shape;162;p23"/>
          <p:cNvSpPr txBox="1">
            <a:spLocks noGrp="1"/>
          </p:cNvSpPr>
          <p:nvPr>
            <p:ph type="body" idx="1"/>
          </p:nvPr>
        </p:nvSpPr>
        <p:spPr>
          <a:xfrm>
            <a:off x="92825" y="739025"/>
            <a:ext cx="8589000" cy="4526100"/>
          </a:xfrm>
          <a:prstGeom prst="rect">
            <a:avLst/>
          </a:prstGeom>
        </p:spPr>
        <p:txBody>
          <a:bodyPr spcFirstLastPara="1" wrap="square" lIns="91425" tIns="91425" rIns="91425" bIns="91425" anchor="t" anchorCtr="0">
            <a:noAutofit/>
          </a:bodyPr>
          <a:lstStyle/>
          <a:p>
            <a:pPr marL="457200" lvl="0" indent="-292100" algn="just" rtl="0">
              <a:lnSpc>
                <a:spcPct val="150000"/>
              </a:lnSpc>
              <a:spcBef>
                <a:spcPts val="1200"/>
              </a:spcBef>
              <a:spcAft>
                <a:spcPts val="0"/>
              </a:spcAft>
              <a:buClr>
                <a:schemeClr val="dk1"/>
              </a:buClr>
              <a:buSzPts val="1000"/>
              <a:buAutoNum type="arabicPeriod"/>
            </a:pPr>
            <a:r>
              <a:rPr lang="en" sz="1000" b="1">
                <a:solidFill>
                  <a:schemeClr val="dk1"/>
                </a:solidFill>
              </a:rPr>
              <a:t>Develop a diverse portfolio of high-quality cannabis products: </a:t>
            </a:r>
            <a:r>
              <a:rPr lang="en" sz="1000">
                <a:solidFill>
                  <a:schemeClr val="dk1"/>
                </a:solidFill>
              </a:rPr>
              <a:t> This objective emphasizes the importance of product development and innovation.This purpose emphasizes the significance for product development and innovation. By developing a diversified selection of cannabis goods, including as CBD-infused edibles, oils, and wellness supplements, the joint venture will be able to appeal to a wider audience with different tastes and requirements. In the highly competitive cannabis business, high-quality goods are critical for building customer reputation and trust.. High-quality products are essential to establish credibility and trust among consumers in the competitive cannabis market.</a:t>
            </a:r>
            <a:endParaRPr sz="1000">
              <a:solidFill>
                <a:schemeClr val="dk1"/>
              </a:solidFill>
            </a:endParaRPr>
          </a:p>
          <a:p>
            <a:pPr marL="457200" lvl="0" indent="-292100" algn="just" rtl="0">
              <a:lnSpc>
                <a:spcPct val="150000"/>
              </a:lnSpc>
              <a:spcBef>
                <a:spcPts val="0"/>
              </a:spcBef>
              <a:spcAft>
                <a:spcPts val="0"/>
              </a:spcAft>
              <a:buClr>
                <a:schemeClr val="dk1"/>
              </a:buClr>
              <a:buSzPts val="1000"/>
              <a:buAutoNum type="arabicPeriod"/>
            </a:pPr>
            <a:r>
              <a:rPr lang="en" sz="1000">
                <a:solidFill>
                  <a:schemeClr val="dk1"/>
                </a:solidFill>
              </a:rPr>
              <a:t> </a:t>
            </a:r>
            <a:r>
              <a:rPr lang="en" sz="1000" b="1">
                <a:solidFill>
                  <a:schemeClr val="dk1"/>
                </a:solidFill>
              </a:rPr>
              <a:t>Establish Martha Stewart as a leading brand in the cannabis industry</a:t>
            </a:r>
            <a:r>
              <a:rPr lang="en" sz="1000">
                <a:solidFill>
                  <a:schemeClr val="dk1"/>
                </a:solidFill>
              </a:rPr>
              <a:t>: Building Martha Stewart's brand presence and reputation in the cannabis industry is crucial for differentiation and market positioning. Leveraging Martha Stewart's established brand equity and Canopy Growth's expertise in cannabis cultivation and production, the joint venture aims to become synonymous with quality, trustworthiness, and innovation in the cannabis market.</a:t>
            </a:r>
            <a:endParaRPr sz="1000">
              <a:solidFill>
                <a:schemeClr val="dk1"/>
              </a:solidFill>
            </a:endParaRPr>
          </a:p>
          <a:p>
            <a:pPr marL="457200" lvl="0" indent="-292100" algn="just" rtl="0">
              <a:lnSpc>
                <a:spcPct val="150000"/>
              </a:lnSpc>
              <a:spcBef>
                <a:spcPts val="0"/>
              </a:spcBef>
              <a:spcAft>
                <a:spcPts val="0"/>
              </a:spcAft>
              <a:buClr>
                <a:schemeClr val="dk1"/>
              </a:buClr>
              <a:buSzPts val="1000"/>
              <a:buAutoNum type="arabicPeriod"/>
            </a:pPr>
            <a:r>
              <a:rPr lang="en" sz="1000" b="1">
                <a:solidFill>
                  <a:schemeClr val="dk1"/>
                </a:solidFill>
              </a:rPr>
              <a:t>Drive consumer adoption and acceptance of cannabis-based products: </a:t>
            </a:r>
            <a:r>
              <a:rPr lang="en" sz="1000">
                <a:solidFill>
                  <a:schemeClr val="dk1"/>
                </a:solidFill>
              </a:rPr>
              <a:t>Overcoming social stigma and changing consumer perceptions are significant challenges in the cannabis industry. By educating consumers about the potential benefits of cannabis-based products and promoting responsible usage, the joint venture seeks to increase consumer adoption and acceptance. This objective aligns with broader industry efforts to normalize cannabis use and expand the market beyond traditional user demographics.</a:t>
            </a:r>
            <a:endParaRPr sz="1000">
              <a:solidFill>
                <a:schemeClr val="dk1"/>
              </a:solidFill>
            </a:endParaRPr>
          </a:p>
          <a:p>
            <a:pPr marL="457200" lvl="0" indent="-292100" algn="just" rtl="0">
              <a:lnSpc>
                <a:spcPct val="150000"/>
              </a:lnSpc>
              <a:spcBef>
                <a:spcPts val="0"/>
              </a:spcBef>
              <a:spcAft>
                <a:spcPts val="0"/>
              </a:spcAft>
              <a:buClr>
                <a:schemeClr val="dk1"/>
              </a:buClr>
              <a:buSzPts val="1000"/>
              <a:buAutoNum type="arabicPeriod"/>
            </a:pPr>
            <a:r>
              <a:rPr lang="en" sz="1000" b="1">
                <a:solidFill>
                  <a:schemeClr val="dk1"/>
                </a:solidFill>
              </a:rPr>
              <a:t> Enhance shareholder value through strategic collaborations and market expansion.: </a:t>
            </a:r>
            <a:r>
              <a:rPr lang="en" sz="1000">
                <a:solidFill>
                  <a:schemeClr val="dk1"/>
                </a:solidFill>
              </a:rPr>
              <a:t>Lastly, the joint venture seeks to create value for its owners by strategically extending its presence in the marketplace and using collaborative collaborations. The joint venture aims to boost revenue growth, economic viability, and shareholder returns by leveraging synergies among Martha Stewart's brand appeal and Canopy Growth's sector experience. Strategic connections with retailers and growth into new areas are critical to attaining this goal. </a:t>
            </a:r>
            <a:endParaRPr sz="1000">
              <a:solidFill>
                <a:schemeClr val="dk1"/>
              </a:solidFill>
            </a:endParaRPr>
          </a:p>
          <a:p>
            <a:pPr marL="0" lvl="0" indent="0" algn="l" rtl="0">
              <a:spcBef>
                <a:spcPts val="1200"/>
              </a:spcBef>
              <a:spcAft>
                <a:spcPts val="1200"/>
              </a:spcAft>
              <a:buNone/>
            </a:pPr>
            <a:endParaRPr sz="1000"/>
          </a:p>
        </p:txBody>
      </p:sp>
      <p:sp>
        <p:nvSpPr>
          <p:cNvPr id="163" name="Google Shape;163;p23"/>
          <p:cNvSpPr txBox="1"/>
          <p:nvPr/>
        </p:nvSpPr>
        <p:spPr>
          <a:xfrm>
            <a:off x="0" y="510700"/>
            <a:ext cx="7003800" cy="3540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1200"/>
              </a:spcBef>
              <a:spcAft>
                <a:spcPts val="1200"/>
              </a:spcAft>
              <a:buClr>
                <a:schemeClr val="dk1"/>
              </a:buClr>
              <a:buSzPts val="1100"/>
              <a:buFont typeface="Arial"/>
              <a:buNone/>
            </a:pPr>
            <a:r>
              <a:rPr lang="en" sz="1100" b="1">
                <a:solidFill>
                  <a:schemeClr val="dk1"/>
                </a:solidFill>
              </a:rPr>
              <a:t>Objectives for the Joint Venture:</a:t>
            </a:r>
            <a:endParaRPr sz="1800">
              <a:solidFill>
                <a:schemeClr val="dk2"/>
              </a:solidFill>
            </a:endParaRPr>
          </a:p>
        </p:txBody>
      </p:sp>
      <p:sp>
        <p:nvSpPr>
          <p:cNvPr id="2" name="Slide Number Placeholder 1">
            <a:extLst>
              <a:ext uri="{FF2B5EF4-FFF2-40B4-BE49-F238E27FC236}">
                <a16:creationId xmlns:a16="http://schemas.microsoft.com/office/drawing/2014/main" id="{0D77E878-A18F-4719-8D47-E39D43149E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4"/>
          <p:cNvSpPr txBox="1"/>
          <p:nvPr/>
        </p:nvSpPr>
        <p:spPr>
          <a:xfrm>
            <a:off x="152400" y="67200"/>
            <a:ext cx="7949184" cy="67707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dirty="0">
                <a:solidFill>
                  <a:schemeClr val="dk1"/>
                </a:solidFill>
              </a:rPr>
              <a:t>Strategic Landscape: Martha Stewart &amp; Canopy Growth</a:t>
            </a:r>
            <a:br>
              <a:rPr lang="en" sz="2000" b="1" dirty="0">
                <a:solidFill>
                  <a:schemeClr val="dk1"/>
                </a:solidFill>
              </a:rPr>
            </a:br>
            <a:r>
              <a:rPr lang="en" sz="1200" b="1" dirty="0">
                <a:solidFill>
                  <a:schemeClr val="dk1"/>
                </a:solidFill>
              </a:rPr>
              <a:t>Competitive Advantage Analysis</a:t>
            </a:r>
            <a:endParaRPr sz="1200" b="1" dirty="0">
              <a:solidFill>
                <a:schemeClr val="dk1"/>
              </a:solidFill>
            </a:endParaRPr>
          </a:p>
        </p:txBody>
      </p:sp>
      <p:pic>
        <p:nvPicPr>
          <p:cNvPr id="169" name="Google Shape;169;p24"/>
          <p:cNvPicPr preferRelativeResize="0"/>
          <p:nvPr/>
        </p:nvPicPr>
        <p:blipFill>
          <a:blip r:embed="rId3">
            <a:alphaModFix/>
          </a:blip>
          <a:stretch>
            <a:fillRect/>
          </a:stretch>
        </p:blipFill>
        <p:spPr>
          <a:xfrm>
            <a:off x="533162" y="711841"/>
            <a:ext cx="7790622" cy="4148176"/>
          </a:xfrm>
          <a:prstGeom prst="rect">
            <a:avLst/>
          </a:prstGeom>
          <a:noFill/>
          <a:ln>
            <a:noFill/>
          </a:ln>
        </p:spPr>
      </p:pic>
      <p:sp>
        <p:nvSpPr>
          <p:cNvPr id="2" name="Slide Number Placeholder 1">
            <a:extLst>
              <a:ext uri="{FF2B5EF4-FFF2-40B4-BE49-F238E27FC236}">
                <a16:creationId xmlns:a16="http://schemas.microsoft.com/office/drawing/2014/main" id="{534EA84E-C544-9A59-509B-AB51A47916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5"/>
          <p:cNvSpPr txBox="1">
            <a:spLocks noGrp="1"/>
          </p:cNvSpPr>
          <p:nvPr>
            <p:ph type="title"/>
          </p:nvPr>
        </p:nvSpPr>
        <p:spPr>
          <a:xfrm>
            <a:off x="92825" y="10455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ct val="61111"/>
              <a:buFont typeface="Arial"/>
              <a:buNone/>
            </a:pPr>
            <a:r>
              <a:rPr lang="en" sz="1800" b="1"/>
              <a:t>Let us examine the competitive advantage in detail.</a:t>
            </a:r>
            <a:endParaRPr/>
          </a:p>
          <a:p>
            <a:pPr marL="0" lvl="0" indent="0" algn="l" rtl="0">
              <a:spcBef>
                <a:spcPts val="0"/>
              </a:spcBef>
              <a:spcAft>
                <a:spcPts val="0"/>
              </a:spcAft>
              <a:buNone/>
            </a:pPr>
            <a:endParaRPr/>
          </a:p>
        </p:txBody>
      </p:sp>
      <p:sp>
        <p:nvSpPr>
          <p:cNvPr id="175" name="Google Shape;175;p25"/>
          <p:cNvSpPr/>
          <p:nvPr/>
        </p:nvSpPr>
        <p:spPr>
          <a:xfrm>
            <a:off x="3297500" y="1165742"/>
            <a:ext cx="2540100" cy="2540100"/>
          </a:xfrm>
          <a:prstGeom prst="donut">
            <a:avLst>
              <a:gd name="adj" fmla="val 16067"/>
            </a:avLst>
          </a:prstGeom>
          <a:solidFill>
            <a:srgbClr val="000000">
              <a:alpha val="10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 name="Google Shape;176;p25"/>
          <p:cNvGrpSpPr/>
          <p:nvPr/>
        </p:nvGrpSpPr>
        <p:grpSpPr>
          <a:xfrm>
            <a:off x="353876" y="766049"/>
            <a:ext cx="3258592" cy="2310300"/>
            <a:chOff x="353876" y="766049"/>
            <a:chExt cx="3258592" cy="2310300"/>
          </a:xfrm>
        </p:grpSpPr>
        <p:cxnSp>
          <p:nvCxnSpPr>
            <p:cNvPr id="177" name="Google Shape;177;p25"/>
            <p:cNvCxnSpPr/>
            <p:nvPr/>
          </p:nvCxnSpPr>
          <p:spPr>
            <a:xfrm>
              <a:off x="3178969" y="1638300"/>
              <a:ext cx="433500" cy="252300"/>
            </a:xfrm>
            <a:prstGeom prst="straightConnector1">
              <a:avLst/>
            </a:prstGeom>
            <a:noFill/>
            <a:ln w="19050" cap="flat" cmpd="sng">
              <a:solidFill>
                <a:srgbClr val="AAAAAA"/>
              </a:solidFill>
              <a:prstDash val="solid"/>
              <a:round/>
              <a:headEnd type="oval" w="med" len="med"/>
              <a:tailEnd type="none" w="sm" len="sm"/>
            </a:ln>
          </p:spPr>
        </p:cxnSp>
        <p:sp>
          <p:nvSpPr>
            <p:cNvPr id="178" name="Google Shape;178;p25"/>
            <p:cNvSpPr txBox="1"/>
            <p:nvPr/>
          </p:nvSpPr>
          <p:spPr>
            <a:xfrm>
              <a:off x="353876" y="766049"/>
              <a:ext cx="2822100" cy="231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latin typeface="Roboto"/>
                  <a:ea typeface="Roboto"/>
                  <a:cs typeface="Roboto"/>
                  <a:sym typeface="Roboto"/>
                </a:rPr>
                <a:t>Brand Recognition and Reputation: </a:t>
              </a:r>
              <a:endParaRPr sz="1100" b="1">
                <a:latin typeface="Roboto"/>
                <a:ea typeface="Roboto"/>
                <a:cs typeface="Roboto"/>
                <a:sym typeface="Roboto"/>
              </a:endParaRPr>
            </a:p>
            <a:p>
              <a:pPr marL="0" lvl="0" indent="0" algn="l" rtl="0">
                <a:lnSpc>
                  <a:spcPct val="115000"/>
                </a:lnSpc>
                <a:spcBef>
                  <a:spcPts val="0"/>
                </a:spcBef>
                <a:spcAft>
                  <a:spcPts val="0"/>
                </a:spcAft>
                <a:buNone/>
              </a:pPr>
              <a:endParaRPr sz="1100">
                <a:latin typeface="Roboto"/>
                <a:ea typeface="Roboto"/>
                <a:cs typeface="Roboto"/>
                <a:sym typeface="Roboto"/>
              </a:endParaRPr>
            </a:p>
            <a:p>
              <a:pPr marL="0" lvl="0" indent="0" algn="l" rtl="0">
                <a:lnSpc>
                  <a:spcPct val="115000"/>
                </a:lnSpc>
                <a:spcBef>
                  <a:spcPts val="0"/>
                </a:spcBef>
                <a:spcAft>
                  <a:spcPts val="0"/>
                </a:spcAft>
                <a:buNone/>
              </a:pPr>
              <a:r>
                <a:rPr lang="en" sz="1100">
                  <a:latin typeface="Roboto"/>
                  <a:ea typeface="Roboto"/>
                  <a:cs typeface="Roboto"/>
                  <a:sym typeface="Roboto"/>
                </a:rPr>
                <a:t>This is considered Yes on all factors (Valuable, Rare, Inimitable, and Owned) Her brand recognition and reputation are valuable because they create consumer trust and loyalty. They are rare because few individuals have achieved her level of brand recognition. They are inimitable because her personal brand is unique. They are owned because Martha Stewart controls her trademarks and image rights. Overall, this makes her brand recognition a strong competitive advantage.</a:t>
              </a:r>
              <a:endParaRPr sz="1100">
                <a:latin typeface="Roboto"/>
                <a:ea typeface="Roboto"/>
                <a:cs typeface="Roboto"/>
                <a:sym typeface="Roboto"/>
              </a:endParaRPr>
            </a:p>
          </p:txBody>
        </p:sp>
      </p:grpSp>
      <p:grpSp>
        <p:nvGrpSpPr>
          <p:cNvPr id="179" name="Google Shape;179;p25"/>
          <p:cNvGrpSpPr/>
          <p:nvPr/>
        </p:nvGrpSpPr>
        <p:grpSpPr>
          <a:xfrm>
            <a:off x="5517319" y="826849"/>
            <a:ext cx="3456506" cy="2796600"/>
            <a:chOff x="5517319" y="826849"/>
            <a:chExt cx="3456506" cy="2796600"/>
          </a:xfrm>
        </p:grpSpPr>
        <p:cxnSp>
          <p:nvCxnSpPr>
            <p:cNvPr id="180" name="Google Shape;180;p25"/>
            <p:cNvCxnSpPr/>
            <p:nvPr/>
          </p:nvCxnSpPr>
          <p:spPr>
            <a:xfrm flipH="1">
              <a:off x="5517319" y="1638300"/>
              <a:ext cx="433500" cy="252300"/>
            </a:xfrm>
            <a:prstGeom prst="straightConnector1">
              <a:avLst/>
            </a:prstGeom>
            <a:noFill/>
            <a:ln w="19050" cap="flat" cmpd="sng">
              <a:solidFill>
                <a:srgbClr val="2F2F2F"/>
              </a:solidFill>
              <a:prstDash val="solid"/>
              <a:round/>
              <a:headEnd type="oval" w="med" len="med"/>
              <a:tailEnd type="none" w="sm" len="sm"/>
            </a:ln>
          </p:spPr>
        </p:cxnSp>
        <p:sp>
          <p:nvSpPr>
            <p:cNvPr id="181" name="Google Shape;181;p25"/>
            <p:cNvSpPr txBox="1"/>
            <p:nvPr/>
          </p:nvSpPr>
          <p:spPr>
            <a:xfrm>
              <a:off x="5962125" y="826849"/>
              <a:ext cx="3011700" cy="279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latin typeface="Roboto"/>
                  <a:ea typeface="Roboto"/>
                  <a:cs typeface="Roboto"/>
                  <a:sym typeface="Roboto"/>
                </a:rPr>
                <a:t>Creative Expertise in Product Development:</a:t>
              </a:r>
              <a:endParaRPr sz="1100" b="1">
                <a:latin typeface="Roboto"/>
                <a:ea typeface="Roboto"/>
                <a:cs typeface="Roboto"/>
                <a:sym typeface="Roboto"/>
              </a:endParaRPr>
            </a:p>
            <a:p>
              <a:pPr marL="0" lvl="0" indent="0" algn="l" rtl="0">
                <a:lnSpc>
                  <a:spcPct val="115000"/>
                </a:lnSpc>
                <a:spcBef>
                  <a:spcPts val="0"/>
                </a:spcBef>
                <a:spcAft>
                  <a:spcPts val="0"/>
                </a:spcAft>
                <a:buNone/>
              </a:pPr>
              <a:endParaRPr sz="1100">
                <a:latin typeface="Roboto"/>
                <a:ea typeface="Roboto"/>
                <a:cs typeface="Roboto"/>
                <a:sym typeface="Roboto"/>
              </a:endParaRPr>
            </a:p>
            <a:p>
              <a:pPr marL="0" lvl="0" indent="0" algn="l" rtl="0">
                <a:lnSpc>
                  <a:spcPct val="115000"/>
                </a:lnSpc>
                <a:spcBef>
                  <a:spcPts val="0"/>
                </a:spcBef>
                <a:spcAft>
                  <a:spcPts val="0"/>
                </a:spcAft>
                <a:buNone/>
              </a:pPr>
              <a:r>
                <a:rPr lang="en" sz="1100">
                  <a:latin typeface="Roboto"/>
                  <a:ea typeface="Roboto"/>
                  <a:cs typeface="Roboto"/>
                  <a:sym typeface="Roboto"/>
                </a:rPr>
                <a:t>This is considered Yes on all factors (Valuable, Rare, Inimitable, and Owned) as well. Her creative expertise is valuable because it can help develop innovative and appealing cannabis products. It's rare because there are not many people with her level of experience and creativity. It's inimitable because her creativity is unique to her. And it's owned by her.</a:t>
              </a:r>
              <a:endParaRPr sz="1100">
                <a:latin typeface="Roboto"/>
                <a:ea typeface="Roboto"/>
                <a:cs typeface="Roboto"/>
                <a:sym typeface="Roboto"/>
              </a:endParaRPr>
            </a:p>
          </p:txBody>
        </p:sp>
      </p:grpSp>
      <p:sp>
        <p:nvSpPr>
          <p:cNvPr id="182" name="Google Shape;182;p25"/>
          <p:cNvSpPr txBox="1"/>
          <p:nvPr/>
        </p:nvSpPr>
        <p:spPr>
          <a:xfrm>
            <a:off x="3845784" y="2056460"/>
            <a:ext cx="1443600" cy="804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200" b="1">
                <a:latin typeface="Roboto"/>
                <a:ea typeface="Roboto"/>
                <a:cs typeface="Roboto"/>
                <a:sym typeface="Roboto"/>
              </a:rPr>
              <a:t>MARTHA STEWART</a:t>
            </a:r>
            <a:endParaRPr sz="1200"/>
          </a:p>
        </p:txBody>
      </p:sp>
      <p:sp>
        <p:nvSpPr>
          <p:cNvPr id="183" name="Google Shape;183;p25"/>
          <p:cNvSpPr/>
          <p:nvPr/>
        </p:nvSpPr>
        <p:spPr>
          <a:xfrm rot="1800047">
            <a:off x="3219843" y="1086434"/>
            <a:ext cx="2690936" cy="2690936"/>
          </a:xfrm>
          <a:prstGeom prst="blockArc">
            <a:avLst>
              <a:gd name="adj1" fmla="val 14414370"/>
              <a:gd name="adj2" fmla="val 694"/>
              <a:gd name="adj3" fmla="val 9562"/>
            </a:avLst>
          </a:prstGeom>
          <a:solidFill>
            <a:srgbClr val="2F2F2F"/>
          </a:solidFill>
          <a:ln>
            <a:noFill/>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5"/>
          <p:cNvSpPr/>
          <p:nvPr/>
        </p:nvSpPr>
        <p:spPr>
          <a:xfrm rot="-1800047" flipH="1">
            <a:off x="3221956" y="1086434"/>
            <a:ext cx="2690936" cy="2690936"/>
          </a:xfrm>
          <a:prstGeom prst="blockArc">
            <a:avLst>
              <a:gd name="adj1" fmla="val 14348563"/>
              <a:gd name="adj2" fmla="val 21472873"/>
              <a:gd name="adj3" fmla="val 9381"/>
            </a:avLst>
          </a:prstGeom>
          <a:solidFill>
            <a:srgbClr val="AAAAAA"/>
          </a:solidFill>
          <a:ln>
            <a:noFill/>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5"/>
          <p:cNvSpPr/>
          <p:nvPr/>
        </p:nvSpPr>
        <p:spPr>
          <a:xfrm rot="-8100000">
            <a:off x="4382715" y="1027393"/>
            <a:ext cx="363170" cy="363170"/>
          </a:xfrm>
          <a:prstGeom prst="rtTriangle">
            <a:avLst/>
          </a:prstGeom>
          <a:solidFill>
            <a:srgbClr val="AAA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5"/>
          <p:cNvSpPr/>
          <p:nvPr/>
        </p:nvSpPr>
        <p:spPr>
          <a:xfrm rot="-9000757" flipH="1">
            <a:off x="3220953" y="1084808"/>
            <a:ext cx="2690226" cy="2690226"/>
          </a:xfrm>
          <a:prstGeom prst="blockArc">
            <a:avLst>
              <a:gd name="adj1" fmla="val 14316164"/>
              <a:gd name="adj2" fmla="val 21502663"/>
              <a:gd name="adj3" fmla="val 9415"/>
            </a:avLst>
          </a:prstGeom>
          <a:solidFill>
            <a:srgbClr val="505050"/>
          </a:solidFill>
          <a:ln>
            <a:noFill/>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5"/>
          <p:cNvSpPr/>
          <p:nvPr/>
        </p:nvSpPr>
        <p:spPr>
          <a:xfrm rot="-1027861">
            <a:off x="5485874" y="2849832"/>
            <a:ext cx="312672" cy="312672"/>
          </a:xfrm>
          <a:prstGeom prst="rtTriangle">
            <a:avLst/>
          </a:prstGeom>
          <a:solidFill>
            <a:srgbClr val="2F2F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5"/>
          <p:cNvSpPr/>
          <p:nvPr/>
        </p:nvSpPr>
        <p:spPr>
          <a:xfrm rot="6359841">
            <a:off x="3315801" y="2847762"/>
            <a:ext cx="363580" cy="363580"/>
          </a:xfrm>
          <a:prstGeom prst="rtTriangle">
            <a:avLst/>
          </a:prstGeom>
          <a:solidFill>
            <a:srgbClr val="50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E62073F5-63EE-03A7-DC88-A1B97B0EF5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6"/>
          <p:cNvSpPr txBox="1">
            <a:spLocks noGrp="1"/>
          </p:cNvSpPr>
          <p:nvPr>
            <p:ph type="title"/>
          </p:nvPr>
        </p:nvSpPr>
        <p:spPr>
          <a:xfrm>
            <a:off x="92825" y="10455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a:t>Let us examine the competitive advantage in detail.</a:t>
            </a:r>
            <a:endParaRPr/>
          </a:p>
          <a:p>
            <a:pPr marL="0" lvl="0" indent="0" algn="l" rtl="0">
              <a:spcBef>
                <a:spcPts val="0"/>
              </a:spcBef>
              <a:spcAft>
                <a:spcPts val="0"/>
              </a:spcAft>
              <a:buNone/>
            </a:pPr>
            <a:endParaRPr/>
          </a:p>
        </p:txBody>
      </p:sp>
      <p:sp>
        <p:nvSpPr>
          <p:cNvPr id="194" name="Google Shape;194;p26"/>
          <p:cNvSpPr/>
          <p:nvPr/>
        </p:nvSpPr>
        <p:spPr>
          <a:xfrm>
            <a:off x="3297500" y="1165742"/>
            <a:ext cx="2540100" cy="2540100"/>
          </a:xfrm>
          <a:prstGeom prst="donut">
            <a:avLst>
              <a:gd name="adj" fmla="val 16067"/>
            </a:avLst>
          </a:prstGeom>
          <a:solidFill>
            <a:srgbClr val="000000">
              <a:alpha val="10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 name="Google Shape;195;p26"/>
          <p:cNvGrpSpPr/>
          <p:nvPr/>
        </p:nvGrpSpPr>
        <p:grpSpPr>
          <a:xfrm>
            <a:off x="353876" y="766049"/>
            <a:ext cx="3258592" cy="2310300"/>
            <a:chOff x="353876" y="766049"/>
            <a:chExt cx="3258592" cy="2310300"/>
          </a:xfrm>
        </p:grpSpPr>
        <p:cxnSp>
          <p:nvCxnSpPr>
            <p:cNvPr id="196" name="Google Shape;196;p26"/>
            <p:cNvCxnSpPr/>
            <p:nvPr/>
          </p:nvCxnSpPr>
          <p:spPr>
            <a:xfrm>
              <a:off x="3178969" y="1638300"/>
              <a:ext cx="433500" cy="252300"/>
            </a:xfrm>
            <a:prstGeom prst="straightConnector1">
              <a:avLst/>
            </a:prstGeom>
            <a:noFill/>
            <a:ln w="19050" cap="flat" cmpd="sng">
              <a:solidFill>
                <a:srgbClr val="AAAAAA"/>
              </a:solidFill>
              <a:prstDash val="solid"/>
              <a:round/>
              <a:headEnd type="oval" w="med" len="med"/>
              <a:tailEnd type="none" w="sm" len="sm"/>
            </a:ln>
          </p:spPr>
        </p:cxnSp>
        <p:sp>
          <p:nvSpPr>
            <p:cNvPr id="197" name="Google Shape;197;p26"/>
            <p:cNvSpPr txBox="1"/>
            <p:nvPr/>
          </p:nvSpPr>
          <p:spPr>
            <a:xfrm>
              <a:off x="353876" y="766049"/>
              <a:ext cx="2822100" cy="231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latin typeface="Roboto"/>
                  <a:ea typeface="Roboto"/>
                  <a:cs typeface="Roboto"/>
                  <a:sym typeface="Roboto"/>
                </a:rPr>
                <a:t>Cannabis Cultivation and Production Infrastructure:</a:t>
              </a:r>
              <a:endParaRPr sz="1100" b="1">
                <a:latin typeface="Roboto"/>
                <a:ea typeface="Roboto"/>
                <a:cs typeface="Roboto"/>
                <a:sym typeface="Roboto"/>
              </a:endParaRPr>
            </a:p>
            <a:p>
              <a:pPr marL="0" lvl="0" indent="0" algn="l" rtl="0">
                <a:lnSpc>
                  <a:spcPct val="115000"/>
                </a:lnSpc>
                <a:spcBef>
                  <a:spcPts val="0"/>
                </a:spcBef>
                <a:spcAft>
                  <a:spcPts val="0"/>
                </a:spcAft>
                <a:buNone/>
              </a:pPr>
              <a:endParaRPr sz="1100">
                <a:latin typeface="Roboto"/>
                <a:ea typeface="Roboto"/>
                <a:cs typeface="Roboto"/>
                <a:sym typeface="Roboto"/>
              </a:endParaRPr>
            </a:p>
            <a:p>
              <a:pPr marL="0" lvl="0" indent="0" algn="l" rtl="0">
                <a:lnSpc>
                  <a:spcPct val="115000"/>
                </a:lnSpc>
                <a:spcBef>
                  <a:spcPts val="0"/>
                </a:spcBef>
                <a:spcAft>
                  <a:spcPts val="0"/>
                </a:spcAft>
                <a:buNone/>
              </a:pPr>
              <a:r>
                <a:rPr lang="en" sz="1100">
                  <a:latin typeface="Roboto"/>
                  <a:ea typeface="Roboto"/>
                  <a:cs typeface="Roboto"/>
                  <a:sym typeface="Roboto"/>
                </a:rPr>
                <a:t>This is considered Yes on all factors (Valuable, Rare, Inimitable, and Owned). Their cannabis cultivation and production infrastructure is valuable because it allows them to produce cannabis products efficiently. It's rare because building such infrastructure requires significant investment and regulatory approval. It's difficult to imitate because of the regulatory hurdles and expertise needed. They own their facilities and knowledge, making it a competitive advantage.</a:t>
              </a:r>
              <a:endParaRPr sz="1100">
                <a:latin typeface="Roboto"/>
                <a:ea typeface="Roboto"/>
                <a:cs typeface="Roboto"/>
                <a:sym typeface="Roboto"/>
              </a:endParaRPr>
            </a:p>
          </p:txBody>
        </p:sp>
      </p:grpSp>
      <p:grpSp>
        <p:nvGrpSpPr>
          <p:cNvPr id="198" name="Google Shape;198;p26"/>
          <p:cNvGrpSpPr/>
          <p:nvPr/>
        </p:nvGrpSpPr>
        <p:grpSpPr>
          <a:xfrm>
            <a:off x="5517319" y="826849"/>
            <a:ext cx="3456506" cy="2796600"/>
            <a:chOff x="5517319" y="826849"/>
            <a:chExt cx="3456506" cy="2796600"/>
          </a:xfrm>
        </p:grpSpPr>
        <p:cxnSp>
          <p:nvCxnSpPr>
            <p:cNvPr id="199" name="Google Shape;199;p26"/>
            <p:cNvCxnSpPr/>
            <p:nvPr/>
          </p:nvCxnSpPr>
          <p:spPr>
            <a:xfrm flipH="1">
              <a:off x="5517319" y="1638300"/>
              <a:ext cx="433500" cy="252300"/>
            </a:xfrm>
            <a:prstGeom prst="straightConnector1">
              <a:avLst/>
            </a:prstGeom>
            <a:noFill/>
            <a:ln w="19050" cap="flat" cmpd="sng">
              <a:solidFill>
                <a:srgbClr val="2F2F2F"/>
              </a:solidFill>
              <a:prstDash val="solid"/>
              <a:round/>
              <a:headEnd type="oval" w="med" len="med"/>
              <a:tailEnd type="none" w="sm" len="sm"/>
            </a:ln>
          </p:spPr>
        </p:cxnSp>
        <p:sp>
          <p:nvSpPr>
            <p:cNvPr id="200" name="Google Shape;200;p26"/>
            <p:cNvSpPr txBox="1"/>
            <p:nvPr/>
          </p:nvSpPr>
          <p:spPr>
            <a:xfrm>
              <a:off x="5962125" y="826849"/>
              <a:ext cx="3011700" cy="279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latin typeface="Roboto"/>
                  <a:ea typeface="Roboto"/>
                  <a:cs typeface="Roboto"/>
                  <a:sym typeface="Roboto"/>
                </a:rPr>
                <a:t>Global Market Presence and Distribution Network: </a:t>
              </a:r>
              <a:endParaRPr sz="1100" b="1">
                <a:latin typeface="Roboto"/>
                <a:ea typeface="Roboto"/>
                <a:cs typeface="Roboto"/>
                <a:sym typeface="Roboto"/>
              </a:endParaRPr>
            </a:p>
            <a:p>
              <a:pPr marL="0" lvl="0" indent="0" algn="l" rtl="0">
                <a:lnSpc>
                  <a:spcPct val="115000"/>
                </a:lnSpc>
                <a:spcBef>
                  <a:spcPts val="0"/>
                </a:spcBef>
                <a:spcAft>
                  <a:spcPts val="0"/>
                </a:spcAft>
                <a:buNone/>
              </a:pPr>
              <a:endParaRPr sz="1100">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 sz="1100">
                  <a:latin typeface="Roboto"/>
                  <a:ea typeface="Roboto"/>
                  <a:cs typeface="Roboto"/>
                  <a:sym typeface="Roboto"/>
                </a:rPr>
                <a:t>This is considered Yes on all factors (Valuable, Rare, Inimitable, and Owned) Their global market presence and distribution network are valuable because it allows them to sell their products in a wider market. It's rare because few companies have such a broad reach. It's difficult to imitate because it takes time and resources to build a global network. And they own their facilities and distribution channels.</a:t>
              </a:r>
              <a:endParaRPr sz="1100">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100">
                <a:latin typeface="Roboto"/>
                <a:ea typeface="Roboto"/>
                <a:cs typeface="Roboto"/>
                <a:sym typeface="Roboto"/>
              </a:endParaRPr>
            </a:p>
            <a:p>
              <a:pPr marL="0" lvl="0" indent="0" algn="l" rtl="0">
                <a:lnSpc>
                  <a:spcPct val="115000"/>
                </a:lnSpc>
                <a:spcBef>
                  <a:spcPts val="0"/>
                </a:spcBef>
                <a:spcAft>
                  <a:spcPts val="0"/>
                </a:spcAft>
                <a:buNone/>
              </a:pPr>
              <a:endParaRPr sz="1100">
                <a:latin typeface="Roboto"/>
                <a:ea typeface="Roboto"/>
                <a:cs typeface="Roboto"/>
                <a:sym typeface="Roboto"/>
              </a:endParaRPr>
            </a:p>
          </p:txBody>
        </p:sp>
      </p:grpSp>
      <p:sp>
        <p:nvSpPr>
          <p:cNvPr id="201" name="Google Shape;201;p26"/>
          <p:cNvSpPr txBox="1"/>
          <p:nvPr/>
        </p:nvSpPr>
        <p:spPr>
          <a:xfrm>
            <a:off x="3845784" y="2056460"/>
            <a:ext cx="1443600" cy="804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200" b="1">
                <a:latin typeface="Roboto"/>
                <a:ea typeface="Roboto"/>
                <a:cs typeface="Roboto"/>
                <a:sym typeface="Roboto"/>
              </a:rPr>
              <a:t>CANOPY GROWTH CORPORATION</a:t>
            </a:r>
            <a:endParaRPr sz="1200"/>
          </a:p>
        </p:txBody>
      </p:sp>
      <p:sp>
        <p:nvSpPr>
          <p:cNvPr id="202" name="Google Shape;202;p26"/>
          <p:cNvSpPr/>
          <p:nvPr/>
        </p:nvSpPr>
        <p:spPr>
          <a:xfrm rot="1800047">
            <a:off x="3219843" y="1086434"/>
            <a:ext cx="2690936" cy="2690936"/>
          </a:xfrm>
          <a:prstGeom prst="blockArc">
            <a:avLst>
              <a:gd name="adj1" fmla="val 14414370"/>
              <a:gd name="adj2" fmla="val 694"/>
              <a:gd name="adj3" fmla="val 9562"/>
            </a:avLst>
          </a:prstGeom>
          <a:solidFill>
            <a:srgbClr val="2F2F2F"/>
          </a:solidFill>
          <a:ln>
            <a:noFill/>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rot="-1800047" flipH="1">
            <a:off x="3221956" y="1086434"/>
            <a:ext cx="2690936" cy="2690936"/>
          </a:xfrm>
          <a:prstGeom prst="blockArc">
            <a:avLst>
              <a:gd name="adj1" fmla="val 14348563"/>
              <a:gd name="adj2" fmla="val 21472873"/>
              <a:gd name="adj3" fmla="val 9381"/>
            </a:avLst>
          </a:prstGeom>
          <a:solidFill>
            <a:srgbClr val="AAAAAA"/>
          </a:solidFill>
          <a:ln>
            <a:noFill/>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rot="-8100000">
            <a:off x="4382715" y="1027393"/>
            <a:ext cx="363170" cy="363170"/>
          </a:xfrm>
          <a:prstGeom prst="rtTriangle">
            <a:avLst/>
          </a:prstGeom>
          <a:solidFill>
            <a:srgbClr val="AAA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rot="-9000757" flipH="1">
            <a:off x="3220953" y="1084808"/>
            <a:ext cx="2690226" cy="2690226"/>
          </a:xfrm>
          <a:prstGeom prst="blockArc">
            <a:avLst>
              <a:gd name="adj1" fmla="val 14316164"/>
              <a:gd name="adj2" fmla="val 21502663"/>
              <a:gd name="adj3" fmla="val 9415"/>
            </a:avLst>
          </a:prstGeom>
          <a:solidFill>
            <a:srgbClr val="505050"/>
          </a:solidFill>
          <a:ln>
            <a:noFill/>
          </a:ln>
          <a:effectLst>
            <a:outerShdw blurRad="71438" dist="9525" dir="5400000" algn="bl"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rot="-1027861">
            <a:off x="5485874" y="2849832"/>
            <a:ext cx="312672" cy="312672"/>
          </a:xfrm>
          <a:prstGeom prst="rtTriangle">
            <a:avLst/>
          </a:prstGeom>
          <a:solidFill>
            <a:srgbClr val="2F2F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p:nvPr/>
        </p:nvSpPr>
        <p:spPr>
          <a:xfrm rot="6359841">
            <a:off x="3315801" y="2847762"/>
            <a:ext cx="363580" cy="363580"/>
          </a:xfrm>
          <a:prstGeom prst="rtTriangle">
            <a:avLst/>
          </a:prstGeom>
          <a:solidFill>
            <a:srgbClr val="50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F902170C-2A4A-D0B7-43F6-5CC1ED277C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7"/>
          <p:cNvSpPr txBox="1">
            <a:spLocks noGrp="1"/>
          </p:cNvSpPr>
          <p:nvPr>
            <p:ph type="title"/>
          </p:nvPr>
        </p:nvSpPr>
        <p:spPr>
          <a:xfrm>
            <a:off x="0" y="10455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ct val="61111"/>
              <a:buFont typeface="Arial"/>
              <a:buNone/>
            </a:pPr>
            <a:r>
              <a:rPr lang="en" sz="1800" b="1"/>
              <a:t>So, what are the outcomes of the Competitive Advantage Analysis?</a:t>
            </a:r>
            <a:endParaRPr/>
          </a:p>
        </p:txBody>
      </p:sp>
      <p:sp>
        <p:nvSpPr>
          <p:cNvPr id="213" name="Google Shape;213;p27"/>
          <p:cNvSpPr txBox="1">
            <a:spLocks noGrp="1"/>
          </p:cNvSpPr>
          <p:nvPr>
            <p:ph type="body" idx="1"/>
          </p:nvPr>
        </p:nvSpPr>
        <p:spPr>
          <a:xfrm>
            <a:off x="372500" y="556650"/>
            <a:ext cx="4625100" cy="34164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sz="1100">
                <a:solidFill>
                  <a:schemeClr val="dk1"/>
                </a:solidFill>
              </a:rPr>
              <a:t>The competitive advantage analysis reveals that both Martha Stewart and Canopy Growth Corporation bring valuable, rare, and difficult-to-imitate resources and capabilities to the joint venture. Martha Stewart's brand recognition and reputation are significant assets, fostering consumer trust and loyalty. With decades of expertise in the lifestyle and consumer products industries, Martha Stewart's brand is associated with quality, innovation, and authenticity.. This creative expertise extends to product development, where Martha Stewart's team excels in crafting unique and appealing offerings tailored to consumer preferences.These skills not only provide worth to the joint venture, but also differentiate it from competition by providing unique and in-demand items.</a:t>
            </a:r>
            <a:br>
              <a:rPr lang="en"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On the other side, Canopy Growth Corporation's strengths include its marijuana cultivation and cultivation infrastructure, which includes modern equipment and industry-leading knowledge. Canopy Growth, one of the world's leading cannabis firms, has a strong globally market share as well as a distribution network, allowing for extensive access to its goods.. This extensive infrastructure and market reach provide a competitive edge, allowing the joint venture to penetrate markets efficiently and effectively.</a:t>
            </a:r>
            <a:endParaRPr sz="1100">
              <a:solidFill>
                <a:schemeClr val="dk1"/>
              </a:solidFill>
            </a:endParaRPr>
          </a:p>
          <a:p>
            <a:pPr marL="0" lvl="0" indent="0" algn="l" rtl="0">
              <a:spcBef>
                <a:spcPts val="1200"/>
              </a:spcBef>
              <a:spcAft>
                <a:spcPts val="0"/>
              </a:spcAft>
              <a:buNone/>
            </a:pPr>
            <a:endParaRPr sz="1100">
              <a:solidFill>
                <a:schemeClr val="dk1"/>
              </a:solidFill>
            </a:endParaRPr>
          </a:p>
          <a:p>
            <a:pPr marL="0" lvl="0" indent="0" algn="l" rtl="0">
              <a:spcBef>
                <a:spcPts val="1200"/>
              </a:spcBef>
              <a:spcAft>
                <a:spcPts val="0"/>
              </a:spcAft>
              <a:buClr>
                <a:schemeClr val="dk1"/>
              </a:buClr>
              <a:buSzPts val="1100"/>
              <a:buFont typeface="Arial"/>
              <a:buNone/>
            </a:pPr>
            <a:endParaRPr sz="1100">
              <a:solidFill>
                <a:schemeClr val="dk1"/>
              </a:solidFill>
            </a:endParaRPr>
          </a:p>
          <a:p>
            <a:pPr marL="0" lvl="0" indent="0" algn="l" rtl="0">
              <a:spcBef>
                <a:spcPts val="1200"/>
              </a:spcBef>
              <a:spcAft>
                <a:spcPts val="1200"/>
              </a:spcAft>
              <a:buNone/>
            </a:pPr>
            <a:endParaRPr sz="1100">
              <a:solidFill>
                <a:schemeClr val="dk1"/>
              </a:solidFill>
            </a:endParaRPr>
          </a:p>
        </p:txBody>
      </p:sp>
      <p:sp>
        <p:nvSpPr>
          <p:cNvPr id="214" name="Google Shape;214;p27"/>
          <p:cNvSpPr/>
          <p:nvPr/>
        </p:nvSpPr>
        <p:spPr>
          <a:xfrm>
            <a:off x="5119175" y="644450"/>
            <a:ext cx="705300" cy="4377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 name="Google Shape;215;p27"/>
          <p:cNvSpPr txBox="1"/>
          <p:nvPr/>
        </p:nvSpPr>
        <p:spPr>
          <a:xfrm>
            <a:off x="5909550" y="1228125"/>
            <a:ext cx="3039900" cy="302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Overall, the joint venture benefits from the combination of Martha Stewart's brand impact and product development expertise, as well as Canopy Growth's industry-leading infrastructure and worldwide presence. Together, these competitive advantages position the joint venture for success in the highly competitive cannabis market, allowing it to seize opportunities and sustain long-term development.</a:t>
            </a:r>
            <a:endParaRPr>
              <a:solidFill>
                <a:schemeClr val="dk1"/>
              </a:solidFill>
            </a:endParaRPr>
          </a:p>
          <a:p>
            <a:pPr marL="0" lvl="0" indent="0" algn="l" rtl="0">
              <a:spcBef>
                <a:spcPts val="0"/>
              </a:spcBef>
              <a:spcAft>
                <a:spcPts val="0"/>
              </a:spcAft>
              <a:buNone/>
            </a:pPr>
            <a:endParaRPr>
              <a:solidFill>
                <a:schemeClr val="dk1"/>
              </a:solidFill>
            </a:endParaRPr>
          </a:p>
        </p:txBody>
      </p:sp>
      <p:sp>
        <p:nvSpPr>
          <p:cNvPr id="2" name="Slide Number Placeholder 1">
            <a:extLst>
              <a:ext uri="{FF2B5EF4-FFF2-40B4-BE49-F238E27FC236}">
                <a16:creationId xmlns:a16="http://schemas.microsoft.com/office/drawing/2014/main" id="{40AC1D0B-AAF0-7254-3C7D-DD9B8E78BA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105000" y="559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020" b="1"/>
              <a:t>Beyond the Stigma: Insights for Martha Stewart's CBD Strategy</a:t>
            </a:r>
            <a:endParaRPr sz="1920" b="1"/>
          </a:p>
        </p:txBody>
      </p:sp>
      <p:sp>
        <p:nvSpPr>
          <p:cNvPr id="221" name="Google Shape;221;p28"/>
          <p:cNvSpPr txBox="1">
            <a:spLocks noGrp="1"/>
          </p:cNvSpPr>
          <p:nvPr>
            <p:ph type="body" idx="1"/>
          </p:nvPr>
        </p:nvSpPr>
        <p:spPr>
          <a:xfrm>
            <a:off x="56350" y="678650"/>
            <a:ext cx="8929500" cy="14505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275"/>
              <a:buNone/>
            </a:pPr>
            <a:r>
              <a:rPr lang="en" sz="1250">
                <a:solidFill>
                  <a:schemeClr val="dk1"/>
                </a:solidFill>
              </a:rPr>
              <a:t>The cannabis industry has seen remarkable growth and change due to more places legalizing it, shifts in consumer attitudes, and broader medicinal and recreational use. Market segmentation now includes medical cannabis, recreational cannabis, and wellness-focused CBD products. With 38 states, three territories, and the District of Columbia allowing medical cannabis in the USA, the market is expanding rapidly. Canopy Growth produces medical-grade cannabis and aims to seize opportunities worldwide. They've set their sights on the lucrative US market, projected to hit about $50 billion USD by 2026, by partnering with Martha Stewart. However, the business faces challenges like varied consumer tastes, complex regulations, and ever-changing distribution channels, spanning dispensaries, e-commerce, and retail partnerships.</a:t>
            </a:r>
            <a:endParaRPr sz="650">
              <a:solidFill>
                <a:schemeClr val="dk1"/>
              </a:solidFill>
            </a:endParaRPr>
          </a:p>
          <a:p>
            <a:pPr marL="0" lvl="0" indent="0" algn="l" rtl="0">
              <a:lnSpc>
                <a:spcPct val="95000"/>
              </a:lnSpc>
              <a:spcBef>
                <a:spcPts val="1200"/>
              </a:spcBef>
              <a:spcAft>
                <a:spcPts val="0"/>
              </a:spcAft>
              <a:buClr>
                <a:schemeClr val="dk1"/>
              </a:buClr>
              <a:buSzPts val="275"/>
              <a:buFont typeface="Arial"/>
              <a:buNone/>
            </a:pPr>
            <a:endParaRPr sz="650">
              <a:solidFill>
                <a:schemeClr val="dk1"/>
              </a:solidFill>
            </a:endParaRPr>
          </a:p>
          <a:p>
            <a:pPr marL="0" lvl="0" indent="0" algn="l" rtl="0">
              <a:lnSpc>
                <a:spcPct val="95000"/>
              </a:lnSpc>
              <a:spcBef>
                <a:spcPts val="1200"/>
              </a:spcBef>
              <a:spcAft>
                <a:spcPts val="1200"/>
              </a:spcAft>
              <a:buSzPts val="275"/>
              <a:buNone/>
            </a:pPr>
            <a:endParaRPr sz="650">
              <a:solidFill>
                <a:schemeClr val="dk1"/>
              </a:solidFill>
            </a:endParaRPr>
          </a:p>
        </p:txBody>
      </p:sp>
      <p:grpSp>
        <p:nvGrpSpPr>
          <p:cNvPr id="222" name="Google Shape;222;p28"/>
          <p:cNvGrpSpPr/>
          <p:nvPr/>
        </p:nvGrpSpPr>
        <p:grpSpPr>
          <a:xfrm>
            <a:off x="182385" y="2129136"/>
            <a:ext cx="8322831" cy="2803032"/>
            <a:chOff x="328400" y="2129150"/>
            <a:chExt cx="8280600" cy="2669300"/>
          </a:xfrm>
        </p:grpSpPr>
        <p:sp>
          <p:nvSpPr>
            <p:cNvPr id="223" name="Google Shape;223;p28"/>
            <p:cNvSpPr txBox="1"/>
            <p:nvPr/>
          </p:nvSpPr>
          <p:spPr>
            <a:xfrm>
              <a:off x="766100" y="2129150"/>
              <a:ext cx="7842900" cy="74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0D0D0D"/>
                  </a:solidFill>
                  <a:highlight>
                    <a:srgbClr val="FFFFFF"/>
                  </a:highlight>
                </a:rPr>
                <a:t>Competitor Analysis: </a:t>
              </a:r>
              <a:r>
                <a:rPr lang="en" sz="1100">
                  <a:solidFill>
                    <a:srgbClr val="0D0D0D"/>
                  </a:solidFill>
                  <a:highlight>
                    <a:srgbClr val="FFFFFF"/>
                  </a:highlight>
                </a:rPr>
                <a:t>Competitors in the cannabis industry range from established players like Aurora Cannabis and Aphria to emerging brands and craft cultivators. There is more competition when it comes to of price points, brand distinction, position in the market, and categories of products. Key rivals set themselves apart via distribution chains, brand collaborations, product innovation, and regulatory compliance.</a:t>
              </a:r>
              <a:endParaRPr sz="1100">
                <a:solidFill>
                  <a:srgbClr val="0D0D0D"/>
                </a:solidFill>
                <a:highlight>
                  <a:srgbClr val="FFFFFF"/>
                </a:highlight>
              </a:endParaRPr>
            </a:p>
            <a:p>
              <a:pPr marL="0" lvl="0" indent="0" algn="l" rtl="0">
                <a:spcBef>
                  <a:spcPts val="0"/>
                </a:spcBef>
                <a:spcAft>
                  <a:spcPts val="0"/>
                </a:spcAft>
                <a:buNone/>
              </a:pPr>
              <a:endParaRPr sz="1800">
                <a:solidFill>
                  <a:schemeClr val="dk2"/>
                </a:solidFill>
              </a:endParaRPr>
            </a:p>
          </p:txBody>
        </p:sp>
        <p:sp>
          <p:nvSpPr>
            <p:cNvPr id="224" name="Google Shape;224;p28"/>
            <p:cNvSpPr/>
            <p:nvPr/>
          </p:nvSpPr>
          <p:spPr>
            <a:xfrm rot="5400000">
              <a:off x="243200" y="2214350"/>
              <a:ext cx="608100" cy="4377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 name="Google Shape;225;p28"/>
            <p:cNvSpPr/>
            <p:nvPr/>
          </p:nvSpPr>
          <p:spPr>
            <a:xfrm rot="5400000">
              <a:off x="243200" y="3244950"/>
              <a:ext cx="608100" cy="4377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 name="Google Shape;226;p28"/>
            <p:cNvSpPr/>
            <p:nvPr/>
          </p:nvSpPr>
          <p:spPr>
            <a:xfrm rot="5400000">
              <a:off x="243200" y="4142038"/>
              <a:ext cx="608100" cy="4377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 name="Google Shape;227;p28"/>
            <p:cNvSpPr txBox="1"/>
            <p:nvPr/>
          </p:nvSpPr>
          <p:spPr>
            <a:xfrm>
              <a:off x="766100" y="2926200"/>
              <a:ext cx="7842900" cy="74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0D0D0D"/>
                  </a:solidFill>
                  <a:highlight>
                    <a:srgbClr val="FFFFFF"/>
                  </a:highlight>
                </a:rPr>
                <a:t>Customer Analysis: </a:t>
              </a:r>
              <a:r>
                <a:rPr lang="en" sz="1100">
                  <a:solidFill>
                    <a:srgbClr val="0D0D0D"/>
                  </a:solidFill>
                  <a:highlight>
                    <a:srgbClr val="FFFFFF"/>
                  </a:highlight>
                </a:rPr>
                <a:t>The client environment in the cannabis market has changed dramatically, with diverse sectors such as medicinal cannabis users, recreational consumers, and CBD searchers who are looking for health benefits. Medical cannabis customers value efficacy, consistency, and safety, looking for dependable solutions that are customized to their specific requirements. Recreational customers have diverse tastes, ranging from expert aficionados to casual users, with emphasis on flavour, potency, and brand image. CBD customers that value wellness emphasize purity, potency, and transparency, looking for goods that provide health advantages like as stress alleviation or pain treatment. </a:t>
              </a:r>
              <a:endParaRPr sz="1800">
                <a:solidFill>
                  <a:schemeClr val="dk2"/>
                </a:solidFill>
              </a:endParaRPr>
            </a:p>
          </p:txBody>
        </p:sp>
        <p:sp>
          <p:nvSpPr>
            <p:cNvPr id="228" name="Google Shape;228;p28"/>
            <p:cNvSpPr txBox="1"/>
            <p:nvPr/>
          </p:nvSpPr>
          <p:spPr>
            <a:xfrm>
              <a:off x="766100" y="4056850"/>
              <a:ext cx="7842900" cy="74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0D0D0D"/>
                  </a:solidFill>
                  <a:highlight>
                    <a:srgbClr val="FFFFFF"/>
                  </a:highlight>
                </a:rPr>
                <a:t>Collaborative Analysis: </a:t>
              </a:r>
              <a:r>
                <a:rPr lang="en" sz="1100">
                  <a:solidFill>
                    <a:srgbClr val="0D0D0D"/>
                  </a:solidFill>
                  <a:highlight>
                    <a:srgbClr val="FFFFFF"/>
                  </a:highlight>
                </a:rPr>
                <a:t>In the cannabis sector, partnerships and collaborations are widespread supporting innovation, market expansion, and regulatory compliance. Product development, distribution methods, and access to markets are driven by strategic relationships between consumer brands, research institutes, pharmaceutical businesses, and cannabis companies. Collaborators take advantage of possibilities in the market while minimizing risks by bringing together complementary skills, resources, and expertise.</a:t>
              </a:r>
              <a:endParaRPr sz="1100">
                <a:solidFill>
                  <a:srgbClr val="0D0D0D"/>
                </a:solidFill>
                <a:highlight>
                  <a:srgbClr val="FFFFFF"/>
                </a:highlight>
              </a:endParaRPr>
            </a:p>
            <a:p>
              <a:pPr marL="0" lvl="0" indent="0" algn="l" rtl="0">
                <a:spcBef>
                  <a:spcPts val="0"/>
                </a:spcBef>
                <a:spcAft>
                  <a:spcPts val="0"/>
                </a:spcAft>
                <a:buNone/>
              </a:pPr>
              <a:endParaRPr sz="1100">
                <a:solidFill>
                  <a:srgbClr val="0D0D0D"/>
                </a:solidFill>
                <a:highlight>
                  <a:srgbClr val="FFFFFF"/>
                </a:highlight>
              </a:endParaRPr>
            </a:p>
            <a:p>
              <a:pPr marL="0" lvl="0" indent="0" algn="l" rtl="0">
                <a:spcBef>
                  <a:spcPts val="0"/>
                </a:spcBef>
                <a:spcAft>
                  <a:spcPts val="0"/>
                </a:spcAft>
                <a:buNone/>
              </a:pPr>
              <a:endParaRPr sz="1800">
                <a:solidFill>
                  <a:schemeClr val="dk2"/>
                </a:solidFill>
              </a:endParaRPr>
            </a:p>
          </p:txBody>
        </p:sp>
      </p:grpSp>
      <p:sp>
        <p:nvSpPr>
          <p:cNvPr id="2" name="Slide Number Placeholder 1">
            <a:extLst>
              <a:ext uri="{FF2B5EF4-FFF2-40B4-BE49-F238E27FC236}">
                <a16:creationId xmlns:a16="http://schemas.microsoft.com/office/drawing/2014/main" id="{D70D6C13-4EF4-A307-CED6-794AC28D90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9"/>
          <p:cNvSpPr txBox="1">
            <a:spLocks noGrp="1"/>
          </p:cNvSpPr>
          <p:nvPr>
            <p:ph type="title"/>
          </p:nvPr>
        </p:nvSpPr>
        <p:spPr>
          <a:xfrm>
            <a:off x="194550" y="6320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Talking about Pestle Analysis </a:t>
            </a:r>
            <a:endParaRPr/>
          </a:p>
        </p:txBody>
      </p:sp>
      <p:sp>
        <p:nvSpPr>
          <p:cNvPr id="234" name="Google Shape;234;p29"/>
          <p:cNvSpPr/>
          <p:nvPr/>
        </p:nvSpPr>
        <p:spPr>
          <a:xfrm>
            <a:off x="194550" y="1204700"/>
            <a:ext cx="1884600" cy="1750200"/>
          </a:xfrm>
          <a:prstGeom prst="wedgeRect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Political: In the US market, regulatory frameworks vary across jurisdictions, impacting market entry, product legality, taxation, and licensing requirements. It will affect the overall performance of Martha Stewart Cannabis.</a:t>
            </a:r>
            <a:endParaRPr sz="1100"/>
          </a:p>
        </p:txBody>
      </p:sp>
      <p:sp>
        <p:nvSpPr>
          <p:cNvPr id="235" name="Google Shape;235;p29"/>
          <p:cNvSpPr/>
          <p:nvPr/>
        </p:nvSpPr>
        <p:spPr>
          <a:xfrm>
            <a:off x="2432113" y="1204700"/>
            <a:ext cx="1884600" cy="1750200"/>
          </a:xfrm>
          <a:prstGeom prst="wedgeRect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Economic: Economic factors influence consumer spending, market demand, investment trends, and pricing dynamics in the cannabis industry. These major factors should be kept in check while expanding the business of Martha Stewart Cannabis. </a:t>
            </a:r>
            <a:endParaRPr sz="1100"/>
          </a:p>
        </p:txBody>
      </p:sp>
      <p:sp>
        <p:nvSpPr>
          <p:cNvPr id="236" name="Google Shape;236;p29"/>
          <p:cNvSpPr/>
          <p:nvPr/>
        </p:nvSpPr>
        <p:spPr>
          <a:xfrm>
            <a:off x="4660688" y="1204700"/>
            <a:ext cx="1939500" cy="1750200"/>
          </a:xfrm>
          <a:prstGeom prst="wedgeRect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t>Social: Changing social norms, attitudes towards cannabis, wellness trends, and cultural acceptance shape consumer behavior and market preferences. But as a market player of medicinal cannabis supplier, It is going to be a positive side for Martha Stewart Cannabis.</a:t>
            </a:r>
            <a:endParaRPr sz="1000"/>
          </a:p>
        </p:txBody>
      </p:sp>
      <p:sp>
        <p:nvSpPr>
          <p:cNvPr id="237" name="Google Shape;237;p29"/>
          <p:cNvSpPr/>
          <p:nvPr/>
        </p:nvSpPr>
        <p:spPr>
          <a:xfrm>
            <a:off x="6944175" y="1204700"/>
            <a:ext cx="1939500" cy="1750200"/>
          </a:xfrm>
          <a:prstGeom prst="wedgeRect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000">
                <a:solidFill>
                  <a:schemeClr val="dk1"/>
                </a:solidFill>
              </a:rPr>
              <a:t>Technological: The venture will always need to keep updated with the recent innovations and procedures. It will not only help to lead the market, but also save unnecessary costs.</a:t>
            </a:r>
            <a:endParaRPr/>
          </a:p>
        </p:txBody>
      </p:sp>
      <p:sp>
        <p:nvSpPr>
          <p:cNvPr id="238" name="Google Shape;238;p29"/>
          <p:cNvSpPr/>
          <p:nvPr/>
        </p:nvSpPr>
        <p:spPr>
          <a:xfrm>
            <a:off x="590600" y="3272700"/>
            <a:ext cx="1939500" cy="1677900"/>
          </a:xfrm>
          <a:prstGeom prst="wedgeRect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a:t>Legal: Legal considerations encompass cannabis legislation, licensing regulations, intellectual property rights, and compliance with health and safety standards.</a:t>
            </a:r>
            <a:endParaRPr sz="1100"/>
          </a:p>
          <a:p>
            <a:pPr marL="0" lvl="0" indent="0" algn="l" rtl="0">
              <a:spcBef>
                <a:spcPts val="0"/>
              </a:spcBef>
              <a:spcAft>
                <a:spcPts val="0"/>
              </a:spcAft>
              <a:buClr>
                <a:schemeClr val="dk1"/>
              </a:buClr>
              <a:buSzPts val="1100"/>
              <a:buFont typeface="Arial"/>
              <a:buNone/>
            </a:pPr>
            <a:endParaRPr sz="1100"/>
          </a:p>
          <a:p>
            <a:pPr marL="0" lvl="0" indent="0" algn="l" rtl="0">
              <a:spcBef>
                <a:spcPts val="0"/>
              </a:spcBef>
              <a:spcAft>
                <a:spcPts val="0"/>
              </a:spcAft>
              <a:buNone/>
            </a:pPr>
            <a:endParaRPr sz="1100"/>
          </a:p>
        </p:txBody>
      </p:sp>
      <p:sp>
        <p:nvSpPr>
          <p:cNvPr id="239" name="Google Shape;239;p29"/>
          <p:cNvSpPr/>
          <p:nvPr/>
        </p:nvSpPr>
        <p:spPr>
          <a:xfrm>
            <a:off x="2776100" y="3272700"/>
            <a:ext cx="1884600" cy="1677900"/>
          </a:xfrm>
          <a:prstGeom prst="wedgeRect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dirty="0"/>
              <a:t>Environmental: Environmental factors include sustainable cultivation practices, energy efficiency, waste management, and environmental stewardship initiatives in cannabis production.</a:t>
            </a:r>
            <a:endParaRPr sz="1100" dirty="0"/>
          </a:p>
        </p:txBody>
      </p:sp>
      <p:sp>
        <p:nvSpPr>
          <p:cNvPr id="241" name="Google Shape;241;p29"/>
          <p:cNvSpPr txBox="1"/>
          <p:nvPr/>
        </p:nvSpPr>
        <p:spPr>
          <a:xfrm>
            <a:off x="111550" y="170300"/>
            <a:ext cx="8167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Beyond the Stigma: Insights for Martha Stewart's CBD Strategy</a:t>
            </a:r>
            <a:endParaRPr sz="1800" b="1">
              <a:solidFill>
                <a:schemeClr val="dk2"/>
              </a:solidFill>
            </a:endParaRPr>
          </a:p>
        </p:txBody>
      </p:sp>
      <p:sp>
        <p:nvSpPr>
          <p:cNvPr id="3" name="Google Shape;239;p29">
            <a:extLst>
              <a:ext uri="{FF2B5EF4-FFF2-40B4-BE49-F238E27FC236}">
                <a16:creationId xmlns:a16="http://schemas.microsoft.com/office/drawing/2014/main" id="{4DB3ED86-2F50-9AEF-7CB9-DAAA06BC6C1E}"/>
              </a:ext>
            </a:extLst>
          </p:cNvPr>
          <p:cNvSpPr/>
          <p:nvPr/>
        </p:nvSpPr>
        <p:spPr>
          <a:xfrm>
            <a:off x="5466332" y="3262704"/>
            <a:ext cx="1884600" cy="1677900"/>
          </a:xfrm>
          <a:prstGeom prst="wedgeRect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r>
              <a:rPr lang="en-CA" sz="1100" dirty="0"/>
              <a:t>Ethical - Responsible sourcing and production practices are essential for building brand trust.</a:t>
            </a:r>
          </a:p>
          <a:p>
            <a:pPr marL="0" lvl="0" indent="0" rtl="0">
              <a:spcBef>
                <a:spcPts val="0"/>
              </a:spcBef>
              <a:spcAft>
                <a:spcPts val="0"/>
              </a:spcAft>
              <a:buClr>
                <a:schemeClr val="dk1"/>
              </a:buClr>
              <a:buSzPts val="1100"/>
              <a:buFont typeface="Arial"/>
              <a:buNone/>
            </a:pPr>
            <a:r>
              <a:rPr lang="en-CA" sz="1100" dirty="0"/>
              <a:t>Transparency about product ingredients and potential health effects is crucial.</a:t>
            </a:r>
          </a:p>
          <a:p>
            <a:pPr marL="0" lvl="0" indent="0" rtl="0">
              <a:spcBef>
                <a:spcPts val="0"/>
              </a:spcBef>
              <a:spcAft>
                <a:spcPts val="0"/>
              </a:spcAft>
              <a:buNone/>
            </a:pPr>
            <a:endParaRPr lang="en-CA" sz="1100" dirty="0"/>
          </a:p>
          <a:p>
            <a:endParaRPr lang="en-US" sz="1100" dirty="0"/>
          </a:p>
        </p:txBody>
      </p:sp>
      <p:sp>
        <p:nvSpPr>
          <p:cNvPr id="4" name="Slide Number Placeholder 3">
            <a:extLst>
              <a:ext uri="{FF2B5EF4-FFF2-40B4-BE49-F238E27FC236}">
                <a16:creationId xmlns:a16="http://schemas.microsoft.com/office/drawing/2014/main" id="{F77F5B80-B105-218C-883D-E11B115C42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0"/>
          <p:cNvSpPr txBox="1">
            <a:spLocks noGrp="1"/>
          </p:cNvSpPr>
          <p:nvPr>
            <p:ph type="body" idx="1"/>
          </p:nvPr>
        </p:nvSpPr>
        <p:spPr>
          <a:xfrm>
            <a:off x="0" y="71475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rPr>
              <a:t>Unique Challenges:</a:t>
            </a:r>
            <a:endParaRPr b="1">
              <a:solidFill>
                <a:schemeClr val="dk1"/>
              </a:solidFill>
            </a:endParaRPr>
          </a:p>
          <a:p>
            <a:pPr marL="0" lvl="0" indent="0" algn="l" rtl="0">
              <a:spcBef>
                <a:spcPts val="1200"/>
              </a:spcBef>
              <a:spcAft>
                <a:spcPts val="0"/>
              </a:spcAft>
              <a:buClr>
                <a:schemeClr val="dk1"/>
              </a:buClr>
              <a:buSzPts val="1100"/>
              <a:buFont typeface="Arial"/>
              <a:buNone/>
            </a:pPr>
            <a:r>
              <a:rPr lang="en">
                <a:solidFill>
                  <a:schemeClr val="dk1"/>
                </a:solidFill>
              </a:rPr>
              <a:t>Regulatory Uncertainty: Marketing and distribution are made more difficult by the uneven set of laws that exist throughout North America.</a:t>
            </a:r>
            <a:endParaRPr>
              <a:solidFill>
                <a:schemeClr val="dk1"/>
              </a:solidFill>
            </a:endParaRPr>
          </a:p>
          <a:p>
            <a:pPr marL="0" lvl="0" indent="0" algn="l" rtl="0">
              <a:spcBef>
                <a:spcPts val="1200"/>
              </a:spcBef>
              <a:spcAft>
                <a:spcPts val="0"/>
              </a:spcAft>
              <a:buClr>
                <a:schemeClr val="dk1"/>
              </a:buClr>
              <a:buSzPts val="1100"/>
              <a:buFont typeface="Arial"/>
              <a:buNone/>
            </a:pPr>
            <a:r>
              <a:rPr lang="en">
                <a:solidFill>
                  <a:schemeClr val="dk1"/>
                </a:solidFill>
              </a:rPr>
              <a:t>Consumer Education &amp; Stigma: Overcoming unfavorable attitudes about cannabis and informing people about its possible advantages are continuing issues.</a:t>
            </a:r>
            <a:endParaRPr>
              <a:solidFill>
                <a:schemeClr val="dk1"/>
              </a:solidFill>
            </a:endParaRPr>
          </a:p>
          <a:p>
            <a:pPr marL="0" lvl="0" indent="0" algn="l" rtl="0">
              <a:spcBef>
                <a:spcPts val="1200"/>
              </a:spcBef>
              <a:spcAft>
                <a:spcPts val="1200"/>
              </a:spcAft>
              <a:buNone/>
            </a:pPr>
            <a:r>
              <a:rPr lang="en">
                <a:solidFill>
                  <a:schemeClr val="dk1"/>
                </a:solidFill>
              </a:rPr>
              <a:t>Restricted Marketing Routes: Innovative marketing techniques are required in light of traditional advertising limits.</a:t>
            </a:r>
            <a:endParaRPr>
              <a:solidFill>
                <a:schemeClr val="dk1"/>
              </a:solidFill>
            </a:endParaRPr>
          </a:p>
        </p:txBody>
      </p:sp>
      <p:sp>
        <p:nvSpPr>
          <p:cNvPr id="247" name="Google Shape;247;p30"/>
          <p:cNvSpPr txBox="1"/>
          <p:nvPr/>
        </p:nvSpPr>
        <p:spPr>
          <a:xfrm>
            <a:off x="171300" y="135025"/>
            <a:ext cx="8801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Beyond the Stigma: Insights for Martha Stewart's CBD Strategy</a:t>
            </a:r>
            <a:endParaRPr sz="1800" b="1">
              <a:solidFill>
                <a:schemeClr val="dk2"/>
              </a:solidFill>
            </a:endParaRPr>
          </a:p>
        </p:txBody>
      </p:sp>
      <p:sp>
        <p:nvSpPr>
          <p:cNvPr id="2" name="Slide Number Placeholder 1">
            <a:extLst>
              <a:ext uri="{FF2B5EF4-FFF2-40B4-BE49-F238E27FC236}">
                <a16:creationId xmlns:a16="http://schemas.microsoft.com/office/drawing/2014/main" id="{5A37B1E3-FAF3-DDC5-5426-6EF44EEF8A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1"/>
          <p:cNvSpPr txBox="1">
            <a:spLocks noGrp="1"/>
          </p:cNvSpPr>
          <p:nvPr>
            <p:ph type="title"/>
          </p:nvPr>
        </p:nvSpPr>
        <p:spPr>
          <a:xfrm>
            <a:off x="68500" y="802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ct val="61111"/>
              <a:buFont typeface="Arial"/>
              <a:buNone/>
            </a:pPr>
            <a:r>
              <a:rPr lang="en" sz="1800" b="1"/>
              <a:t>Allow us to investigate the insights from Porter's Five Forces.</a:t>
            </a:r>
            <a:endParaRPr sz="1800" b="1"/>
          </a:p>
          <a:p>
            <a:pPr marL="0" lvl="0" indent="0" algn="l" rtl="0">
              <a:spcBef>
                <a:spcPts val="0"/>
              </a:spcBef>
              <a:spcAft>
                <a:spcPts val="0"/>
              </a:spcAft>
              <a:buNone/>
            </a:pPr>
            <a:endParaRPr/>
          </a:p>
        </p:txBody>
      </p:sp>
      <p:grpSp>
        <p:nvGrpSpPr>
          <p:cNvPr id="253" name="Google Shape;253;p31"/>
          <p:cNvGrpSpPr/>
          <p:nvPr/>
        </p:nvGrpSpPr>
        <p:grpSpPr>
          <a:xfrm>
            <a:off x="255424" y="563274"/>
            <a:ext cx="8390020" cy="4324773"/>
            <a:chOff x="1593000" y="940260"/>
            <a:chExt cx="5957975" cy="3262994"/>
          </a:xfrm>
        </p:grpSpPr>
        <p:grpSp>
          <p:nvGrpSpPr>
            <p:cNvPr id="254" name="Google Shape;254;p31"/>
            <p:cNvGrpSpPr/>
            <p:nvPr/>
          </p:nvGrpSpPr>
          <p:grpSpPr>
            <a:xfrm>
              <a:off x="1593000" y="3559754"/>
              <a:ext cx="5957975" cy="643500"/>
              <a:chOff x="1593000" y="2322568"/>
              <a:chExt cx="5957975" cy="643500"/>
            </a:xfrm>
          </p:grpSpPr>
          <p:sp>
            <p:nvSpPr>
              <p:cNvPr id="255" name="Google Shape;255;p31"/>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1"/>
              <p:cNvSpPr/>
              <p:nvPr/>
            </p:nvSpPr>
            <p:spPr>
              <a:xfrm flipH="1">
                <a:off x="2283025" y="2322575"/>
                <a:ext cx="1844400" cy="642600"/>
              </a:xfrm>
              <a:prstGeom prst="rect">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1"/>
              <p:cNvSpPr/>
              <p:nvPr/>
            </p:nvSpPr>
            <p:spPr>
              <a:xfrm rot="-5400000">
                <a:off x="3501574" y="1934671"/>
                <a:ext cx="643356" cy="1419149"/>
              </a:xfrm>
              <a:prstGeom prst="flowChartOffpageConnector">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1"/>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05000"/>
                  </a:lnSpc>
                  <a:spcBef>
                    <a:spcPts val="0"/>
                  </a:spcBef>
                  <a:spcAft>
                    <a:spcPts val="1200"/>
                  </a:spcAft>
                  <a:buClr>
                    <a:schemeClr val="dk1"/>
                  </a:buClr>
                  <a:buSzPts val="770"/>
                  <a:buFont typeface="Arial"/>
                  <a:buNone/>
                </a:pPr>
                <a:r>
                  <a:rPr lang="en" sz="1460" b="1">
                    <a:solidFill>
                      <a:schemeClr val="lt1"/>
                    </a:solidFill>
                  </a:rPr>
                  <a:t>Competitive Rivalry</a:t>
                </a:r>
                <a:endParaRPr sz="1000">
                  <a:solidFill>
                    <a:schemeClr val="lt1"/>
                  </a:solidFill>
                  <a:latin typeface="Roboto"/>
                  <a:ea typeface="Roboto"/>
                  <a:cs typeface="Roboto"/>
                  <a:sym typeface="Roboto"/>
                </a:endParaRPr>
              </a:p>
            </p:txBody>
          </p:sp>
          <p:sp>
            <p:nvSpPr>
              <p:cNvPr id="259" name="Google Shape;259;p31"/>
              <p:cNvSpPr/>
              <p:nvPr/>
            </p:nvSpPr>
            <p:spPr>
              <a:xfrm>
                <a:off x="1593000" y="2322568"/>
                <a:ext cx="690000" cy="642300"/>
              </a:xfrm>
              <a:prstGeom prst="rect">
                <a:avLst/>
              </a:prstGeom>
              <a:solidFill>
                <a:srgbClr val="414141"/>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1"/>
              <p:cNvSpPr/>
              <p:nvPr/>
            </p:nvSpPr>
            <p:spPr>
              <a:xfrm>
                <a:off x="1593000" y="2322575"/>
                <a:ext cx="690000" cy="642600"/>
              </a:xfrm>
              <a:prstGeom prst="rect">
                <a:avLst/>
              </a:prstGeom>
              <a:solidFill>
                <a:srgbClr val="4646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05</a:t>
                </a:r>
                <a:endParaRPr sz="2600">
                  <a:solidFill>
                    <a:srgbClr val="FFFFFF"/>
                  </a:solidFill>
                  <a:latin typeface="Roboto Thin"/>
                  <a:ea typeface="Roboto Thin"/>
                  <a:cs typeface="Roboto Thin"/>
                  <a:sym typeface="Roboto Thin"/>
                </a:endParaRPr>
              </a:p>
            </p:txBody>
          </p:sp>
          <p:sp>
            <p:nvSpPr>
              <p:cNvPr id="261" name="Google Shape;261;p31"/>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lvl="0" indent="0" algn="l" rtl="0">
                  <a:lnSpc>
                    <a:spcPct val="105000"/>
                  </a:lnSpc>
                  <a:spcBef>
                    <a:spcPts val="0"/>
                  </a:spcBef>
                  <a:spcAft>
                    <a:spcPts val="0"/>
                  </a:spcAft>
                  <a:buNone/>
                </a:pPr>
                <a:endParaRPr sz="1460">
                  <a:solidFill>
                    <a:schemeClr val="dk1"/>
                  </a:solidFill>
                </a:endParaRPr>
              </a:p>
              <a:p>
                <a:pPr marL="457200" lvl="0" indent="0" algn="l" rtl="0">
                  <a:lnSpc>
                    <a:spcPct val="105000"/>
                  </a:lnSpc>
                  <a:spcBef>
                    <a:spcPts val="1200"/>
                  </a:spcBef>
                  <a:spcAft>
                    <a:spcPts val="0"/>
                  </a:spcAft>
                  <a:buNone/>
                </a:pPr>
                <a:r>
                  <a:rPr lang="en" sz="1460">
                    <a:solidFill>
                      <a:schemeClr val="dk1"/>
                    </a:solidFill>
                  </a:rPr>
                  <a:t>High, with established CBD brands and emerging cannabis companies vying for market share.</a:t>
                </a:r>
                <a:endParaRPr sz="1460">
                  <a:solidFill>
                    <a:schemeClr val="dk1"/>
                  </a:solidFill>
                </a:endParaRPr>
              </a:p>
              <a:p>
                <a:pPr marL="0" lvl="0" indent="0" algn="l" rtl="0">
                  <a:lnSpc>
                    <a:spcPct val="115000"/>
                  </a:lnSpc>
                  <a:spcBef>
                    <a:spcPts val="1200"/>
                  </a:spcBef>
                  <a:spcAft>
                    <a:spcPts val="0"/>
                  </a:spcAft>
                  <a:buNone/>
                </a:pPr>
                <a:endParaRPr sz="800">
                  <a:solidFill>
                    <a:srgbClr val="3D3D3D"/>
                  </a:solidFill>
                  <a:latin typeface="Roboto"/>
                  <a:ea typeface="Roboto"/>
                  <a:cs typeface="Roboto"/>
                  <a:sym typeface="Roboto"/>
                </a:endParaRPr>
              </a:p>
            </p:txBody>
          </p:sp>
        </p:grpSp>
        <p:grpSp>
          <p:nvGrpSpPr>
            <p:cNvPr id="262" name="Google Shape;262;p31"/>
            <p:cNvGrpSpPr/>
            <p:nvPr/>
          </p:nvGrpSpPr>
          <p:grpSpPr>
            <a:xfrm>
              <a:off x="1593000" y="2904887"/>
              <a:ext cx="5957975" cy="643500"/>
              <a:chOff x="1593000" y="2322568"/>
              <a:chExt cx="5957975" cy="643500"/>
            </a:xfrm>
          </p:grpSpPr>
          <p:sp>
            <p:nvSpPr>
              <p:cNvPr id="263" name="Google Shape;263;p31"/>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1"/>
              <p:cNvSpPr/>
              <p:nvPr/>
            </p:nvSpPr>
            <p:spPr>
              <a:xfrm flipH="1">
                <a:off x="2283025" y="2322575"/>
                <a:ext cx="1844400" cy="642600"/>
              </a:xfrm>
              <a:prstGeom prst="rect">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1"/>
              <p:cNvSpPr/>
              <p:nvPr/>
            </p:nvSpPr>
            <p:spPr>
              <a:xfrm rot="-5400000">
                <a:off x="3501574" y="1934671"/>
                <a:ext cx="643356" cy="1419149"/>
              </a:xfrm>
              <a:prstGeom prst="flowChartOffpageConnector">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1"/>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05000"/>
                  </a:lnSpc>
                  <a:spcBef>
                    <a:spcPts val="0"/>
                  </a:spcBef>
                  <a:spcAft>
                    <a:spcPts val="1200"/>
                  </a:spcAft>
                  <a:buClr>
                    <a:schemeClr val="dk1"/>
                  </a:buClr>
                  <a:buSzPts val="770"/>
                  <a:buFont typeface="Arial"/>
                  <a:buNone/>
                </a:pPr>
                <a:r>
                  <a:rPr lang="en" sz="1460" b="1">
                    <a:solidFill>
                      <a:schemeClr val="lt1"/>
                    </a:solidFill>
                  </a:rPr>
                  <a:t>Threat of Substitutes</a:t>
                </a:r>
                <a:endParaRPr sz="1000">
                  <a:solidFill>
                    <a:schemeClr val="lt1"/>
                  </a:solidFill>
                  <a:latin typeface="Roboto"/>
                  <a:ea typeface="Roboto"/>
                  <a:cs typeface="Roboto"/>
                  <a:sym typeface="Roboto"/>
                </a:endParaRPr>
              </a:p>
            </p:txBody>
          </p:sp>
          <p:sp>
            <p:nvSpPr>
              <p:cNvPr id="267" name="Google Shape;267;p31"/>
              <p:cNvSpPr/>
              <p:nvPr/>
            </p:nvSpPr>
            <p:spPr>
              <a:xfrm>
                <a:off x="1593000" y="2322568"/>
                <a:ext cx="690000" cy="642300"/>
              </a:xfrm>
              <a:prstGeom prst="rect">
                <a:avLst/>
              </a:prstGeom>
              <a:solidFill>
                <a:srgbClr val="414141"/>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1"/>
              <p:cNvSpPr/>
              <p:nvPr/>
            </p:nvSpPr>
            <p:spPr>
              <a:xfrm>
                <a:off x="1593000" y="2322575"/>
                <a:ext cx="690000" cy="642600"/>
              </a:xfrm>
              <a:prstGeom prst="rect">
                <a:avLst/>
              </a:prstGeom>
              <a:solidFill>
                <a:srgbClr val="4646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04</a:t>
                </a:r>
                <a:endParaRPr sz="2600">
                  <a:solidFill>
                    <a:srgbClr val="FFFFFF"/>
                  </a:solidFill>
                  <a:latin typeface="Roboto Thin"/>
                  <a:ea typeface="Roboto Thin"/>
                  <a:cs typeface="Roboto Thin"/>
                  <a:sym typeface="Roboto Thin"/>
                </a:endParaRPr>
              </a:p>
            </p:txBody>
          </p:sp>
          <p:sp>
            <p:nvSpPr>
              <p:cNvPr id="269" name="Google Shape;269;p31"/>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lvl="0" indent="-279400" algn="l" rtl="0">
                  <a:lnSpc>
                    <a:spcPct val="105000"/>
                  </a:lnSpc>
                  <a:spcBef>
                    <a:spcPts val="0"/>
                  </a:spcBef>
                  <a:spcAft>
                    <a:spcPts val="0"/>
                  </a:spcAft>
                  <a:buClr>
                    <a:srgbClr val="3D3D3D"/>
                  </a:buClr>
                  <a:buSzPts val="800"/>
                  <a:buFont typeface="Roboto"/>
                  <a:buChar char="●"/>
                </a:pPr>
                <a:endParaRPr sz="1460">
                  <a:solidFill>
                    <a:schemeClr val="dk1"/>
                  </a:solidFill>
                </a:endParaRPr>
              </a:p>
              <a:p>
                <a:pPr marL="457200" lvl="0" indent="-279400" algn="l" rtl="0">
                  <a:lnSpc>
                    <a:spcPct val="105000"/>
                  </a:lnSpc>
                  <a:spcBef>
                    <a:spcPts val="0"/>
                  </a:spcBef>
                  <a:spcAft>
                    <a:spcPts val="0"/>
                  </a:spcAft>
                  <a:buClr>
                    <a:srgbClr val="3D3D3D"/>
                  </a:buClr>
                  <a:buSzPts val="800"/>
                  <a:buFont typeface="Roboto"/>
                  <a:buChar char="●"/>
                </a:pPr>
                <a:r>
                  <a:rPr lang="en" sz="1460">
                    <a:solidFill>
                      <a:schemeClr val="dk1"/>
                    </a:solidFill>
                  </a:rPr>
                  <a:t>High, as traditional wellness products and emerging THC-infused products can act as substitutes.</a:t>
                </a:r>
                <a:endParaRPr sz="1460">
                  <a:solidFill>
                    <a:schemeClr val="dk1"/>
                  </a:solidFill>
                </a:endParaRPr>
              </a:p>
              <a:p>
                <a:pPr marL="457200" lvl="0" indent="0" algn="l" rtl="0">
                  <a:lnSpc>
                    <a:spcPct val="115000"/>
                  </a:lnSpc>
                  <a:spcBef>
                    <a:spcPts val="1200"/>
                  </a:spcBef>
                  <a:spcAft>
                    <a:spcPts val="0"/>
                  </a:spcAft>
                  <a:buNone/>
                </a:pPr>
                <a:endParaRPr sz="800">
                  <a:solidFill>
                    <a:srgbClr val="3D3D3D"/>
                  </a:solidFill>
                  <a:latin typeface="Roboto"/>
                  <a:ea typeface="Roboto"/>
                  <a:cs typeface="Roboto"/>
                  <a:sym typeface="Roboto"/>
                </a:endParaRPr>
              </a:p>
            </p:txBody>
          </p:sp>
        </p:grpSp>
        <p:grpSp>
          <p:nvGrpSpPr>
            <p:cNvPr id="270" name="Google Shape;270;p31"/>
            <p:cNvGrpSpPr/>
            <p:nvPr/>
          </p:nvGrpSpPr>
          <p:grpSpPr>
            <a:xfrm>
              <a:off x="1593000" y="2249994"/>
              <a:ext cx="5957975" cy="643500"/>
              <a:chOff x="1593000" y="2322568"/>
              <a:chExt cx="5957975" cy="643500"/>
            </a:xfrm>
          </p:grpSpPr>
          <p:sp>
            <p:nvSpPr>
              <p:cNvPr id="271" name="Google Shape;271;p31"/>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1"/>
              <p:cNvSpPr/>
              <p:nvPr/>
            </p:nvSpPr>
            <p:spPr>
              <a:xfrm flipH="1">
                <a:off x="2283025" y="2322575"/>
                <a:ext cx="1844400" cy="642600"/>
              </a:xfrm>
              <a:prstGeom prst="rect">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1"/>
              <p:cNvSpPr/>
              <p:nvPr/>
            </p:nvSpPr>
            <p:spPr>
              <a:xfrm rot="-5400000">
                <a:off x="3501574" y="1934671"/>
                <a:ext cx="643356" cy="1419149"/>
              </a:xfrm>
              <a:prstGeom prst="flowChartOffpageConnector">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1"/>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05000"/>
                  </a:lnSpc>
                  <a:spcBef>
                    <a:spcPts val="0"/>
                  </a:spcBef>
                  <a:spcAft>
                    <a:spcPts val="1200"/>
                  </a:spcAft>
                  <a:buClr>
                    <a:schemeClr val="dk1"/>
                  </a:buClr>
                  <a:buSzPts val="770"/>
                  <a:buFont typeface="Arial"/>
                  <a:buNone/>
                </a:pPr>
                <a:r>
                  <a:rPr lang="en" sz="1460" b="1">
                    <a:solidFill>
                      <a:schemeClr val="lt1"/>
                    </a:solidFill>
                  </a:rPr>
                  <a:t>Bargaining Power of Buyers</a:t>
                </a:r>
                <a:endParaRPr sz="1000">
                  <a:solidFill>
                    <a:schemeClr val="lt1"/>
                  </a:solidFill>
                  <a:latin typeface="Roboto"/>
                  <a:ea typeface="Roboto"/>
                  <a:cs typeface="Roboto"/>
                  <a:sym typeface="Roboto"/>
                </a:endParaRPr>
              </a:p>
            </p:txBody>
          </p:sp>
          <p:sp>
            <p:nvSpPr>
              <p:cNvPr id="275" name="Google Shape;275;p31"/>
              <p:cNvSpPr/>
              <p:nvPr/>
            </p:nvSpPr>
            <p:spPr>
              <a:xfrm>
                <a:off x="1593000" y="2322568"/>
                <a:ext cx="690000" cy="642300"/>
              </a:xfrm>
              <a:prstGeom prst="rect">
                <a:avLst/>
              </a:prstGeom>
              <a:solidFill>
                <a:srgbClr val="414141"/>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1"/>
              <p:cNvSpPr/>
              <p:nvPr/>
            </p:nvSpPr>
            <p:spPr>
              <a:xfrm>
                <a:off x="1593000" y="2322575"/>
                <a:ext cx="690000" cy="642600"/>
              </a:xfrm>
              <a:prstGeom prst="rect">
                <a:avLst/>
              </a:prstGeom>
              <a:solidFill>
                <a:srgbClr val="4646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sp>
            <p:nvSpPr>
              <p:cNvPr id="277" name="Google Shape;277;p31"/>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lvl="0" indent="-279400" algn="l" rtl="0">
                  <a:lnSpc>
                    <a:spcPct val="105000"/>
                  </a:lnSpc>
                  <a:spcBef>
                    <a:spcPts val="0"/>
                  </a:spcBef>
                  <a:spcAft>
                    <a:spcPts val="0"/>
                  </a:spcAft>
                  <a:buClr>
                    <a:srgbClr val="3D3D3D"/>
                  </a:buClr>
                  <a:buSzPts val="800"/>
                  <a:buFont typeface="Roboto"/>
                  <a:buChar char="●"/>
                </a:pPr>
                <a:endParaRPr sz="1460">
                  <a:solidFill>
                    <a:schemeClr val="dk1"/>
                  </a:solidFill>
                </a:endParaRPr>
              </a:p>
              <a:p>
                <a:pPr marL="457200" lvl="0" indent="-279400" algn="l" rtl="0">
                  <a:lnSpc>
                    <a:spcPct val="105000"/>
                  </a:lnSpc>
                  <a:spcBef>
                    <a:spcPts val="0"/>
                  </a:spcBef>
                  <a:spcAft>
                    <a:spcPts val="0"/>
                  </a:spcAft>
                  <a:buClr>
                    <a:srgbClr val="3D3D3D"/>
                  </a:buClr>
                  <a:buSzPts val="800"/>
                  <a:buFont typeface="Roboto"/>
                  <a:buChar char="●"/>
                </a:pPr>
                <a:r>
                  <a:rPr lang="en" sz="1460">
                    <a:solidFill>
                      <a:schemeClr val="dk1"/>
                    </a:solidFill>
                  </a:rPr>
                  <a:t>Moderate, as there are a growing number of CBD and cannabis product options for consumers.</a:t>
                </a:r>
                <a:endParaRPr sz="1460">
                  <a:solidFill>
                    <a:schemeClr val="dk1"/>
                  </a:solidFill>
                </a:endParaRPr>
              </a:p>
              <a:p>
                <a:pPr marL="457200" lvl="0" indent="0" algn="l" rtl="0">
                  <a:lnSpc>
                    <a:spcPct val="115000"/>
                  </a:lnSpc>
                  <a:spcBef>
                    <a:spcPts val="1200"/>
                  </a:spcBef>
                  <a:spcAft>
                    <a:spcPts val="0"/>
                  </a:spcAft>
                  <a:buNone/>
                </a:pPr>
                <a:endParaRPr sz="800">
                  <a:solidFill>
                    <a:srgbClr val="3D3D3D"/>
                  </a:solidFill>
                  <a:latin typeface="Roboto"/>
                  <a:ea typeface="Roboto"/>
                  <a:cs typeface="Roboto"/>
                  <a:sym typeface="Roboto"/>
                </a:endParaRPr>
              </a:p>
            </p:txBody>
          </p:sp>
        </p:grpSp>
        <p:grpSp>
          <p:nvGrpSpPr>
            <p:cNvPr id="278" name="Google Shape;278;p31"/>
            <p:cNvGrpSpPr/>
            <p:nvPr/>
          </p:nvGrpSpPr>
          <p:grpSpPr>
            <a:xfrm>
              <a:off x="1593000" y="1595135"/>
              <a:ext cx="5957975" cy="643500"/>
              <a:chOff x="1593000" y="2322568"/>
              <a:chExt cx="5957975" cy="643500"/>
            </a:xfrm>
          </p:grpSpPr>
          <p:sp>
            <p:nvSpPr>
              <p:cNvPr id="279" name="Google Shape;279;p31"/>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1"/>
              <p:cNvSpPr/>
              <p:nvPr/>
            </p:nvSpPr>
            <p:spPr>
              <a:xfrm flipH="1">
                <a:off x="2283025" y="2322575"/>
                <a:ext cx="1844400" cy="642600"/>
              </a:xfrm>
              <a:prstGeom prst="rect">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1"/>
              <p:cNvSpPr/>
              <p:nvPr/>
            </p:nvSpPr>
            <p:spPr>
              <a:xfrm rot="-5400000">
                <a:off x="3501574" y="1934671"/>
                <a:ext cx="643356" cy="1419149"/>
              </a:xfrm>
              <a:prstGeom prst="flowChartOffpageConnector">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1"/>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05000"/>
                  </a:lnSpc>
                  <a:spcBef>
                    <a:spcPts val="0"/>
                  </a:spcBef>
                  <a:spcAft>
                    <a:spcPts val="1200"/>
                  </a:spcAft>
                  <a:buClr>
                    <a:schemeClr val="dk1"/>
                  </a:buClr>
                  <a:buSzPts val="770"/>
                  <a:buFont typeface="Arial"/>
                  <a:buNone/>
                </a:pPr>
                <a:r>
                  <a:rPr lang="en" sz="1460" b="1">
                    <a:solidFill>
                      <a:schemeClr val="lt1"/>
                    </a:solidFill>
                  </a:rPr>
                  <a:t>Bargaining Power of Suppliers</a:t>
                </a:r>
                <a:endParaRPr sz="1000">
                  <a:solidFill>
                    <a:schemeClr val="lt1"/>
                  </a:solidFill>
                  <a:latin typeface="Roboto"/>
                  <a:ea typeface="Roboto"/>
                  <a:cs typeface="Roboto"/>
                  <a:sym typeface="Roboto"/>
                </a:endParaRPr>
              </a:p>
            </p:txBody>
          </p:sp>
          <p:sp>
            <p:nvSpPr>
              <p:cNvPr id="283" name="Google Shape;283;p31"/>
              <p:cNvSpPr/>
              <p:nvPr/>
            </p:nvSpPr>
            <p:spPr>
              <a:xfrm>
                <a:off x="1593000" y="2322568"/>
                <a:ext cx="690000" cy="642300"/>
              </a:xfrm>
              <a:prstGeom prst="rect">
                <a:avLst/>
              </a:prstGeom>
              <a:solidFill>
                <a:srgbClr val="414141"/>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1"/>
              <p:cNvSpPr/>
              <p:nvPr/>
            </p:nvSpPr>
            <p:spPr>
              <a:xfrm>
                <a:off x="1593000" y="2322575"/>
                <a:ext cx="690000" cy="642600"/>
              </a:xfrm>
              <a:prstGeom prst="rect">
                <a:avLst/>
              </a:prstGeom>
              <a:solidFill>
                <a:srgbClr val="4646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285" name="Google Shape;285;p31"/>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lvl="0" indent="0" algn="l" rtl="0">
                  <a:lnSpc>
                    <a:spcPct val="105000"/>
                  </a:lnSpc>
                  <a:spcBef>
                    <a:spcPts val="0"/>
                  </a:spcBef>
                  <a:spcAft>
                    <a:spcPts val="0"/>
                  </a:spcAft>
                  <a:buNone/>
                </a:pPr>
                <a:endParaRPr sz="1460">
                  <a:solidFill>
                    <a:schemeClr val="dk1"/>
                  </a:solidFill>
                </a:endParaRPr>
              </a:p>
              <a:p>
                <a:pPr marL="457200" lvl="0" indent="0" algn="l" rtl="0">
                  <a:lnSpc>
                    <a:spcPct val="105000"/>
                  </a:lnSpc>
                  <a:spcBef>
                    <a:spcPts val="1200"/>
                  </a:spcBef>
                  <a:spcAft>
                    <a:spcPts val="0"/>
                  </a:spcAft>
                  <a:buNone/>
                </a:pPr>
                <a:r>
                  <a:rPr lang="en" sz="1460">
                    <a:solidFill>
                      <a:schemeClr val="dk1"/>
                    </a:solidFill>
                  </a:rPr>
                  <a:t>Moderate, as the number of potential cannabis suppliers is growing.</a:t>
                </a:r>
                <a:endParaRPr sz="1460">
                  <a:solidFill>
                    <a:schemeClr val="dk1"/>
                  </a:solidFill>
                </a:endParaRPr>
              </a:p>
              <a:p>
                <a:pPr marL="457200" lvl="0" indent="0" algn="l" rtl="0">
                  <a:lnSpc>
                    <a:spcPct val="115000"/>
                  </a:lnSpc>
                  <a:spcBef>
                    <a:spcPts val="1200"/>
                  </a:spcBef>
                  <a:spcAft>
                    <a:spcPts val="0"/>
                  </a:spcAft>
                  <a:buNone/>
                </a:pPr>
                <a:endParaRPr sz="800">
                  <a:solidFill>
                    <a:srgbClr val="3D3D3D"/>
                  </a:solidFill>
                  <a:latin typeface="Roboto"/>
                  <a:ea typeface="Roboto"/>
                  <a:cs typeface="Roboto"/>
                  <a:sym typeface="Roboto"/>
                </a:endParaRPr>
              </a:p>
            </p:txBody>
          </p:sp>
        </p:grpSp>
        <p:grpSp>
          <p:nvGrpSpPr>
            <p:cNvPr id="286" name="Google Shape;286;p31"/>
            <p:cNvGrpSpPr/>
            <p:nvPr/>
          </p:nvGrpSpPr>
          <p:grpSpPr>
            <a:xfrm>
              <a:off x="1593000" y="940260"/>
              <a:ext cx="5957975" cy="643500"/>
              <a:chOff x="1593000" y="2322568"/>
              <a:chExt cx="5957975" cy="643500"/>
            </a:xfrm>
          </p:grpSpPr>
          <p:sp>
            <p:nvSpPr>
              <p:cNvPr id="287" name="Google Shape;287;p31"/>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1"/>
              <p:cNvSpPr/>
              <p:nvPr/>
            </p:nvSpPr>
            <p:spPr>
              <a:xfrm flipH="1">
                <a:off x="2283025" y="2322575"/>
                <a:ext cx="1844400" cy="642600"/>
              </a:xfrm>
              <a:prstGeom prst="rect">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1"/>
              <p:cNvSpPr/>
              <p:nvPr/>
            </p:nvSpPr>
            <p:spPr>
              <a:xfrm rot="-5400000">
                <a:off x="3501574" y="1934671"/>
                <a:ext cx="643356" cy="1419149"/>
              </a:xfrm>
              <a:prstGeom prst="flowChartOffpageConnector">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1"/>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05000"/>
                  </a:lnSpc>
                  <a:spcBef>
                    <a:spcPts val="0"/>
                  </a:spcBef>
                  <a:spcAft>
                    <a:spcPts val="1200"/>
                  </a:spcAft>
                  <a:buClr>
                    <a:schemeClr val="dk1"/>
                  </a:buClr>
                  <a:buSzPts val="770"/>
                  <a:buFont typeface="Arial"/>
                  <a:buNone/>
                </a:pPr>
                <a:r>
                  <a:rPr lang="en" sz="1460" b="1">
                    <a:solidFill>
                      <a:schemeClr val="lt1"/>
                    </a:solidFill>
                  </a:rPr>
                  <a:t>Threat of New Entrants</a:t>
                </a:r>
                <a:endParaRPr sz="1000">
                  <a:solidFill>
                    <a:schemeClr val="lt1"/>
                  </a:solidFill>
                  <a:latin typeface="Roboto"/>
                  <a:ea typeface="Roboto"/>
                  <a:cs typeface="Roboto"/>
                  <a:sym typeface="Roboto"/>
                </a:endParaRPr>
              </a:p>
            </p:txBody>
          </p:sp>
          <p:sp>
            <p:nvSpPr>
              <p:cNvPr id="291" name="Google Shape;291;p31"/>
              <p:cNvSpPr/>
              <p:nvPr/>
            </p:nvSpPr>
            <p:spPr>
              <a:xfrm>
                <a:off x="1593000" y="2322568"/>
                <a:ext cx="690000" cy="642300"/>
              </a:xfrm>
              <a:prstGeom prst="rect">
                <a:avLst/>
              </a:prstGeom>
              <a:solidFill>
                <a:srgbClr val="414141"/>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1"/>
              <p:cNvSpPr/>
              <p:nvPr/>
            </p:nvSpPr>
            <p:spPr>
              <a:xfrm>
                <a:off x="1593000" y="2322575"/>
                <a:ext cx="690000" cy="642600"/>
              </a:xfrm>
              <a:prstGeom prst="rect">
                <a:avLst/>
              </a:prstGeom>
              <a:solidFill>
                <a:srgbClr val="4646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293" name="Google Shape;293;p31"/>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457200" lvl="0" indent="0" algn="l" rtl="0">
                  <a:lnSpc>
                    <a:spcPct val="105000"/>
                  </a:lnSpc>
                  <a:spcBef>
                    <a:spcPts val="0"/>
                  </a:spcBef>
                  <a:spcAft>
                    <a:spcPts val="0"/>
                  </a:spcAft>
                  <a:buNone/>
                </a:pPr>
                <a:endParaRPr sz="1460">
                  <a:solidFill>
                    <a:schemeClr val="dk1"/>
                  </a:solidFill>
                </a:endParaRPr>
              </a:p>
              <a:p>
                <a:pPr marL="457200" lvl="0" indent="0" algn="l" rtl="0">
                  <a:lnSpc>
                    <a:spcPct val="105000"/>
                  </a:lnSpc>
                  <a:spcBef>
                    <a:spcPts val="1200"/>
                  </a:spcBef>
                  <a:spcAft>
                    <a:spcPts val="0"/>
                  </a:spcAft>
                  <a:buNone/>
                </a:pPr>
                <a:r>
                  <a:rPr lang="en" sz="1460">
                    <a:solidFill>
                      <a:schemeClr val="dk1"/>
                    </a:solidFill>
                  </a:rPr>
                  <a:t>Relatively high due to the potential for federal legalization and increasing market acceptance.</a:t>
                </a:r>
                <a:endParaRPr sz="1460">
                  <a:solidFill>
                    <a:schemeClr val="dk1"/>
                  </a:solidFill>
                </a:endParaRPr>
              </a:p>
              <a:p>
                <a:pPr marL="457200" lvl="0" indent="0" algn="l" rtl="0">
                  <a:lnSpc>
                    <a:spcPct val="115000"/>
                  </a:lnSpc>
                  <a:spcBef>
                    <a:spcPts val="1200"/>
                  </a:spcBef>
                  <a:spcAft>
                    <a:spcPts val="0"/>
                  </a:spcAft>
                  <a:buNone/>
                </a:pPr>
                <a:endParaRPr sz="800">
                  <a:solidFill>
                    <a:srgbClr val="3D3D3D"/>
                  </a:solidFill>
                  <a:latin typeface="Roboto"/>
                  <a:ea typeface="Roboto"/>
                  <a:cs typeface="Roboto"/>
                  <a:sym typeface="Roboto"/>
                </a:endParaRPr>
              </a:p>
            </p:txBody>
          </p:sp>
        </p:grpSp>
      </p:grpSp>
      <p:sp>
        <p:nvSpPr>
          <p:cNvPr id="2" name="Slide Number Placeholder 1">
            <a:extLst>
              <a:ext uri="{FF2B5EF4-FFF2-40B4-BE49-F238E27FC236}">
                <a16:creationId xmlns:a16="http://schemas.microsoft.com/office/drawing/2014/main" id="{91534F55-0971-6E76-2EF0-FB30AC177A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2"/>
          <p:cNvSpPr txBox="1">
            <a:spLocks noGrp="1"/>
          </p:cNvSpPr>
          <p:nvPr>
            <p:ph type="title"/>
          </p:nvPr>
        </p:nvSpPr>
        <p:spPr>
          <a:xfrm>
            <a:off x="104975" y="1288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120" b="1"/>
              <a:t>Beyond the Stigma: Insights for Martha Stewart's CBD Strategy</a:t>
            </a:r>
            <a:endParaRPr sz="2120" b="1"/>
          </a:p>
        </p:txBody>
      </p:sp>
      <p:sp>
        <p:nvSpPr>
          <p:cNvPr id="299" name="Google Shape;299;p32"/>
          <p:cNvSpPr txBox="1">
            <a:spLocks noGrp="1"/>
          </p:cNvSpPr>
          <p:nvPr>
            <p:ph type="body" idx="1"/>
          </p:nvPr>
        </p:nvSpPr>
        <p:spPr>
          <a:xfrm>
            <a:off x="1167325" y="701575"/>
            <a:ext cx="73245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605"/>
              <a:buNone/>
            </a:pPr>
            <a:r>
              <a:rPr lang="en" sz="1390" b="1">
                <a:solidFill>
                  <a:schemeClr val="dk1"/>
                </a:solidFill>
              </a:rPr>
              <a:t>Insights:</a:t>
            </a:r>
            <a:endParaRPr sz="1390" b="1">
              <a:solidFill>
                <a:schemeClr val="dk1"/>
              </a:solidFill>
            </a:endParaRPr>
          </a:p>
          <a:p>
            <a:pPr marL="0" lvl="0" indent="0" algn="l" rtl="0">
              <a:lnSpc>
                <a:spcPct val="95000"/>
              </a:lnSpc>
              <a:spcBef>
                <a:spcPts val="1200"/>
              </a:spcBef>
              <a:spcAft>
                <a:spcPts val="0"/>
              </a:spcAft>
              <a:buClr>
                <a:schemeClr val="dk1"/>
              </a:buClr>
              <a:buSzPts val="605"/>
              <a:buFont typeface="Arial"/>
              <a:buNone/>
            </a:pPr>
            <a:r>
              <a:rPr lang="en" sz="1390">
                <a:solidFill>
                  <a:schemeClr val="dk1"/>
                </a:solidFill>
              </a:rPr>
              <a:t>The Martha Stewart CBD brand has a strong foundation due to Martha Stewart's established reputation and loyal fanbase.</a:t>
            </a:r>
            <a:endParaRPr sz="1390">
              <a:solidFill>
                <a:schemeClr val="dk1"/>
              </a:solidFill>
            </a:endParaRPr>
          </a:p>
          <a:p>
            <a:pPr marL="0" lvl="0" indent="0" algn="l" rtl="0">
              <a:lnSpc>
                <a:spcPct val="95000"/>
              </a:lnSpc>
              <a:spcBef>
                <a:spcPts val="1200"/>
              </a:spcBef>
              <a:spcAft>
                <a:spcPts val="0"/>
              </a:spcAft>
              <a:buClr>
                <a:schemeClr val="dk1"/>
              </a:buClr>
              <a:buSzPts val="605"/>
              <a:buFont typeface="Arial"/>
              <a:buNone/>
            </a:pPr>
            <a:r>
              <a:rPr lang="en" sz="1390">
                <a:solidFill>
                  <a:schemeClr val="dk1"/>
                </a:solidFill>
              </a:rPr>
              <a:t>The legal and regulatory environment presents significant challenges that require creative solutions for marketing and distribution.</a:t>
            </a:r>
            <a:endParaRPr sz="1390">
              <a:solidFill>
                <a:schemeClr val="dk1"/>
              </a:solidFill>
            </a:endParaRPr>
          </a:p>
          <a:p>
            <a:pPr marL="0" lvl="0" indent="0" algn="l" rtl="0">
              <a:lnSpc>
                <a:spcPct val="95000"/>
              </a:lnSpc>
              <a:spcBef>
                <a:spcPts val="1200"/>
              </a:spcBef>
              <a:spcAft>
                <a:spcPts val="0"/>
              </a:spcAft>
              <a:buClr>
                <a:schemeClr val="dk1"/>
              </a:buClr>
              <a:buSzPts val="605"/>
              <a:buFont typeface="Arial"/>
              <a:buNone/>
            </a:pPr>
            <a:r>
              <a:rPr lang="en" sz="1390">
                <a:solidFill>
                  <a:schemeClr val="dk1"/>
                </a:solidFill>
              </a:rPr>
              <a:t>Educating consumers about the benefits of CBD and overcoming social stigma are critical for market growth.</a:t>
            </a:r>
            <a:endParaRPr sz="1390">
              <a:solidFill>
                <a:schemeClr val="dk1"/>
              </a:solidFill>
            </a:endParaRPr>
          </a:p>
          <a:p>
            <a:pPr marL="0" lvl="0" indent="0" algn="l" rtl="0">
              <a:lnSpc>
                <a:spcPct val="95000"/>
              </a:lnSpc>
              <a:spcBef>
                <a:spcPts val="1200"/>
              </a:spcBef>
              <a:spcAft>
                <a:spcPts val="0"/>
              </a:spcAft>
              <a:buClr>
                <a:schemeClr val="dk1"/>
              </a:buClr>
              <a:buSzPts val="605"/>
              <a:buFont typeface="Arial"/>
              <a:buNone/>
            </a:pPr>
            <a:r>
              <a:rPr lang="en" sz="1390">
                <a:solidFill>
                  <a:schemeClr val="dk1"/>
                </a:solidFill>
              </a:rPr>
              <a:t>Partnering with established retailers like The Vitamin Shoppe provides valuable access to distribution channels.</a:t>
            </a:r>
            <a:endParaRPr sz="1390">
              <a:solidFill>
                <a:schemeClr val="dk1"/>
              </a:solidFill>
            </a:endParaRPr>
          </a:p>
          <a:p>
            <a:pPr marL="0" lvl="0" indent="0" algn="l" rtl="0">
              <a:lnSpc>
                <a:spcPct val="95000"/>
              </a:lnSpc>
              <a:spcBef>
                <a:spcPts val="1200"/>
              </a:spcBef>
              <a:spcAft>
                <a:spcPts val="1200"/>
              </a:spcAft>
              <a:buClr>
                <a:schemeClr val="dk1"/>
              </a:buClr>
              <a:buSzPts val="605"/>
              <a:buFont typeface="Arial"/>
              <a:buNone/>
            </a:pPr>
            <a:r>
              <a:rPr lang="en" sz="1390">
                <a:solidFill>
                  <a:schemeClr val="dk1"/>
                </a:solidFill>
              </a:rPr>
              <a:t>The industry is becoming increasingly competitive, demanding a focus on brand differentiation, product innovation, and targeted marketing strategies.</a:t>
            </a:r>
            <a:endParaRPr sz="989">
              <a:solidFill>
                <a:schemeClr val="dk1"/>
              </a:solidFill>
            </a:endParaRPr>
          </a:p>
        </p:txBody>
      </p:sp>
      <p:sp>
        <p:nvSpPr>
          <p:cNvPr id="300" name="Google Shape;300;p32"/>
          <p:cNvSpPr/>
          <p:nvPr/>
        </p:nvSpPr>
        <p:spPr>
          <a:xfrm>
            <a:off x="510700" y="1040050"/>
            <a:ext cx="498600" cy="5727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1" name="Google Shape;301;p32"/>
          <p:cNvSpPr/>
          <p:nvPr/>
        </p:nvSpPr>
        <p:spPr>
          <a:xfrm>
            <a:off x="510700" y="1573450"/>
            <a:ext cx="498600" cy="5727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2" name="Google Shape;302;p32"/>
          <p:cNvSpPr/>
          <p:nvPr/>
        </p:nvSpPr>
        <p:spPr>
          <a:xfrm>
            <a:off x="510700" y="2106850"/>
            <a:ext cx="498600" cy="5727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03;p32"/>
          <p:cNvSpPr/>
          <p:nvPr/>
        </p:nvSpPr>
        <p:spPr>
          <a:xfrm>
            <a:off x="457200" y="2679550"/>
            <a:ext cx="498600" cy="5727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4" name="Google Shape;304;p32"/>
          <p:cNvSpPr/>
          <p:nvPr/>
        </p:nvSpPr>
        <p:spPr>
          <a:xfrm>
            <a:off x="457200" y="3252250"/>
            <a:ext cx="498600" cy="5727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Slide Number Placeholder 1">
            <a:extLst>
              <a:ext uri="{FF2B5EF4-FFF2-40B4-BE49-F238E27FC236}">
                <a16:creationId xmlns:a16="http://schemas.microsoft.com/office/drawing/2014/main" id="{FCD572E3-191B-399F-46E2-1012214EE4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3"/>
          <p:cNvSpPr txBox="1">
            <a:spLocks noGrp="1"/>
          </p:cNvSpPr>
          <p:nvPr>
            <p:ph type="title"/>
          </p:nvPr>
        </p:nvSpPr>
        <p:spPr>
          <a:xfrm>
            <a:off x="153625"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220" dirty="0"/>
              <a:t>The question is </a:t>
            </a:r>
            <a:r>
              <a:rPr lang="en" sz="2175" dirty="0"/>
              <a:t>does Martha Stewart bring benefits or challenges to the joint venture and the overall cannabis industry? Let's figure out </a:t>
            </a:r>
            <a:endParaRPr sz="2175" dirty="0"/>
          </a:p>
        </p:txBody>
      </p:sp>
      <p:grpSp>
        <p:nvGrpSpPr>
          <p:cNvPr id="310" name="Google Shape;310;p33"/>
          <p:cNvGrpSpPr/>
          <p:nvPr/>
        </p:nvGrpSpPr>
        <p:grpSpPr>
          <a:xfrm>
            <a:off x="153625" y="1044588"/>
            <a:ext cx="4000500" cy="4098913"/>
            <a:chOff x="133750" y="826838"/>
            <a:chExt cx="4000500" cy="4098913"/>
          </a:xfrm>
        </p:grpSpPr>
        <p:sp>
          <p:nvSpPr>
            <p:cNvPr id="311" name="Google Shape;311;p33"/>
            <p:cNvSpPr txBox="1"/>
            <p:nvPr/>
          </p:nvSpPr>
          <p:spPr>
            <a:xfrm>
              <a:off x="603525" y="826838"/>
              <a:ext cx="33195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1"/>
                  </a:solidFill>
                </a:rPr>
                <a:t>BENEFITS</a:t>
              </a:r>
              <a:endParaRPr sz="1800">
                <a:solidFill>
                  <a:schemeClr val="dk1"/>
                </a:solidFill>
              </a:endParaRPr>
            </a:p>
          </p:txBody>
        </p:sp>
        <p:sp>
          <p:nvSpPr>
            <p:cNvPr id="312" name="Google Shape;312;p33"/>
            <p:cNvSpPr txBox="1"/>
            <p:nvPr/>
          </p:nvSpPr>
          <p:spPr>
            <a:xfrm>
              <a:off x="133750" y="1399550"/>
              <a:ext cx="4000500" cy="3526200"/>
            </a:xfrm>
            <a:prstGeom prst="rect">
              <a:avLst/>
            </a:prstGeom>
            <a:noFill/>
            <a:ln>
              <a:noFill/>
            </a:ln>
          </p:spPr>
          <p:txBody>
            <a:bodyPr spcFirstLastPara="1" wrap="square" lIns="91425" tIns="91425" rIns="91425" bIns="91425" anchor="t" anchorCtr="0">
              <a:noAutofit/>
            </a:bodyPr>
            <a:lstStyle/>
            <a:p>
              <a:pPr marL="457200" lvl="0" indent="-228600" algn="just" rtl="0">
                <a:lnSpc>
                  <a:spcPct val="150000"/>
                </a:lnSpc>
                <a:spcBef>
                  <a:spcPts val="0"/>
                </a:spcBef>
                <a:spcAft>
                  <a:spcPts val="0"/>
                </a:spcAft>
                <a:buClr>
                  <a:schemeClr val="dk1"/>
                </a:buClr>
                <a:buSzPts val="1100"/>
                <a:buFont typeface="Arial"/>
                <a:buNone/>
              </a:pPr>
              <a:r>
                <a:rPr lang="en" sz="1100">
                  <a:solidFill>
                    <a:schemeClr val="dk1"/>
                  </a:solidFill>
                </a:rPr>
                <a:t>1.</a:t>
              </a:r>
              <a:r>
                <a:rPr lang="en" sz="700">
                  <a:solidFill>
                    <a:schemeClr val="dk1"/>
                  </a:solidFill>
                  <a:latin typeface="Times New Roman"/>
                  <a:ea typeface="Times New Roman"/>
                  <a:cs typeface="Times New Roman"/>
                  <a:sym typeface="Times New Roman"/>
                </a:rPr>
                <a:t> 	</a:t>
              </a:r>
              <a:r>
                <a:rPr lang="en" sz="1100" b="1">
                  <a:solidFill>
                    <a:schemeClr val="dk1"/>
                  </a:solidFill>
                </a:rPr>
                <a:t>Established Brand Reputation:</a:t>
              </a:r>
              <a:r>
                <a:rPr lang="en" sz="1100">
                  <a:solidFill>
                    <a:schemeClr val="dk1"/>
                  </a:solidFill>
                </a:rPr>
                <a:t> Martha Stewart brings a strong and trusted brand image to the joint venture, which can enhance credibility and consumer trust in cannabis products associated with her name.</a:t>
              </a:r>
              <a:endParaRPr sz="11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100">
                  <a:solidFill>
                    <a:schemeClr val="dk1"/>
                  </a:solidFill>
                </a:rPr>
                <a:t>2.</a:t>
              </a:r>
              <a:r>
                <a:rPr lang="en" sz="700">
                  <a:solidFill>
                    <a:schemeClr val="dk1"/>
                  </a:solidFill>
                  <a:latin typeface="Times New Roman"/>
                  <a:ea typeface="Times New Roman"/>
                  <a:cs typeface="Times New Roman"/>
                  <a:sym typeface="Times New Roman"/>
                </a:rPr>
                <a:t> 	</a:t>
              </a:r>
              <a:r>
                <a:rPr lang="en" sz="1100" b="1">
                  <a:solidFill>
                    <a:schemeClr val="dk1"/>
                  </a:solidFill>
                </a:rPr>
                <a:t>Lifestyle Brand Appeal:</a:t>
              </a:r>
              <a:r>
                <a:rPr lang="en" sz="1100">
                  <a:solidFill>
                    <a:schemeClr val="dk1"/>
                  </a:solidFill>
                </a:rPr>
                <a:t> Martha Stewart's brand is synonymous with quality, sophistication, and lifestyle, potentially attracting a more upscale segment of cannabis consumers.</a:t>
              </a:r>
              <a:endParaRPr sz="11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100">
                  <a:solidFill>
                    <a:schemeClr val="dk1"/>
                  </a:solidFill>
                </a:rPr>
                <a:t>3.</a:t>
              </a:r>
              <a:r>
                <a:rPr lang="en" sz="700">
                  <a:solidFill>
                    <a:schemeClr val="dk1"/>
                  </a:solidFill>
                  <a:latin typeface="Times New Roman"/>
                  <a:ea typeface="Times New Roman"/>
                  <a:cs typeface="Times New Roman"/>
                  <a:sym typeface="Times New Roman"/>
                </a:rPr>
                <a:t> 	</a:t>
              </a:r>
              <a:r>
                <a:rPr lang="en" sz="1100" b="1">
                  <a:solidFill>
                    <a:schemeClr val="dk1"/>
                  </a:solidFill>
                </a:rPr>
                <a:t>Marketing Expertise:</a:t>
              </a:r>
              <a:r>
                <a:rPr lang="en" sz="1100">
                  <a:solidFill>
                    <a:schemeClr val="dk1"/>
                  </a:solidFill>
                </a:rPr>
                <a:t> Martha Stewart Living Omnimedia has extensive experience in marketing lifestyle products and creating engaging content, which can be leveraged to promote cannabis products effectively.</a:t>
              </a:r>
              <a:endParaRPr sz="1100">
                <a:solidFill>
                  <a:schemeClr val="dk1"/>
                </a:solidFill>
              </a:endParaRPr>
            </a:p>
            <a:p>
              <a:pPr marL="0" lvl="0" indent="0" algn="l" rtl="0">
                <a:spcBef>
                  <a:spcPts val="800"/>
                </a:spcBef>
                <a:spcAft>
                  <a:spcPts val="0"/>
                </a:spcAft>
                <a:buNone/>
              </a:pPr>
              <a:endParaRPr sz="1800">
                <a:solidFill>
                  <a:schemeClr val="dk2"/>
                </a:solidFill>
              </a:endParaRPr>
            </a:p>
          </p:txBody>
        </p:sp>
      </p:grpSp>
      <p:grpSp>
        <p:nvGrpSpPr>
          <p:cNvPr id="313" name="Google Shape;313;p33"/>
          <p:cNvGrpSpPr/>
          <p:nvPr/>
        </p:nvGrpSpPr>
        <p:grpSpPr>
          <a:xfrm>
            <a:off x="4438125" y="1035456"/>
            <a:ext cx="4085700" cy="4098900"/>
            <a:chOff x="4425975" y="826850"/>
            <a:chExt cx="4085700" cy="4098900"/>
          </a:xfrm>
        </p:grpSpPr>
        <p:sp>
          <p:nvSpPr>
            <p:cNvPr id="314" name="Google Shape;314;p33"/>
            <p:cNvSpPr txBox="1"/>
            <p:nvPr/>
          </p:nvSpPr>
          <p:spPr>
            <a:xfrm>
              <a:off x="5192175" y="826850"/>
              <a:ext cx="33195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1"/>
                  </a:solidFill>
                </a:rPr>
                <a:t>CHALLENGES</a:t>
              </a:r>
              <a:endParaRPr sz="1800">
                <a:solidFill>
                  <a:schemeClr val="dk1"/>
                </a:solidFill>
              </a:endParaRPr>
            </a:p>
          </p:txBody>
        </p:sp>
        <p:sp>
          <p:nvSpPr>
            <p:cNvPr id="315" name="Google Shape;315;p33"/>
            <p:cNvSpPr txBox="1"/>
            <p:nvPr/>
          </p:nvSpPr>
          <p:spPr>
            <a:xfrm>
              <a:off x="4425975" y="1399550"/>
              <a:ext cx="4085700" cy="3526200"/>
            </a:xfrm>
            <a:prstGeom prst="rect">
              <a:avLst/>
            </a:prstGeom>
            <a:noFill/>
            <a:ln>
              <a:noFill/>
            </a:ln>
          </p:spPr>
          <p:txBody>
            <a:bodyPr spcFirstLastPara="1" wrap="square" lIns="91425" tIns="91425" rIns="91425" bIns="91425" anchor="t" anchorCtr="0">
              <a:noAutofit/>
            </a:bodyPr>
            <a:lstStyle/>
            <a:p>
              <a:pPr marL="457200" lvl="0" indent="-228600" algn="just" rtl="0">
                <a:lnSpc>
                  <a:spcPct val="150000"/>
                </a:lnSpc>
                <a:spcBef>
                  <a:spcPts val="0"/>
                </a:spcBef>
                <a:spcAft>
                  <a:spcPts val="0"/>
                </a:spcAft>
                <a:buClr>
                  <a:schemeClr val="dk1"/>
                </a:buClr>
                <a:buSzPts val="1100"/>
                <a:buFont typeface="Arial"/>
                <a:buNone/>
              </a:pPr>
              <a:r>
                <a:rPr lang="en" sz="1100">
                  <a:solidFill>
                    <a:schemeClr val="dk1"/>
                  </a:solidFill>
                </a:rPr>
                <a:t>1.</a:t>
              </a:r>
              <a:r>
                <a:rPr lang="en" sz="700">
                  <a:solidFill>
                    <a:schemeClr val="dk1"/>
                  </a:solidFill>
                  <a:latin typeface="Times New Roman"/>
                  <a:ea typeface="Times New Roman"/>
                  <a:cs typeface="Times New Roman"/>
                  <a:sym typeface="Times New Roman"/>
                </a:rPr>
                <a:t> 	</a:t>
              </a:r>
              <a:r>
                <a:rPr lang="en" sz="1100" b="1">
                  <a:solidFill>
                    <a:schemeClr val="dk1"/>
                  </a:solidFill>
                </a:rPr>
                <a:t>Brand Dilution Risk:</a:t>
              </a:r>
              <a:r>
                <a:rPr lang="en" sz="1100">
                  <a:solidFill>
                    <a:schemeClr val="dk1"/>
                  </a:solidFill>
                </a:rPr>
                <a:t> Associating Martha Stewart's brand with cannabis may risk diluting its wholesome and family-friendly image, potentially alienating conservative consumers.</a:t>
              </a:r>
              <a:endParaRPr sz="11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100">
                  <a:solidFill>
                    <a:schemeClr val="dk1"/>
                  </a:solidFill>
                </a:rPr>
                <a:t>2.</a:t>
              </a:r>
              <a:r>
                <a:rPr lang="en" sz="700">
                  <a:solidFill>
                    <a:schemeClr val="dk1"/>
                  </a:solidFill>
                  <a:latin typeface="Times New Roman"/>
                  <a:ea typeface="Times New Roman"/>
                  <a:cs typeface="Times New Roman"/>
                  <a:sym typeface="Times New Roman"/>
                </a:rPr>
                <a:t> 	</a:t>
              </a:r>
              <a:r>
                <a:rPr lang="en" sz="1100" b="1">
                  <a:solidFill>
                    <a:schemeClr val="dk1"/>
                  </a:solidFill>
                </a:rPr>
                <a:t>Regulatory Constraints:</a:t>
              </a:r>
              <a:r>
                <a:rPr lang="en" sz="1100">
                  <a:solidFill>
                    <a:schemeClr val="dk1"/>
                  </a:solidFill>
                </a:rPr>
                <a:t> Martha Stewart's involvement in the cannabis industry may face regulatory scrutiny and public backlash, particularly considering her mainstream appeal and influence.</a:t>
              </a:r>
              <a:endParaRPr sz="1100">
                <a:solidFill>
                  <a:schemeClr val="dk1"/>
                </a:solidFill>
              </a:endParaRPr>
            </a:p>
            <a:p>
              <a:pPr marL="0" lvl="0" indent="0" algn="l" rtl="0">
                <a:spcBef>
                  <a:spcPts val="800"/>
                </a:spcBef>
                <a:spcAft>
                  <a:spcPts val="0"/>
                </a:spcAft>
                <a:buNone/>
              </a:pPr>
              <a:endParaRPr sz="1100">
                <a:solidFill>
                  <a:schemeClr val="dk1"/>
                </a:solidFill>
              </a:endParaRPr>
            </a:p>
          </p:txBody>
        </p:sp>
      </p:grpSp>
      <p:sp>
        <p:nvSpPr>
          <p:cNvPr id="316" name="Google Shape;316;p33"/>
          <p:cNvSpPr/>
          <p:nvPr/>
        </p:nvSpPr>
        <p:spPr>
          <a:xfrm>
            <a:off x="3441150" y="899800"/>
            <a:ext cx="826800" cy="7053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7" name="Google Shape;317;p33"/>
          <p:cNvSpPr/>
          <p:nvPr/>
        </p:nvSpPr>
        <p:spPr>
          <a:xfrm>
            <a:off x="4462575" y="936275"/>
            <a:ext cx="826800" cy="705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Slide Number Placeholder 1">
            <a:extLst>
              <a:ext uri="{FF2B5EF4-FFF2-40B4-BE49-F238E27FC236}">
                <a16:creationId xmlns:a16="http://schemas.microsoft.com/office/drawing/2014/main" id="{7B29C2FD-E8EB-64F8-8613-174F3694CF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4"/>
          <p:cNvSpPr txBox="1">
            <a:spLocks noGrp="1"/>
          </p:cNvSpPr>
          <p:nvPr>
            <p:ph type="title"/>
          </p:nvPr>
        </p:nvSpPr>
        <p:spPr>
          <a:xfrm>
            <a:off x="311700" y="2504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t>Whether Martha Stewart should be involved in the cannabis industry ?</a:t>
            </a:r>
            <a:endParaRPr sz="2200"/>
          </a:p>
        </p:txBody>
      </p:sp>
      <p:grpSp>
        <p:nvGrpSpPr>
          <p:cNvPr id="323" name="Google Shape;323;p34"/>
          <p:cNvGrpSpPr/>
          <p:nvPr/>
        </p:nvGrpSpPr>
        <p:grpSpPr>
          <a:xfrm>
            <a:off x="311679" y="1365580"/>
            <a:ext cx="8520500" cy="3388772"/>
            <a:chOff x="1593013" y="940009"/>
            <a:chExt cx="5957975" cy="1953745"/>
          </a:xfrm>
        </p:grpSpPr>
        <p:grpSp>
          <p:nvGrpSpPr>
            <p:cNvPr id="324" name="Google Shape;324;p34"/>
            <p:cNvGrpSpPr/>
            <p:nvPr/>
          </p:nvGrpSpPr>
          <p:grpSpPr>
            <a:xfrm>
              <a:off x="1593013" y="2250254"/>
              <a:ext cx="5957975" cy="643500"/>
              <a:chOff x="1593000" y="2322568"/>
              <a:chExt cx="5957975" cy="643500"/>
            </a:xfrm>
          </p:grpSpPr>
          <p:sp>
            <p:nvSpPr>
              <p:cNvPr id="325" name="Google Shape;325;p34"/>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4"/>
              <p:cNvSpPr/>
              <p:nvPr/>
            </p:nvSpPr>
            <p:spPr>
              <a:xfrm flipH="1">
                <a:off x="2283025" y="2322575"/>
                <a:ext cx="1844400" cy="642600"/>
              </a:xfrm>
              <a:prstGeom prst="rect">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4"/>
              <p:cNvSpPr/>
              <p:nvPr/>
            </p:nvSpPr>
            <p:spPr>
              <a:xfrm rot="-5400000">
                <a:off x="3501574" y="1934671"/>
                <a:ext cx="643356" cy="1419149"/>
              </a:xfrm>
              <a:prstGeom prst="flowChartOffpageConnector">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4"/>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800"/>
                  </a:spcAft>
                  <a:buClr>
                    <a:schemeClr val="dk1"/>
                  </a:buClr>
                  <a:buSzPts val="1100"/>
                  <a:buFont typeface="Arial"/>
                  <a:buNone/>
                </a:pPr>
                <a:r>
                  <a:rPr lang="en" sz="1500" b="1">
                    <a:solidFill>
                      <a:schemeClr val="lt1"/>
                    </a:solidFill>
                  </a:rPr>
                  <a:t>Risk Mitigation Strategies:</a:t>
                </a:r>
                <a:endParaRPr sz="1500">
                  <a:solidFill>
                    <a:schemeClr val="lt1"/>
                  </a:solidFill>
                  <a:latin typeface="Roboto"/>
                  <a:ea typeface="Roboto"/>
                  <a:cs typeface="Roboto"/>
                  <a:sym typeface="Roboto"/>
                </a:endParaRPr>
              </a:p>
            </p:txBody>
          </p:sp>
          <p:sp>
            <p:nvSpPr>
              <p:cNvPr id="329" name="Google Shape;329;p34"/>
              <p:cNvSpPr/>
              <p:nvPr/>
            </p:nvSpPr>
            <p:spPr>
              <a:xfrm>
                <a:off x="1593000" y="2322568"/>
                <a:ext cx="690000" cy="642300"/>
              </a:xfrm>
              <a:prstGeom prst="rect">
                <a:avLst/>
              </a:prstGeom>
              <a:solidFill>
                <a:srgbClr val="414141"/>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4"/>
              <p:cNvSpPr/>
              <p:nvPr/>
            </p:nvSpPr>
            <p:spPr>
              <a:xfrm>
                <a:off x="1593000" y="2322575"/>
                <a:ext cx="690000" cy="642600"/>
              </a:xfrm>
              <a:prstGeom prst="rect">
                <a:avLst/>
              </a:prstGeom>
              <a:solidFill>
                <a:srgbClr val="4646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sp>
            <p:nvSpPr>
              <p:cNvPr id="331" name="Google Shape;331;p34"/>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228600" lvl="0" indent="0" algn="just" rtl="0">
                  <a:lnSpc>
                    <a:spcPct val="150000"/>
                  </a:lnSpc>
                  <a:spcBef>
                    <a:spcPts val="0"/>
                  </a:spcBef>
                  <a:spcAft>
                    <a:spcPts val="0"/>
                  </a:spcAft>
                  <a:buNone/>
                </a:pPr>
                <a:endParaRPr sz="1100">
                  <a:solidFill>
                    <a:schemeClr val="dk1"/>
                  </a:solidFill>
                </a:endParaRPr>
              </a:p>
              <a:p>
                <a:pPr marL="228600" lvl="0" indent="0" algn="just" rtl="0">
                  <a:lnSpc>
                    <a:spcPct val="150000"/>
                  </a:lnSpc>
                  <a:spcBef>
                    <a:spcPts val="800"/>
                  </a:spcBef>
                  <a:spcAft>
                    <a:spcPts val="0"/>
                  </a:spcAft>
                  <a:buClr>
                    <a:schemeClr val="dk1"/>
                  </a:buClr>
                  <a:buSzPts val="1100"/>
                  <a:buFont typeface="Arial"/>
                  <a:buNone/>
                </a:pPr>
                <a:r>
                  <a:rPr lang="en" sz="1100">
                    <a:solidFill>
                      <a:schemeClr val="dk1"/>
                    </a:solidFill>
                  </a:rPr>
                  <a:t>The joint venture should implement robust risk mitigation strategies to address potential brand reputation risks and regulatory challenges.</a:t>
                </a:r>
                <a:endParaRPr sz="1100">
                  <a:solidFill>
                    <a:schemeClr val="dk1"/>
                  </a:solidFill>
                </a:endParaRPr>
              </a:p>
              <a:p>
                <a:pPr marL="0" lvl="0" indent="0" algn="l" rtl="0">
                  <a:lnSpc>
                    <a:spcPct val="115000"/>
                  </a:lnSpc>
                  <a:spcBef>
                    <a:spcPts val="800"/>
                  </a:spcBef>
                  <a:spcAft>
                    <a:spcPts val="0"/>
                  </a:spcAft>
                  <a:buNone/>
                </a:pPr>
                <a:endParaRPr sz="800">
                  <a:solidFill>
                    <a:srgbClr val="3D3D3D"/>
                  </a:solidFill>
                  <a:latin typeface="Roboto"/>
                  <a:ea typeface="Roboto"/>
                  <a:cs typeface="Roboto"/>
                  <a:sym typeface="Roboto"/>
                </a:endParaRPr>
              </a:p>
            </p:txBody>
          </p:sp>
        </p:grpSp>
        <p:grpSp>
          <p:nvGrpSpPr>
            <p:cNvPr id="332" name="Google Shape;332;p34"/>
            <p:cNvGrpSpPr/>
            <p:nvPr/>
          </p:nvGrpSpPr>
          <p:grpSpPr>
            <a:xfrm>
              <a:off x="1593013" y="1595136"/>
              <a:ext cx="5957975" cy="643500"/>
              <a:chOff x="1593000" y="2322568"/>
              <a:chExt cx="5957975" cy="643500"/>
            </a:xfrm>
          </p:grpSpPr>
          <p:sp>
            <p:nvSpPr>
              <p:cNvPr id="333" name="Google Shape;333;p34"/>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4"/>
              <p:cNvSpPr/>
              <p:nvPr/>
            </p:nvSpPr>
            <p:spPr>
              <a:xfrm flipH="1">
                <a:off x="2283025" y="2322575"/>
                <a:ext cx="1844400" cy="642600"/>
              </a:xfrm>
              <a:prstGeom prst="rect">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4"/>
              <p:cNvSpPr/>
              <p:nvPr/>
            </p:nvSpPr>
            <p:spPr>
              <a:xfrm rot="-5400000">
                <a:off x="3501574" y="1934671"/>
                <a:ext cx="643356" cy="1419149"/>
              </a:xfrm>
              <a:prstGeom prst="flowChartOffpageConnector">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4"/>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800"/>
                  </a:spcAft>
                  <a:buClr>
                    <a:schemeClr val="dk1"/>
                  </a:buClr>
                  <a:buSzPts val="1100"/>
                  <a:buFont typeface="Arial"/>
                  <a:buNone/>
                </a:pPr>
                <a:r>
                  <a:rPr lang="en" sz="1500" b="1">
                    <a:solidFill>
                      <a:schemeClr val="lt1"/>
                    </a:solidFill>
                  </a:rPr>
                  <a:t>Target Audience Consideration:</a:t>
                </a:r>
                <a:endParaRPr sz="1500">
                  <a:solidFill>
                    <a:schemeClr val="lt1"/>
                  </a:solidFill>
                  <a:latin typeface="Roboto"/>
                  <a:ea typeface="Roboto"/>
                  <a:cs typeface="Roboto"/>
                  <a:sym typeface="Roboto"/>
                </a:endParaRPr>
              </a:p>
            </p:txBody>
          </p:sp>
          <p:sp>
            <p:nvSpPr>
              <p:cNvPr id="337" name="Google Shape;337;p34"/>
              <p:cNvSpPr/>
              <p:nvPr/>
            </p:nvSpPr>
            <p:spPr>
              <a:xfrm>
                <a:off x="1593000" y="2322568"/>
                <a:ext cx="690000" cy="642300"/>
              </a:xfrm>
              <a:prstGeom prst="rect">
                <a:avLst/>
              </a:prstGeom>
              <a:solidFill>
                <a:srgbClr val="414141"/>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4"/>
              <p:cNvSpPr/>
              <p:nvPr/>
            </p:nvSpPr>
            <p:spPr>
              <a:xfrm>
                <a:off x="1593000" y="2322575"/>
                <a:ext cx="690000" cy="642600"/>
              </a:xfrm>
              <a:prstGeom prst="rect">
                <a:avLst/>
              </a:prstGeom>
              <a:solidFill>
                <a:srgbClr val="4646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339" name="Google Shape;339;p34"/>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228600" lvl="0" indent="0" algn="just" rtl="0">
                  <a:lnSpc>
                    <a:spcPct val="150000"/>
                  </a:lnSpc>
                  <a:spcBef>
                    <a:spcPts val="0"/>
                  </a:spcBef>
                  <a:spcAft>
                    <a:spcPts val="0"/>
                  </a:spcAft>
                  <a:buNone/>
                </a:pPr>
                <a:endParaRPr sz="1100">
                  <a:solidFill>
                    <a:schemeClr val="dk1"/>
                  </a:solidFill>
                </a:endParaRPr>
              </a:p>
              <a:p>
                <a:pPr marL="228600" lvl="0" indent="0" algn="just" rtl="0">
                  <a:lnSpc>
                    <a:spcPct val="150000"/>
                  </a:lnSpc>
                  <a:spcBef>
                    <a:spcPts val="800"/>
                  </a:spcBef>
                  <a:spcAft>
                    <a:spcPts val="0"/>
                  </a:spcAft>
                  <a:buClr>
                    <a:schemeClr val="dk1"/>
                  </a:buClr>
                  <a:buSzPts val="1100"/>
                  <a:buFont typeface="Arial"/>
                  <a:buNone/>
                </a:pPr>
                <a:r>
                  <a:rPr lang="en" sz="1100">
                    <a:solidFill>
                      <a:schemeClr val="dk1"/>
                    </a:solidFill>
                  </a:rPr>
                  <a:t>If there's overlap between Martha Stewart's existing target audience and potential cannabis consumers, it may make sense to explore this market.</a:t>
                </a:r>
                <a:endParaRPr sz="1100">
                  <a:solidFill>
                    <a:schemeClr val="dk1"/>
                  </a:solidFill>
                </a:endParaRPr>
              </a:p>
              <a:p>
                <a:pPr marL="0" lvl="0" indent="0" algn="l" rtl="0">
                  <a:lnSpc>
                    <a:spcPct val="115000"/>
                  </a:lnSpc>
                  <a:spcBef>
                    <a:spcPts val="800"/>
                  </a:spcBef>
                  <a:spcAft>
                    <a:spcPts val="0"/>
                  </a:spcAft>
                  <a:buNone/>
                </a:pPr>
                <a:endParaRPr sz="800">
                  <a:solidFill>
                    <a:srgbClr val="3D3D3D"/>
                  </a:solidFill>
                  <a:latin typeface="Roboto"/>
                  <a:ea typeface="Roboto"/>
                  <a:cs typeface="Roboto"/>
                  <a:sym typeface="Roboto"/>
                </a:endParaRPr>
              </a:p>
            </p:txBody>
          </p:sp>
        </p:grpSp>
        <p:grpSp>
          <p:nvGrpSpPr>
            <p:cNvPr id="340" name="Google Shape;340;p34"/>
            <p:cNvGrpSpPr/>
            <p:nvPr/>
          </p:nvGrpSpPr>
          <p:grpSpPr>
            <a:xfrm>
              <a:off x="1593013" y="940009"/>
              <a:ext cx="5957975" cy="643500"/>
              <a:chOff x="1593000" y="2322568"/>
              <a:chExt cx="5957975" cy="643500"/>
            </a:xfrm>
          </p:grpSpPr>
          <p:sp>
            <p:nvSpPr>
              <p:cNvPr id="341" name="Google Shape;341;p34"/>
              <p:cNvSpPr/>
              <p:nvPr/>
            </p:nvSpPr>
            <p:spPr>
              <a:xfrm>
                <a:off x="3728375" y="2322568"/>
                <a:ext cx="3822600" cy="6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4"/>
              <p:cNvSpPr/>
              <p:nvPr/>
            </p:nvSpPr>
            <p:spPr>
              <a:xfrm flipH="1">
                <a:off x="2283025" y="2322575"/>
                <a:ext cx="1844400" cy="642600"/>
              </a:xfrm>
              <a:prstGeom prst="rect">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4"/>
              <p:cNvSpPr/>
              <p:nvPr/>
            </p:nvSpPr>
            <p:spPr>
              <a:xfrm rot="-5400000">
                <a:off x="3501574" y="1934671"/>
                <a:ext cx="643356" cy="1419149"/>
              </a:xfrm>
              <a:prstGeom prst="flowChartOffpageConnector">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4"/>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b="1">
                    <a:solidFill>
                      <a:schemeClr val="lt1"/>
                    </a:solidFill>
                  </a:rPr>
                  <a:t>Alignment with Brand Values</a:t>
                </a:r>
                <a:endParaRPr>
                  <a:solidFill>
                    <a:schemeClr val="lt1"/>
                  </a:solidFill>
                  <a:latin typeface="Roboto"/>
                  <a:ea typeface="Roboto"/>
                  <a:cs typeface="Roboto"/>
                  <a:sym typeface="Roboto"/>
                </a:endParaRPr>
              </a:p>
            </p:txBody>
          </p:sp>
          <p:sp>
            <p:nvSpPr>
              <p:cNvPr id="345" name="Google Shape;345;p34"/>
              <p:cNvSpPr/>
              <p:nvPr/>
            </p:nvSpPr>
            <p:spPr>
              <a:xfrm>
                <a:off x="1593000" y="2322568"/>
                <a:ext cx="690000" cy="642300"/>
              </a:xfrm>
              <a:prstGeom prst="rect">
                <a:avLst/>
              </a:prstGeom>
              <a:solidFill>
                <a:srgbClr val="414141"/>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4"/>
              <p:cNvSpPr/>
              <p:nvPr/>
            </p:nvSpPr>
            <p:spPr>
              <a:xfrm>
                <a:off x="1593000" y="2322575"/>
                <a:ext cx="690000" cy="642600"/>
              </a:xfrm>
              <a:prstGeom prst="rect">
                <a:avLst/>
              </a:prstGeom>
              <a:solidFill>
                <a:srgbClr val="4646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347" name="Google Shape;347;p34"/>
              <p:cNvSpPr/>
              <p:nvPr/>
            </p:nvSpPr>
            <p:spPr>
              <a:xfrm>
                <a:off x="4387850" y="2323750"/>
                <a:ext cx="2971200" cy="642300"/>
              </a:xfrm>
              <a:prstGeom prst="rect">
                <a:avLst/>
              </a:prstGeom>
              <a:noFill/>
              <a:ln>
                <a:noFill/>
              </a:ln>
            </p:spPr>
            <p:txBody>
              <a:bodyPr spcFirstLastPara="1" wrap="square" lIns="91425" tIns="91425" rIns="91425" bIns="91425" anchor="ctr" anchorCtr="0">
                <a:noAutofit/>
              </a:bodyPr>
              <a:lstStyle/>
              <a:p>
                <a:pPr marL="228600" lvl="0" indent="0" algn="just" rtl="0">
                  <a:lnSpc>
                    <a:spcPct val="150000"/>
                  </a:lnSpc>
                  <a:spcBef>
                    <a:spcPts val="0"/>
                  </a:spcBef>
                  <a:spcAft>
                    <a:spcPts val="0"/>
                  </a:spcAft>
                  <a:buNone/>
                </a:pPr>
                <a:endParaRPr sz="1100">
                  <a:solidFill>
                    <a:schemeClr val="dk1"/>
                  </a:solidFill>
                </a:endParaRPr>
              </a:p>
              <a:p>
                <a:pPr marL="228600" lvl="0" indent="0" algn="just" rtl="0">
                  <a:lnSpc>
                    <a:spcPct val="150000"/>
                  </a:lnSpc>
                  <a:spcBef>
                    <a:spcPts val="800"/>
                  </a:spcBef>
                  <a:spcAft>
                    <a:spcPts val="0"/>
                  </a:spcAft>
                  <a:buClr>
                    <a:schemeClr val="dk1"/>
                  </a:buClr>
                  <a:buSzPts val="1100"/>
                  <a:buFont typeface="Arial"/>
                  <a:buNone/>
                </a:pPr>
                <a:r>
                  <a:rPr lang="en" sz="1100">
                    <a:solidFill>
                      <a:schemeClr val="dk1"/>
                    </a:solidFill>
                  </a:rPr>
                  <a:t>If cannabis products align with Martha Stewart's brand values of quality, innovation, and wellness, then involvement could be justified.</a:t>
                </a:r>
                <a:endParaRPr sz="1100">
                  <a:solidFill>
                    <a:schemeClr val="dk1"/>
                  </a:solidFill>
                </a:endParaRPr>
              </a:p>
              <a:p>
                <a:pPr marL="0" lvl="0" indent="0" algn="l" rtl="0">
                  <a:lnSpc>
                    <a:spcPct val="115000"/>
                  </a:lnSpc>
                  <a:spcBef>
                    <a:spcPts val="800"/>
                  </a:spcBef>
                  <a:spcAft>
                    <a:spcPts val="0"/>
                  </a:spcAft>
                  <a:buNone/>
                </a:pPr>
                <a:endParaRPr sz="800">
                  <a:solidFill>
                    <a:srgbClr val="3D3D3D"/>
                  </a:solidFill>
                  <a:latin typeface="Roboto"/>
                  <a:ea typeface="Roboto"/>
                  <a:cs typeface="Roboto"/>
                  <a:sym typeface="Roboto"/>
                </a:endParaRPr>
              </a:p>
            </p:txBody>
          </p:sp>
        </p:grpSp>
      </p:grpSp>
      <p:sp>
        <p:nvSpPr>
          <p:cNvPr id="2" name="Slide Number Placeholder 1">
            <a:extLst>
              <a:ext uri="{FF2B5EF4-FFF2-40B4-BE49-F238E27FC236}">
                <a16:creationId xmlns:a16="http://schemas.microsoft.com/office/drawing/2014/main" id="{D77E8621-00F6-02CF-77F4-E31E2F356E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5"/>
          <p:cNvSpPr txBox="1">
            <a:spLocks noGrp="1"/>
          </p:cNvSpPr>
          <p:nvPr>
            <p:ph type="title"/>
          </p:nvPr>
        </p:nvSpPr>
        <p:spPr>
          <a:xfrm>
            <a:off x="153625" y="363575"/>
            <a:ext cx="8520600" cy="5727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2200"/>
              <a:t>Benefits and Challenges of Canopy Growth Involvement</a:t>
            </a:r>
            <a:endParaRPr sz="2200"/>
          </a:p>
          <a:p>
            <a:pPr marL="0" lvl="0" indent="0" algn="l" rtl="0">
              <a:spcBef>
                <a:spcPts val="800"/>
              </a:spcBef>
              <a:spcAft>
                <a:spcPts val="0"/>
              </a:spcAft>
              <a:buSzPts val="990"/>
              <a:buNone/>
            </a:pPr>
            <a:endParaRPr sz="2200"/>
          </a:p>
        </p:txBody>
      </p:sp>
      <p:grpSp>
        <p:nvGrpSpPr>
          <p:cNvPr id="353" name="Google Shape;353;p35"/>
          <p:cNvGrpSpPr/>
          <p:nvPr/>
        </p:nvGrpSpPr>
        <p:grpSpPr>
          <a:xfrm>
            <a:off x="153625" y="1044588"/>
            <a:ext cx="4000500" cy="4098913"/>
            <a:chOff x="133750" y="826838"/>
            <a:chExt cx="4000500" cy="4098913"/>
          </a:xfrm>
        </p:grpSpPr>
        <p:sp>
          <p:nvSpPr>
            <p:cNvPr id="354" name="Google Shape;354;p35"/>
            <p:cNvSpPr txBox="1"/>
            <p:nvPr/>
          </p:nvSpPr>
          <p:spPr>
            <a:xfrm>
              <a:off x="603525" y="826838"/>
              <a:ext cx="33195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1"/>
                  </a:solidFill>
                </a:rPr>
                <a:t>BENEFITS</a:t>
              </a:r>
              <a:endParaRPr sz="1800">
                <a:solidFill>
                  <a:schemeClr val="dk1"/>
                </a:solidFill>
              </a:endParaRPr>
            </a:p>
          </p:txBody>
        </p:sp>
        <p:sp>
          <p:nvSpPr>
            <p:cNvPr id="355" name="Google Shape;355;p35"/>
            <p:cNvSpPr txBox="1"/>
            <p:nvPr/>
          </p:nvSpPr>
          <p:spPr>
            <a:xfrm>
              <a:off x="133750" y="1399550"/>
              <a:ext cx="4000500" cy="3526200"/>
            </a:xfrm>
            <a:prstGeom prst="rect">
              <a:avLst/>
            </a:prstGeom>
            <a:noFill/>
            <a:ln>
              <a:noFill/>
            </a:ln>
          </p:spPr>
          <p:txBody>
            <a:bodyPr spcFirstLastPara="1" wrap="square" lIns="91425" tIns="91425" rIns="91425" bIns="91425" anchor="t" anchorCtr="0">
              <a:noAutofit/>
            </a:bodyPr>
            <a:lstStyle/>
            <a:p>
              <a:pPr marL="457200" lvl="0" indent="-228600" algn="just" rtl="0">
                <a:lnSpc>
                  <a:spcPct val="150000"/>
                </a:lnSpc>
                <a:spcBef>
                  <a:spcPts val="0"/>
                </a:spcBef>
                <a:spcAft>
                  <a:spcPts val="0"/>
                </a:spcAft>
                <a:buClr>
                  <a:schemeClr val="dk1"/>
                </a:buClr>
                <a:buSzPts val="1100"/>
                <a:buFont typeface="Arial"/>
                <a:buNone/>
              </a:pPr>
              <a:r>
                <a:rPr lang="en" sz="1100">
                  <a:solidFill>
                    <a:schemeClr val="dk1"/>
                  </a:solidFill>
                </a:rPr>
                <a:t>1.</a:t>
              </a:r>
              <a:r>
                <a:rPr lang="en" sz="700">
                  <a:solidFill>
                    <a:schemeClr val="dk1"/>
                  </a:solidFill>
                  <a:latin typeface="Times New Roman"/>
                  <a:ea typeface="Times New Roman"/>
                  <a:cs typeface="Times New Roman"/>
                  <a:sym typeface="Times New Roman"/>
                </a:rPr>
                <a:t> 	</a:t>
              </a:r>
              <a:r>
                <a:rPr lang="en" sz="1100" b="1">
                  <a:solidFill>
                    <a:schemeClr val="dk1"/>
                  </a:solidFill>
                </a:rPr>
                <a:t>Industry Expertise:</a:t>
              </a:r>
              <a:r>
                <a:rPr lang="en" sz="1100">
                  <a:solidFill>
                    <a:schemeClr val="dk1"/>
                  </a:solidFill>
                </a:rPr>
                <a:t> Canopy Growth brings deep expertise and experience in the cannabis industry, including cultivation, distribution, and product innovation.</a:t>
              </a:r>
              <a:endParaRPr sz="11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100">
                  <a:solidFill>
                    <a:schemeClr val="dk1"/>
                  </a:solidFill>
                </a:rPr>
                <a:t>2.</a:t>
              </a:r>
              <a:r>
                <a:rPr lang="en" sz="700">
                  <a:solidFill>
                    <a:schemeClr val="dk1"/>
                  </a:solidFill>
                  <a:latin typeface="Times New Roman"/>
                  <a:ea typeface="Times New Roman"/>
                  <a:cs typeface="Times New Roman"/>
                  <a:sym typeface="Times New Roman"/>
                </a:rPr>
                <a:t> 	</a:t>
              </a:r>
              <a:r>
                <a:rPr lang="en" sz="1100" b="1">
                  <a:solidFill>
                    <a:schemeClr val="dk1"/>
                  </a:solidFill>
                </a:rPr>
                <a:t>Infrastructure and Resources:</a:t>
              </a:r>
              <a:r>
                <a:rPr lang="en" sz="1100">
                  <a:solidFill>
                    <a:schemeClr val="dk1"/>
                  </a:solidFill>
                </a:rPr>
                <a:t> Canopy Growth's extensive infrastructure, including production facilities, distribution networks, and research capabilities, can support the joint venture's operations and growth.</a:t>
              </a:r>
              <a:endParaRPr sz="11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100">
                  <a:solidFill>
                    <a:schemeClr val="dk1"/>
                  </a:solidFill>
                </a:rPr>
                <a:t>3.</a:t>
              </a:r>
              <a:r>
                <a:rPr lang="en" sz="700">
                  <a:solidFill>
                    <a:schemeClr val="dk1"/>
                  </a:solidFill>
                  <a:latin typeface="Times New Roman"/>
                  <a:ea typeface="Times New Roman"/>
                  <a:cs typeface="Times New Roman"/>
                  <a:sym typeface="Times New Roman"/>
                </a:rPr>
                <a:t> 	</a:t>
              </a:r>
              <a:r>
                <a:rPr lang="en" sz="1100" b="1">
                  <a:solidFill>
                    <a:schemeClr val="dk1"/>
                  </a:solidFill>
                </a:rPr>
                <a:t>Regulatory Compliance:</a:t>
              </a:r>
              <a:r>
                <a:rPr lang="en" sz="1100">
                  <a:solidFill>
                    <a:schemeClr val="dk1"/>
                  </a:solidFill>
                </a:rPr>
                <a:t> Canopy Growth's track record of navigating complex regulatory environments can help ensure compliance and mitigate legal risks.</a:t>
              </a:r>
              <a:endParaRPr sz="1100">
                <a:solidFill>
                  <a:schemeClr val="dk1"/>
                </a:solidFill>
              </a:endParaRPr>
            </a:p>
            <a:p>
              <a:pPr marL="0" lvl="0" indent="0" algn="l" rtl="0">
                <a:spcBef>
                  <a:spcPts val="800"/>
                </a:spcBef>
                <a:spcAft>
                  <a:spcPts val="0"/>
                </a:spcAft>
                <a:buNone/>
              </a:pPr>
              <a:endParaRPr sz="1100">
                <a:solidFill>
                  <a:schemeClr val="dk1"/>
                </a:solidFill>
              </a:endParaRPr>
            </a:p>
          </p:txBody>
        </p:sp>
      </p:grpSp>
      <p:grpSp>
        <p:nvGrpSpPr>
          <p:cNvPr id="356" name="Google Shape;356;p35"/>
          <p:cNvGrpSpPr/>
          <p:nvPr/>
        </p:nvGrpSpPr>
        <p:grpSpPr>
          <a:xfrm>
            <a:off x="4438125" y="1044600"/>
            <a:ext cx="4085700" cy="4098900"/>
            <a:chOff x="4425975" y="826850"/>
            <a:chExt cx="4085700" cy="4098900"/>
          </a:xfrm>
        </p:grpSpPr>
        <p:sp>
          <p:nvSpPr>
            <p:cNvPr id="357" name="Google Shape;357;p35"/>
            <p:cNvSpPr txBox="1"/>
            <p:nvPr/>
          </p:nvSpPr>
          <p:spPr>
            <a:xfrm>
              <a:off x="5192175" y="826850"/>
              <a:ext cx="33195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1"/>
                  </a:solidFill>
                </a:rPr>
                <a:t>CHALLENGES</a:t>
              </a:r>
              <a:endParaRPr sz="1800">
                <a:solidFill>
                  <a:schemeClr val="dk1"/>
                </a:solidFill>
              </a:endParaRPr>
            </a:p>
          </p:txBody>
        </p:sp>
        <p:sp>
          <p:nvSpPr>
            <p:cNvPr id="358" name="Google Shape;358;p35"/>
            <p:cNvSpPr txBox="1"/>
            <p:nvPr/>
          </p:nvSpPr>
          <p:spPr>
            <a:xfrm>
              <a:off x="4425975" y="1399550"/>
              <a:ext cx="4085700" cy="3526200"/>
            </a:xfrm>
            <a:prstGeom prst="rect">
              <a:avLst/>
            </a:prstGeom>
            <a:noFill/>
            <a:ln>
              <a:noFill/>
            </a:ln>
          </p:spPr>
          <p:txBody>
            <a:bodyPr spcFirstLastPara="1" wrap="square" lIns="91425" tIns="91425" rIns="91425" bIns="91425" anchor="t" anchorCtr="0">
              <a:noAutofit/>
            </a:bodyPr>
            <a:lstStyle/>
            <a:p>
              <a:pPr marL="457200" lvl="0" indent="-228600" algn="just" rtl="0">
                <a:lnSpc>
                  <a:spcPct val="150000"/>
                </a:lnSpc>
                <a:spcBef>
                  <a:spcPts val="0"/>
                </a:spcBef>
                <a:spcAft>
                  <a:spcPts val="0"/>
                </a:spcAft>
                <a:buClr>
                  <a:schemeClr val="dk1"/>
                </a:buClr>
                <a:buSzPts val="1100"/>
                <a:buFont typeface="Arial"/>
                <a:buNone/>
              </a:pPr>
              <a:r>
                <a:rPr lang="en" sz="1100">
                  <a:solidFill>
                    <a:schemeClr val="dk1"/>
                  </a:solidFill>
                </a:rPr>
                <a:t>1.</a:t>
              </a:r>
              <a:r>
                <a:rPr lang="en" sz="700">
                  <a:solidFill>
                    <a:schemeClr val="dk1"/>
                  </a:solidFill>
                  <a:latin typeface="Times New Roman"/>
                  <a:ea typeface="Times New Roman"/>
                  <a:cs typeface="Times New Roman"/>
                  <a:sym typeface="Times New Roman"/>
                </a:rPr>
                <a:t> 	</a:t>
              </a:r>
              <a:r>
                <a:rPr lang="en" sz="1100" b="1">
                  <a:solidFill>
                    <a:schemeClr val="dk1"/>
                  </a:solidFill>
                </a:rPr>
                <a:t>Brand Association Risks:</a:t>
              </a:r>
              <a:r>
                <a:rPr lang="en" sz="1100">
                  <a:solidFill>
                    <a:schemeClr val="dk1"/>
                  </a:solidFill>
                </a:rPr>
                <a:t> Canopy Growth's association with recreational cannabis may raise concerns among certain consumer segments or regulatory authorities, potentially impacting partnerships with mainstream brands like Martha Stewart.</a:t>
              </a:r>
              <a:endParaRPr sz="11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100">
                  <a:solidFill>
                    <a:schemeClr val="dk1"/>
                  </a:solidFill>
                </a:rPr>
                <a:t>2.</a:t>
              </a:r>
              <a:r>
                <a:rPr lang="en" sz="700">
                  <a:solidFill>
                    <a:schemeClr val="dk1"/>
                  </a:solidFill>
                  <a:latin typeface="Times New Roman"/>
                  <a:ea typeface="Times New Roman"/>
                  <a:cs typeface="Times New Roman"/>
                  <a:sym typeface="Times New Roman"/>
                </a:rPr>
                <a:t> 	</a:t>
              </a:r>
              <a:r>
                <a:rPr lang="en" sz="1100" b="1">
                  <a:solidFill>
                    <a:schemeClr val="dk1"/>
                  </a:solidFill>
                </a:rPr>
                <a:t>Market Volatility:</a:t>
              </a:r>
              <a:r>
                <a:rPr lang="en" sz="1100">
                  <a:solidFill>
                    <a:schemeClr val="dk1"/>
                  </a:solidFill>
                </a:rPr>
                <a:t> The cannabis industry is subject to regulatory changes, market fluctuations, and competitive pressures, which can pose challenges for Canopy Growth's long-term growth and profitability.</a:t>
              </a:r>
              <a:endParaRPr sz="1100">
                <a:solidFill>
                  <a:schemeClr val="dk1"/>
                </a:solidFill>
              </a:endParaRPr>
            </a:p>
            <a:p>
              <a:pPr marL="0" lvl="0" indent="0" algn="l" rtl="0">
                <a:spcBef>
                  <a:spcPts val="800"/>
                </a:spcBef>
                <a:spcAft>
                  <a:spcPts val="0"/>
                </a:spcAft>
                <a:buNone/>
              </a:pPr>
              <a:endParaRPr sz="1100">
                <a:solidFill>
                  <a:schemeClr val="dk1"/>
                </a:solidFill>
              </a:endParaRPr>
            </a:p>
          </p:txBody>
        </p:sp>
      </p:grpSp>
      <p:sp>
        <p:nvSpPr>
          <p:cNvPr id="359" name="Google Shape;359;p35"/>
          <p:cNvSpPr/>
          <p:nvPr/>
        </p:nvSpPr>
        <p:spPr>
          <a:xfrm>
            <a:off x="3441150" y="899800"/>
            <a:ext cx="826800" cy="7053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 name="Google Shape;360;p35"/>
          <p:cNvSpPr/>
          <p:nvPr/>
        </p:nvSpPr>
        <p:spPr>
          <a:xfrm>
            <a:off x="4462575" y="936275"/>
            <a:ext cx="826800" cy="705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 name="Google Shape;361;p35"/>
          <p:cNvSpPr txBox="1"/>
          <p:nvPr/>
        </p:nvSpPr>
        <p:spPr>
          <a:xfrm>
            <a:off x="514800" y="0"/>
            <a:ext cx="81144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b="1" dirty="0">
                <a:solidFill>
                  <a:schemeClr val="dk1"/>
                </a:solidFill>
              </a:rPr>
              <a:t>Martha &amp; Marijuana: A Perfect Fit?</a:t>
            </a:r>
            <a:endParaRPr sz="2100" b="1" dirty="0">
              <a:solidFill>
                <a:schemeClr val="dk1"/>
              </a:solidFill>
            </a:endParaRPr>
          </a:p>
        </p:txBody>
      </p:sp>
      <p:sp>
        <p:nvSpPr>
          <p:cNvPr id="2" name="Slide Number Placeholder 1">
            <a:extLst>
              <a:ext uri="{FF2B5EF4-FFF2-40B4-BE49-F238E27FC236}">
                <a16:creationId xmlns:a16="http://schemas.microsoft.com/office/drawing/2014/main" id="{99D04705-EC13-D7F0-73FB-A32D8DA051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6"/>
          <p:cNvSpPr txBox="1">
            <a:spLocks noGrp="1"/>
          </p:cNvSpPr>
          <p:nvPr>
            <p:ph type="title"/>
          </p:nvPr>
        </p:nvSpPr>
        <p:spPr>
          <a:xfrm>
            <a:off x="104975"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320"/>
              <a:t>A good strategic fit exists between Martha Stewart and Canopy Growth due to complementary strengths and shared objectives</a:t>
            </a:r>
            <a:endParaRPr sz="2320"/>
          </a:p>
        </p:txBody>
      </p:sp>
      <p:grpSp>
        <p:nvGrpSpPr>
          <p:cNvPr id="367" name="Google Shape;367;p36"/>
          <p:cNvGrpSpPr/>
          <p:nvPr/>
        </p:nvGrpSpPr>
        <p:grpSpPr>
          <a:xfrm>
            <a:off x="3473893" y="1927571"/>
            <a:ext cx="260366" cy="260366"/>
            <a:chOff x="3157188" y="909150"/>
            <a:chExt cx="470400" cy="470400"/>
          </a:xfrm>
        </p:grpSpPr>
        <p:sp>
          <p:nvSpPr>
            <p:cNvPr id="368" name="Google Shape;368;p36"/>
            <p:cNvSpPr/>
            <p:nvPr/>
          </p:nvSpPr>
          <p:spPr>
            <a:xfrm>
              <a:off x="3157188" y="909150"/>
              <a:ext cx="470400" cy="4704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6"/>
            <p:cNvSpPr/>
            <p:nvPr/>
          </p:nvSpPr>
          <p:spPr>
            <a:xfrm>
              <a:off x="3243138" y="995100"/>
              <a:ext cx="298500" cy="298500"/>
            </a:xfrm>
            <a:prstGeom prst="mathPlus">
              <a:avLst>
                <a:gd name="adj1" fmla="val 9900"/>
              </a:avLst>
            </a:prstGeom>
            <a:solidFill>
              <a:srgbClr val="50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 name="Google Shape;370;p36"/>
          <p:cNvGrpSpPr/>
          <p:nvPr/>
        </p:nvGrpSpPr>
        <p:grpSpPr>
          <a:xfrm>
            <a:off x="5413052" y="1927571"/>
            <a:ext cx="260366" cy="260366"/>
            <a:chOff x="3157188" y="909150"/>
            <a:chExt cx="470400" cy="470400"/>
          </a:xfrm>
        </p:grpSpPr>
        <p:sp>
          <p:nvSpPr>
            <p:cNvPr id="371" name="Google Shape;371;p36"/>
            <p:cNvSpPr/>
            <p:nvPr/>
          </p:nvSpPr>
          <p:spPr>
            <a:xfrm>
              <a:off x="3157188" y="909150"/>
              <a:ext cx="470400" cy="4704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6"/>
            <p:cNvSpPr/>
            <p:nvPr/>
          </p:nvSpPr>
          <p:spPr>
            <a:xfrm>
              <a:off x="3243138" y="995100"/>
              <a:ext cx="298500" cy="298500"/>
            </a:xfrm>
            <a:prstGeom prst="mathPlus">
              <a:avLst>
                <a:gd name="adj1" fmla="val 9900"/>
              </a:avLst>
            </a:prstGeom>
            <a:solidFill>
              <a:srgbClr val="414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 name="Google Shape;373;p36"/>
          <p:cNvGrpSpPr/>
          <p:nvPr/>
        </p:nvGrpSpPr>
        <p:grpSpPr>
          <a:xfrm>
            <a:off x="104913" y="879350"/>
            <a:ext cx="8953687" cy="4179025"/>
            <a:chOff x="1660228" y="1171203"/>
            <a:chExt cx="5822400" cy="2801331"/>
          </a:xfrm>
        </p:grpSpPr>
        <p:grpSp>
          <p:nvGrpSpPr>
            <p:cNvPr id="374" name="Google Shape;374;p36"/>
            <p:cNvGrpSpPr/>
            <p:nvPr/>
          </p:nvGrpSpPr>
          <p:grpSpPr>
            <a:xfrm>
              <a:off x="1660804" y="1171204"/>
              <a:ext cx="1942800" cy="1753012"/>
              <a:chOff x="1660804" y="1171204"/>
              <a:chExt cx="1942800" cy="1753012"/>
            </a:xfrm>
          </p:grpSpPr>
          <p:sp>
            <p:nvSpPr>
              <p:cNvPr id="375" name="Google Shape;375;p36"/>
              <p:cNvSpPr/>
              <p:nvPr/>
            </p:nvSpPr>
            <p:spPr>
              <a:xfrm>
                <a:off x="1660804" y="1171204"/>
                <a:ext cx="1942800" cy="1521600"/>
              </a:xfrm>
              <a:prstGeom prst="round1Rect">
                <a:avLst>
                  <a:gd name="adj" fmla="val 17446"/>
                </a:avLst>
              </a:prstGeom>
              <a:solidFill>
                <a:srgbClr val="50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6"/>
              <p:cNvSpPr txBox="1"/>
              <p:nvPr/>
            </p:nvSpPr>
            <p:spPr>
              <a:xfrm>
                <a:off x="1737306" y="1188175"/>
                <a:ext cx="1451700" cy="459900"/>
              </a:xfrm>
              <a:prstGeom prst="rect">
                <a:avLst/>
              </a:prstGeom>
              <a:noFill/>
              <a:ln>
                <a:noFill/>
              </a:ln>
            </p:spPr>
            <p:txBody>
              <a:bodyPr spcFirstLastPara="1" wrap="square" lIns="91425" tIns="91425" rIns="91425" bIns="91425" anchor="t" anchorCtr="0">
                <a:noAutofit/>
              </a:bodyPr>
              <a:lstStyle/>
              <a:p>
                <a:pPr marL="457200" lvl="0" indent="-228600" algn="just" rtl="0">
                  <a:lnSpc>
                    <a:spcPct val="150000"/>
                  </a:lnSpc>
                  <a:spcBef>
                    <a:spcPts val="0"/>
                  </a:spcBef>
                  <a:spcAft>
                    <a:spcPts val="800"/>
                  </a:spcAft>
                  <a:buClr>
                    <a:schemeClr val="dk1"/>
                  </a:buClr>
                  <a:buSzPts val="1100"/>
                  <a:buFont typeface="Arial"/>
                  <a:buNone/>
                </a:pPr>
                <a:r>
                  <a:rPr lang="en" sz="1100" b="1">
                    <a:solidFill>
                      <a:schemeClr val="lt1"/>
                    </a:solidFill>
                  </a:rPr>
                  <a:t>Complementary Expertise:</a:t>
                </a:r>
                <a:endParaRPr sz="1100">
                  <a:solidFill>
                    <a:schemeClr val="lt1"/>
                  </a:solidFill>
                  <a:latin typeface="Roboto"/>
                  <a:ea typeface="Roboto"/>
                  <a:cs typeface="Roboto"/>
                  <a:sym typeface="Roboto"/>
                </a:endParaRPr>
              </a:p>
            </p:txBody>
          </p:sp>
          <p:sp>
            <p:nvSpPr>
              <p:cNvPr id="377" name="Google Shape;377;p36"/>
              <p:cNvSpPr txBox="1"/>
              <p:nvPr/>
            </p:nvSpPr>
            <p:spPr>
              <a:xfrm>
                <a:off x="1737282" y="1702616"/>
                <a:ext cx="1812600" cy="1221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sz="1000">
                    <a:solidFill>
                      <a:schemeClr val="lt1"/>
                    </a:solidFill>
                  </a:rPr>
                  <a:t> Martha Stewart's expertise in lifestyle branding and consumer engagement complements Canopy Growth's proficiency in cannabis cultivation, research, and distribution.</a:t>
                </a:r>
                <a:endParaRPr sz="800">
                  <a:solidFill>
                    <a:schemeClr val="lt1"/>
                  </a:solidFill>
                </a:endParaRPr>
              </a:p>
              <a:p>
                <a:pPr marL="0" lvl="0" indent="0" algn="l" rtl="0">
                  <a:lnSpc>
                    <a:spcPct val="115000"/>
                  </a:lnSpc>
                  <a:spcBef>
                    <a:spcPts val="800"/>
                  </a:spcBef>
                  <a:spcAft>
                    <a:spcPts val="1600"/>
                  </a:spcAft>
                  <a:buNone/>
                </a:pPr>
                <a:endParaRPr sz="700">
                  <a:solidFill>
                    <a:schemeClr val="lt1"/>
                  </a:solidFill>
                  <a:latin typeface="Roboto"/>
                  <a:ea typeface="Roboto"/>
                  <a:cs typeface="Roboto"/>
                  <a:sym typeface="Roboto"/>
                </a:endParaRPr>
              </a:p>
            </p:txBody>
          </p:sp>
        </p:grpSp>
        <p:grpSp>
          <p:nvGrpSpPr>
            <p:cNvPr id="378" name="Google Shape;378;p36"/>
            <p:cNvGrpSpPr/>
            <p:nvPr/>
          </p:nvGrpSpPr>
          <p:grpSpPr>
            <a:xfrm>
              <a:off x="3600605" y="1171203"/>
              <a:ext cx="1942800" cy="1667222"/>
              <a:chOff x="3600605" y="1170953"/>
              <a:chExt cx="1942800" cy="1667222"/>
            </a:xfrm>
          </p:grpSpPr>
          <p:sp>
            <p:nvSpPr>
              <p:cNvPr id="379" name="Google Shape;379;p36"/>
              <p:cNvSpPr/>
              <p:nvPr/>
            </p:nvSpPr>
            <p:spPr>
              <a:xfrm>
                <a:off x="3600605" y="1170953"/>
                <a:ext cx="1942800" cy="1521600"/>
              </a:xfrm>
              <a:prstGeom prst="round2SameRect">
                <a:avLst>
                  <a:gd name="adj1" fmla="val 18098"/>
                  <a:gd name="adj2" fmla="val 0"/>
                </a:avLst>
              </a:prstGeom>
              <a:solidFill>
                <a:srgbClr val="4646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6"/>
              <p:cNvSpPr txBox="1"/>
              <p:nvPr/>
            </p:nvSpPr>
            <p:spPr>
              <a:xfrm>
                <a:off x="3845863" y="1187932"/>
                <a:ext cx="1451700" cy="459900"/>
              </a:xfrm>
              <a:prstGeom prst="rect">
                <a:avLst/>
              </a:prstGeom>
              <a:noFill/>
              <a:ln>
                <a:noFill/>
              </a:ln>
            </p:spPr>
            <p:txBody>
              <a:bodyPr spcFirstLastPara="1" wrap="square" lIns="91425" tIns="91425" rIns="91425" bIns="91425" anchor="t" anchorCtr="0">
                <a:noAutofit/>
              </a:bodyPr>
              <a:lstStyle/>
              <a:p>
                <a:pPr marL="457200" lvl="0" indent="-228600" algn="just" rtl="0">
                  <a:lnSpc>
                    <a:spcPct val="150000"/>
                  </a:lnSpc>
                  <a:spcBef>
                    <a:spcPts val="0"/>
                  </a:spcBef>
                  <a:spcAft>
                    <a:spcPts val="800"/>
                  </a:spcAft>
                  <a:buClr>
                    <a:schemeClr val="dk1"/>
                  </a:buClr>
                  <a:buSzPts val="1100"/>
                  <a:buFont typeface="Arial"/>
                  <a:buNone/>
                </a:pPr>
                <a:r>
                  <a:rPr lang="en" sz="1100" b="1">
                    <a:solidFill>
                      <a:schemeClr val="lt1"/>
                    </a:solidFill>
                  </a:rPr>
                  <a:t>Shared Vision:</a:t>
                </a:r>
                <a:r>
                  <a:rPr lang="en" sz="1100">
                    <a:solidFill>
                      <a:schemeClr val="lt1"/>
                    </a:solidFill>
                  </a:rPr>
                  <a:t> </a:t>
                </a:r>
                <a:endParaRPr sz="1100">
                  <a:solidFill>
                    <a:schemeClr val="lt1"/>
                  </a:solidFill>
                  <a:latin typeface="Roboto"/>
                  <a:ea typeface="Roboto"/>
                  <a:cs typeface="Roboto"/>
                  <a:sym typeface="Roboto"/>
                </a:endParaRPr>
              </a:p>
            </p:txBody>
          </p:sp>
          <p:sp>
            <p:nvSpPr>
              <p:cNvPr id="381" name="Google Shape;381;p36"/>
              <p:cNvSpPr txBox="1"/>
              <p:nvPr/>
            </p:nvSpPr>
            <p:spPr>
              <a:xfrm>
                <a:off x="3828895" y="1702375"/>
                <a:ext cx="1654500" cy="1135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1000">
                    <a:solidFill>
                      <a:schemeClr val="lt1"/>
                    </a:solidFill>
                  </a:rPr>
                  <a:t>Both companies share a vision of delivering high-quality, innovative products to consumers while adhering to regulatory standards and promoting responsible cannabis use.</a:t>
                </a:r>
                <a:endParaRPr sz="1000">
                  <a:solidFill>
                    <a:schemeClr val="lt1"/>
                  </a:solidFill>
                </a:endParaRPr>
              </a:p>
              <a:p>
                <a:pPr marL="0" lvl="0" indent="0" algn="l" rtl="0">
                  <a:lnSpc>
                    <a:spcPct val="115000"/>
                  </a:lnSpc>
                  <a:spcBef>
                    <a:spcPts val="800"/>
                  </a:spcBef>
                  <a:spcAft>
                    <a:spcPts val="1600"/>
                  </a:spcAft>
                  <a:buNone/>
                </a:pPr>
                <a:endParaRPr sz="700">
                  <a:solidFill>
                    <a:schemeClr val="lt1"/>
                  </a:solidFill>
                  <a:latin typeface="Roboto"/>
                  <a:ea typeface="Roboto"/>
                  <a:cs typeface="Roboto"/>
                  <a:sym typeface="Roboto"/>
                </a:endParaRPr>
              </a:p>
            </p:txBody>
          </p:sp>
        </p:grpSp>
        <p:grpSp>
          <p:nvGrpSpPr>
            <p:cNvPr id="382" name="Google Shape;382;p36"/>
            <p:cNvGrpSpPr/>
            <p:nvPr/>
          </p:nvGrpSpPr>
          <p:grpSpPr>
            <a:xfrm>
              <a:off x="5539828" y="1188178"/>
              <a:ext cx="1942800" cy="1790576"/>
              <a:chOff x="5539809" y="1171227"/>
              <a:chExt cx="1942800" cy="1810125"/>
            </a:xfrm>
          </p:grpSpPr>
          <p:sp>
            <p:nvSpPr>
              <p:cNvPr id="383" name="Google Shape;383;p36"/>
              <p:cNvSpPr/>
              <p:nvPr/>
            </p:nvSpPr>
            <p:spPr>
              <a:xfrm flipH="1">
                <a:off x="5539809" y="1171227"/>
                <a:ext cx="1942800" cy="1538100"/>
              </a:xfrm>
              <a:prstGeom prst="round1Rect">
                <a:avLst>
                  <a:gd name="adj" fmla="val 17446"/>
                </a:avLst>
              </a:pr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6"/>
              <p:cNvSpPr txBox="1"/>
              <p:nvPr/>
            </p:nvSpPr>
            <p:spPr>
              <a:xfrm>
                <a:off x="5762390" y="1173751"/>
                <a:ext cx="1451700" cy="459900"/>
              </a:xfrm>
              <a:prstGeom prst="rect">
                <a:avLst/>
              </a:prstGeom>
              <a:noFill/>
              <a:ln>
                <a:noFill/>
              </a:ln>
            </p:spPr>
            <p:txBody>
              <a:bodyPr spcFirstLastPara="1" wrap="square" lIns="91425" tIns="91425" rIns="91425" bIns="91425" anchor="t" anchorCtr="0">
                <a:noAutofit/>
              </a:bodyPr>
              <a:lstStyle/>
              <a:p>
                <a:pPr marL="457200" lvl="0" indent="-228600" algn="just" rtl="0">
                  <a:lnSpc>
                    <a:spcPct val="150000"/>
                  </a:lnSpc>
                  <a:spcBef>
                    <a:spcPts val="0"/>
                  </a:spcBef>
                  <a:spcAft>
                    <a:spcPts val="800"/>
                  </a:spcAft>
                  <a:buClr>
                    <a:schemeClr val="dk1"/>
                  </a:buClr>
                  <a:buSzPts val="1100"/>
                  <a:buFont typeface="Arial"/>
                  <a:buNone/>
                </a:pPr>
                <a:r>
                  <a:rPr lang="en" sz="1100" b="1">
                    <a:solidFill>
                      <a:schemeClr val="lt1"/>
                    </a:solidFill>
                  </a:rPr>
                  <a:t>Market Expansion Opportunities:</a:t>
                </a:r>
                <a:endParaRPr sz="1100">
                  <a:solidFill>
                    <a:schemeClr val="lt1"/>
                  </a:solidFill>
                  <a:latin typeface="Roboto"/>
                  <a:ea typeface="Roboto"/>
                  <a:cs typeface="Roboto"/>
                  <a:sym typeface="Roboto"/>
                </a:endParaRPr>
              </a:p>
            </p:txBody>
          </p:sp>
          <p:sp>
            <p:nvSpPr>
              <p:cNvPr id="385" name="Google Shape;385;p36"/>
              <p:cNvSpPr txBox="1"/>
              <p:nvPr/>
            </p:nvSpPr>
            <p:spPr>
              <a:xfrm>
                <a:off x="5762397" y="1636152"/>
                <a:ext cx="1597800" cy="13452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sz="1000">
                    <a:solidFill>
                      <a:schemeClr val="lt1"/>
                    </a:solidFill>
                  </a:rPr>
                  <a:t>The partnership allows Martha Stewart to enter the burgeoning cannabis market while providing Canopy Growth access to new consumer segments and distribution channels.</a:t>
                </a:r>
                <a:endParaRPr sz="1000">
                  <a:solidFill>
                    <a:schemeClr val="lt1"/>
                  </a:solidFill>
                </a:endParaRPr>
              </a:p>
              <a:p>
                <a:pPr marL="0" lvl="0" indent="0" algn="l" rtl="0">
                  <a:lnSpc>
                    <a:spcPct val="115000"/>
                  </a:lnSpc>
                  <a:spcBef>
                    <a:spcPts val="800"/>
                  </a:spcBef>
                  <a:spcAft>
                    <a:spcPts val="1600"/>
                  </a:spcAft>
                  <a:buNone/>
                </a:pPr>
                <a:endParaRPr sz="1000">
                  <a:solidFill>
                    <a:schemeClr val="lt1"/>
                  </a:solidFill>
                  <a:latin typeface="Roboto"/>
                  <a:ea typeface="Roboto"/>
                  <a:cs typeface="Roboto"/>
                  <a:sym typeface="Roboto"/>
                </a:endParaRPr>
              </a:p>
            </p:txBody>
          </p:sp>
        </p:grpSp>
        <p:grpSp>
          <p:nvGrpSpPr>
            <p:cNvPr id="386" name="Google Shape;386;p36"/>
            <p:cNvGrpSpPr/>
            <p:nvPr/>
          </p:nvGrpSpPr>
          <p:grpSpPr>
            <a:xfrm>
              <a:off x="1660228" y="2684634"/>
              <a:ext cx="5822400" cy="1287900"/>
              <a:chOff x="1660794" y="2684634"/>
              <a:chExt cx="5822400" cy="1287900"/>
            </a:xfrm>
          </p:grpSpPr>
          <p:sp>
            <p:nvSpPr>
              <p:cNvPr id="387" name="Google Shape;387;p36"/>
              <p:cNvSpPr/>
              <p:nvPr/>
            </p:nvSpPr>
            <p:spPr>
              <a:xfrm rot="10800000">
                <a:off x="1660794" y="2684634"/>
                <a:ext cx="5822400" cy="1287900"/>
              </a:xfrm>
              <a:prstGeom prst="round2SameRect">
                <a:avLst>
                  <a:gd name="adj1" fmla="val 18098"/>
                  <a:gd name="adj2" fmla="val 0"/>
                </a:avLst>
              </a:prstGeom>
              <a:solidFill>
                <a:srgbClr val="2F2F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6"/>
              <p:cNvSpPr txBox="1"/>
              <p:nvPr/>
            </p:nvSpPr>
            <p:spPr>
              <a:xfrm>
                <a:off x="1774242" y="2772238"/>
                <a:ext cx="5506500" cy="1135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200">
                    <a:solidFill>
                      <a:srgbClr val="FFFFFF"/>
                    </a:solidFill>
                    <a:latin typeface="Roboto"/>
                    <a:ea typeface="Roboto"/>
                    <a:cs typeface="Roboto"/>
                    <a:sym typeface="Roboto"/>
                  </a:rPr>
                  <a:t>Martha Stewart and Canopy Growth relationship exhibits a solid strategic match, with complementary skills, a shared goal, and potential for mutual market development. Martha Stewart's experience in lifestyle branding complements Canopy Growth's expertise in cannabis production and distribution, allowing both companies to efficiently exploit their respective strengths. With a shared commitment to producing high-quality, creative goods while complying to regulatory requirements, the cooperation paves the way for market development into new consumer categories and distribution channels. Overall, the strategic match between Martha Stewart and Canopy Growth frames the relationship for success as the cannabis market evolves.</a:t>
                </a:r>
                <a:endParaRPr sz="1200">
                  <a:solidFill>
                    <a:srgbClr val="FFFFFF"/>
                  </a:solidFill>
                  <a:latin typeface="Roboto"/>
                  <a:ea typeface="Roboto"/>
                  <a:cs typeface="Roboto"/>
                  <a:sym typeface="Roboto"/>
                </a:endParaRPr>
              </a:p>
            </p:txBody>
          </p:sp>
        </p:grpSp>
      </p:grpSp>
      <p:sp>
        <p:nvSpPr>
          <p:cNvPr id="2" name="Slide Number Placeholder 1">
            <a:extLst>
              <a:ext uri="{FF2B5EF4-FFF2-40B4-BE49-F238E27FC236}">
                <a16:creationId xmlns:a16="http://schemas.microsoft.com/office/drawing/2014/main" id="{F23EEC7F-921C-4A69-3F26-A04D8EF18C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7"/>
          <p:cNvSpPr txBox="1">
            <a:spLocks noGrp="1"/>
          </p:cNvSpPr>
          <p:nvPr>
            <p:ph type="title"/>
          </p:nvPr>
        </p:nvSpPr>
        <p:spPr>
          <a:xfrm>
            <a:off x="80675" y="559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320"/>
              <a:t>The joint venture between Martha Stewart and Canopy Growth helps address some of the unique challenges of the cannabis industry</a:t>
            </a:r>
            <a:endParaRPr sz="2320"/>
          </a:p>
        </p:txBody>
      </p:sp>
      <p:sp>
        <p:nvSpPr>
          <p:cNvPr id="394" name="Google Shape;394;p37"/>
          <p:cNvSpPr/>
          <p:nvPr/>
        </p:nvSpPr>
        <p:spPr>
          <a:xfrm>
            <a:off x="80675" y="1337550"/>
            <a:ext cx="875400" cy="10335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 name="Google Shape;395;p37"/>
          <p:cNvSpPr/>
          <p:nvPr/>
        </p:nvSpPr>
        <p:spPr>
          <a:xfrm>
            <a:off x="160100" y="2638550"/>
            <a:ext cx="875400" cy="10335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 name="Google Shape;396;p37"/>
          <p:cNvSpPr/>
          <p:nvPr/>
        </p:nvSpPr>
        <p:spPr>
          <a:xfrm>
            <a:off x="160100" y="3745025"/>
            <a:ext cx="875400" cy="10335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 name="Google Shape;397;p37"/>
          <p:cNvSpPr txBox="1"/>
          <p:nvPr/>
        </p:nvSpPr>
        <p:spPr>
          <a:xfrm>
            <a:off x="1118675" y="1525950"/>
            <a:ext cx="4012800" cy="6567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1100" b="1">
                <a:solidFill>
                  <a:schemeClr val="dk1"/>
                </a:solidFill>
              </a:rPr>
              <a:t>Enhancing Credibility:</a:t>
            </a:r>
            <a:r>
              <a:rPr lang="en" sz="1100">
                <a:solidFill>
                  <a:schemeClr val="dk1"/>
                </a:solidFill>
              </a:rPr>
              <a:t> Martha Stewart's association adds credibility and legitimacy to cannabis products, alleviating concerns about quality and safety.</a:t>
            </a:r>
            <a:endParaRPr sz="1100">
              <a:solidFill>
                <a:schemeClr val="dk1"/>
              </a:solidFill>
            </a:endParaRPr>
          </a:p>
          <a:p>
            <a:pPr marL="0" lvl="0" indent="0" algn="l" rtl="0">
              <a:spcBef>
                <a:spcPts val="800"/>
              </a:spcBef>
              <a:spcAft>
                <a:spcPts val="0"/>
              </a:spcAft>
              <a:buNone/>
            </a:pPr>
            <a:endParaRPr sz="1800">
              <a:solidFill>
                <a:schemeClr val="dk2"/>
              </a:solidFill>
            </a:endParaRPr>
          </a:p>
        </p:txBody>
      </p:sp>
      <p:sp>
        <p:nvSpPr>
          <p:cNvPr id="398" name="Google Shape;398;p37"/>
          <p:cNvSpPr txBox="1"/>
          <p:nvPr/>
        </p:nvSpPr>
        <p:spPr>
          <a:xfrm>
            <a:off x="1118675" y="2818350"/>
            <a:ext cx="4012800" cy="6567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1100" b="1">
                <a:solidFill>
                  <a:schemeClr val="dk1"/>
                </a:solidFill>
              </a:rPr>
              <a:t>Educating Consumers:</a:t>
            </a:r>
            <a:r>
              <a:rPr lang="en" sz="1100">
                <a:solidFill>
                  <a:schemeClr val="dk1"/>
                </a:solidFill>
              </a:rPr>
              <a:t> The cooperation may clarify myths, lessen stigma, and inform customers about the advantages of cannabis products through cooperative marketing initiatives.</a:t>
            </a:r>
            <a:endParaRPr sz="1100">
              <a:solidFill>
                <a:schemeClr val="dk1"/>
              </a:solidFill>
            </a:endParaRPr>
          </a:p>
          <a:p>
            <a:pPr marL="0" lvl="0" indent="0" algn="l" rtl="0">
              <a:spcBef>
                <a:spcPts val="800"/>
              </a:spcBef>
              <a:spcAft>
                <a:spcPts val="0"/>
              </a:spcAft>
              <a:buNone/>
            </a:pPr>
            <a:endParaRPr sz="1100" b="1">
              <a:solidFill>
                <a:schemeClr val="dk1"/>
              </a:solidFill>
            </a:endParaRPr>
          </a:p>
        </p:txBody>
      </p:sp>
      <p:sp>
        <p:nvSpPr>
          <p:cNvPr id="399" name="Google Shape;399;p37"/>
          <p:cNvSpPr txBox="1"/>
          <p:nvPr/>
        </p:nvSpPr>
        <p:spPr>
          <a:xfrm>
            <a:off x="1118675" y="4037800"/>
            <a:ext cx="4012800" cy="6567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1100" b="1">
                <a:solidFill>
                  <a:schemeClr val="dk1"/>
                </a:solidFill>
              </a:rPr>
              <a:t>Promoting Responsible Use:</a:t>
            </a:r>
            <a:r>
              <a:rPr lang="en" sz="1100">
                <a:solidFill>
                  <a:schemeClr val="dk1"/>
                </a:solidFill>
              </a:rPr>
              <a:t> Martha Stewart's emphasis on wellness and lifestyle aligns with the joint venture's goal of promoting responsible and informed cannabis consumption, contributing to positive industry norms and regulations.</a:t>
            </a:r>
            <a:endParaRPr sz="1100">
              <a:solidFill>
                <a:schemeClr val="dk1"/>
              </a:solidFill>
            </a:endParaRPr>
          </a:p>
          <a:p>
            <a:pPr marL="0" lvl="0" indent="0" algn="l" rtl="0">
              <a:spcBef>
                <a:spcPts val="800"/>
              </a:spcBef>
              <a:spcAft>
                <a:spcPts val="0"/>
              </a:spcAft>
              <a:buNone/>
            </a:pPr>
            <a:endParaRPr sz="1100" b="1">
              <a:solidFill>
                <a:schemeClr val="dk1"/>
              </a:solidFill>
            </a:endParaRPr>
          </a:p>
        </p:txBody>
      </p:sp>
      <p:sp>
        <p:nvSpPr>
          <p:cNvPr id="400" name="Google Shape;400;p37"/>
          <p:cNvSpPr/>
          <p:nvPr/>
        </p:nvSpPr>
        <p:spPr>
          <a:xfrm>
            <a:off x="5204300" y="1276750"/>
            <a:ext cx="741600" cy="37209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 name="Google Shape;401;p37"/>
          <p:cNvSpPr txBox="1"/>
          <p:nvPr/>
        </p:nvSpPr>
        <p:spPr>
          <a:xfrm>
            <a:off x="5945900" y="1525950"/>
            <a:ext cx="2918400" cy="28149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1300">
                <a:solidFill>
                  <a:schemeClr val="dk1"/>
                </a:solidFill>
              </a:rPr>
              <a:t>Overall, while there are potential risks and challenges, the partnership between Martha Stewart and Canopy Growth demonstrates a strategic fit that leverages each other's strengths to capitalize on the opportunities presented by the evolving cannabis industry landscape.</a:t>
            </a:r>
            <a:endParaRPr sz="1300">
              <a:solidFill>
                <a:schemeClr val="dk1"/>
              </a:solidFill>
            </a:endParaRPr>
          </a:p>
          <a:p>
            <a:pPr marL="0" lvl="0" indent="0" algn="l" rtl="0">
              <a:spcBef>
                <a:spcPts val="800"/>
              </a:spcBef>
              <a:spcAft>
                <a:spcPts val="0"/>
              </a:spcAft>
              <a:buNone/>
            </a:pPr>
            <a:endParaRPr sz="1300">
              <a:solidFill>
                <a:schemeClr val="dk1"/>
              </a:solidFill>
            </a:endParaRPr>
          </a:p>
        </p:txBody>
      </p:sp>
      <p:sp>
        <p:nvSpPr>
          <p:cNvPr id="2" name="Slide Number Placeholder 1">
            <a:extLst>
              <a:ext uri="{FF2B5EF4-FFF2-40B4-BE49-F238E27FC236}">
                <a16:creationId xmlns:a16="http://schemas.microsoft.com/office/drawing/2014/main" id="{BE7F75F4-1189-4318-96A3-1479581B40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8"/>
          <p:cNvSpPr txBox="1">
            <a:spLocks noGrp="1"/>
          </p:cNvSpPr>
          <p:nvPr>
            <p:ph type="title"/>
          </p:nvPr>
        </p:nvSpPr>
        <p:spPr>
          <a:xfrm>
            <a:off x="105000" y="104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problems did we identified? </a:t>
            </a:r>
            <a:endParaRPr/>
          </a:p>
        </p:txBody>
      </p:sp>
      <p:sp>
        <p:nvSpPr>
          <p:cNvPr id="407" name="Google Shape;407;p38"/>
          <p:cNvSpPr txBox="1"/>
          <p:nvPr/>
        </p:nvSpPr>
        <p:spPr>
          <a:xfrm>
            <a:off x="972775" y="1082200"/>
            <a:ext cx="6286500" cy="22983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1300">
                <a:solidFill>
                  <a:schemeClr val="dk1"/>
                </a:solidFill>
                <a:highlight>
                  <a:srgbClr val="FFFFFF"/>
                </a:highlight>
              </a:rPr>
              <a:t>The problem of insufficient market penetration and brand positioning in the cannabis industry affects Martha Stewart Living Omnimedia and Canopy Growth Corporation, the joint venture partners. The impacts of this issue include limited market share, suboptimal brand recognition, and missed revenue opportunities. A successful solution would result in increased market share, enhanced brand visibility, and higher profitability for the joint venture.</a:t>
            </a:r>
            <a:endParaRPr sz="1300">
              <a:solidFill>
                <a:schemeClr val="dk1"/>
              </a:solidFill>
              <a:highlight>
                <a:srgbClr val="FFFFFF"/>
              </a:highlight>
            </a:endParaRPr>
          </a:p>
          <a:p>
            <a:pPr marL="0" lvl="0" indent="0" algn="l" rtl="0">
              <a:spcBef>
                <a:spcPts val="800"/>
              </a:spcBef>
              <a:spcAft>
                <a:spcPts val="0"/>
              </a:spcAft>
              <a:buNone/>
            </a:pPr>
            <a:endParaRPr sz="2000">
              <a:solidFill>
                <a:schemeClr val="dk1"/>
              </a:solidFill>
            </a:endParaRPr>
          </a:p>
        </p:txBody>
      </p:sp>
      <p:sp>
        <p:nvSpPr>
          <p:cNvPr id="2" name="Slide Number Placeholder 1">
            <a:extLst>
              <a:ext uri="{FF2B5EF4-FFF2-40B4-BE49-F238E27FC236}">
                <a16:creationId xmlns:a16="http://schemas.microsoft.com/office/drawing/2014/main" id="{3D5FF4F8-1B04-B9FC-7CBB-3A142D850E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9"/>
          <p:cNvSpPr txBox="1">
            <a:spLocks noGrp="1"/>
          </p:cNvSpPr>
          <p:nvPr>
            <p:ph type="title"/>
          </p:nvPr>
        </p:nvSpPr>
        <p:spPr>
          <a:xfrm>
            <a:off x="311700" y="1167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did we examine, and can we backup our problem?</a:t>
            </a:r>
            <a:endParaRPr dirty="0"/>
          </a:p>
        </p:txBody>
      </p:sp>
      <p:sp>
        <p:nvSpPr>
          <p:cNvPr id="413" name="Google Shape;413;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1500"/>
              </a:spcBef>
              <a:spcAft>
                <a:spcPts val="0"/>
              </a:spcAft>
              <a:buClr>
                <a:schemeClr val="dk1"/>
              </a:buClr>
              <a:buSzPts val="1100"/>
              <a:buFont typeface="Arial"/>
              <a:buNone/>
            </a:pPr>
            <a:r>
              <a:rPr lang="en" sz="1500">
                <a:solidFill>
                  <a:schemeClr val="dk1"/>
                </a:solidFill>
                <a:highlight>
                  <a:srgbClr val="FFFFFF"/>
                </a:highlight>
                <a:latin typeface="Roboto"/>
                <a:ea typeface="Roboto"/>
                <a:cs typeface="Roboto"/>
                <a:sym typeface="Roboto"/>
              </a:rPr>
              <a:t>The problem identified revolves around </a:t>
            </a:r>
            <a:r>
              <a:rPr lang="en" sz="1500" b="1">
                <a:solidFill>
                  <a:schemeClr val="dk1"/>
                </a:solidFill>
                <a:highlight>
                  <a:srgbClr val="FFFFFF"/>
                </a:highlight>
                <a:latin typeface="Roboto"/>
                <a:ea typeface="Roboto"/>
                <a:cs typeface="Roboto"/>
                <a:sym typeface="Roboto"/>
              </a:rPr>
              <a:t>insufficient market penetration </a:t>
            </a:r>
            <a:r>
              <a:rPr lang="en" sz="1500">
                <a:solidFill>
                  <a:schemeClr val="dk1"/>
                </a:solidFill>
                <a:highlight>
                  <a:srgbClr val="FFFFFF"/>
                </a:highlight>
                <a:latin typeface="Roboto"/>
                <a:ea typeface="Roboto"/>
                <a:cs typeface="Roboto"/>
                <a:sym typeface="Roboto"/>
              </a:rPr>
              <a:t>and </a:t>
            </a:r>
            <a:r>
              <a:rPr lang="en" sz="1500" b="1">
                <a:solidFill>
                  <a:schemeClr val="dk1"/>
                </a:solidFill>
                <a:highlight>
                  <a:srgbClr val="FFFFFF"/>
                </a:highlight>
                <a:latin typeface="Roboto"/>
                <a:ea typeface="Roboto"/>
                <a:cs typeface="Roboto"/>
                <a:sym typeface="Roboto"/>
              </a:rPr>
              <a:t>brand positioning </a:t>
            </a:r>
            <a:r>
              <a:rPr lang="en" sz="1500">
                <a:solidFill>
                  <a:schemeClr val="dk1"/>
                </a:solidFill>
                <a:highlight>
                  <a:srgbClr val="FFFFFF"/>
                </a:highlight>
                <a:latin typeface="Roboto"/>
                <a:ea typeface="Roboto"/>
                <a:cs typeface="Roboto"/>
                <a:sym typeface="Roboto"/>
              </a:rPr>
              <a:t>within the cannabis industry, affecting both Martha Stewart Living Omnimedia and Canopy Growth Corporation, the joint venture partners. This issue is critical as it directly impacts various aspects of the joint venture's performance, including </a:t>
            </a:r>
            <a:r>
              <a:rPr lang="en" sz="1500" b="1">
                <a:solidFill>
                  <a:schemeClr val="dk1"/>
                </a:solidFill>
                <a:highlight>
                  <a:srgbClr val="FFFFFF"/>
                </a:highlight>
                <a:latin typeface="Roboto"/>
                <a:ea typeface="Roboto"/>
                <a:cs typeface="Roboto"/>
                <a:sym typeface="Roboto"/>
              </a:rPr>
              <a:t>limited market share</a:t>
            </a:r>
            <a:r>
              <a:rPr lang="en" sz="1500">
                <a:solidFill>
                  <a:schemeClr val="dk1"/>
                </a:solidFill>
                <a:highlight>
                  <a:srgbClr val="FFFFFF"/>
                </a:highlight>
                <a:latin typeface="Roboto"/>
                <a:ea typeface="Roboto"/>
                <a:cs typeface="Roboto"/>
                <a:sym typeface="Roboto"/>
              </a:rPr>
              <a:t>, </a:t>
            </a:r>
            <a:r>
              <a:rPr lang="en" sz="1500" b="1">
                <a:solidFill>
                  <a:schemeClr val="dk1"/>
                </a:solidFill>
                <a:highlight>
                  <a:srgbClr val="FFFFFF"/>
                </a:highlight>
                <a:latin typeface="Roboto"/>
                <a:ea typeface="Roboto"/>
                <a:cs typeface="Roboto"/>
                <a:sym typeface="Roboto"/>
              </a:rPr>
              <a:t>suboptimal brand recognition</a:t>
            </a:r>
            <a:r>
              <a:rPr lang="en" sz="1500">
                <a:solidFill>
                  <a:schemeClr val="dk1"/>
                </a:solidFill>
                <a:highlight>
                  <a:srgbClr val="FFFFFF"/>
                </a:highlight>
                <a:latin typeface="Roboto"/>
                <a:ea typeface="Roboto"/>
                <a:cs typeface="Roboto"/>
                <a:sym typeface="Roboto"/>
              </a:rPr>
              <a:t>, and </a:t>
            </a:r>
            <a:r>
              <a:rPr lang="en" sz="1500" b="1">
                <a:solidFill>
                  <a:schemeClr val="dk1"/>
                </a:solidFill>
                <a:highlight>
                  <a:srgbClr val="FFFFFF"/>
                </a:highlight>
                <a:latin typeface="Roboto"/>
                <a:ea typeface="Roboto"/>
                <a:cs typeface="Roboto"/>
                <a:sym typeface="Roboto"/>
              </a:rPr>
              <a:t>missed revenue opportunities</a:t>
            </a:r>
            <a:r>
              <a:rPr lang="en" sz="1500">
                <a:solidFill>
                  <a:schemeClr val="dk1"/>
                </a:solidFill>
                <a:highlight>
                  <a:srgbClr val="FFFFFF"/>
                </a:highlight>
                <a:latin typeface="Roboto"/>
                <a:ea typeface="Roboto"/>
                <a:cs typeface="Roboto"/>
                <a:sym typeface="Roboto"/>
              </a:rPr>
              <a:t>. </a:t>
            </a:r>
            <a:br>
              <a:rPr lang="en" sz="1500">
                <a:solidFill>
                  <a:schemeClr val="dk1"/>
                </a:solidFill>
                <a:highlight>
                  <a:srgbClr val="FFFFFF"/>
                </a:highlight>
                <a:latin typeface="Roboto"/>
                <a:ea typeface="Roboto"/>
                <a:cs typeface="Roboto"/>
                <a:sym typeface="Roboto"/>
              </a:rPr>
            </a:br>
            <a:r>
              <a:rPr lang="en" sz="1500">
                <a:solidFill>
                  <a:schemeClr val="dk1"/>
                </a:solidFill>
                <a:highlight>
                  <a:srgbClr val="FFFFFF"/>
                </a:highlight>
                <a:latin typeface="Roboto"/>
                <a:ea typeface="Roboto"/>
                <a:cs typeface="Roboto"/>
                <a:sym typeface="Roboto"/>
              </a:rPr>
              <a:t>The analysis reveals that despite the joint venture's collaboration and the reputable brand association with Martha Stewart, it has not effectively penetrated the cannabis market nor positioned itself as a prominent player within the industry. This lack of market penetration and brand positioning hinders the joint venture's ability to capitalize on the growing demand for cannabis products, resulting in untapped revenue potential and underperformance compared to competitors. Therefore, addressing this problem is crucial to achieving increased market share, enhanced brand visibility, and higher profitability for the joint venture.</a:t>
            </a:r>
            <a:endParaRPr sz="1500">
              <a:solidFill>
                <a:schemeClr val="dk1"/>
              </a:solidFill>
              <a:highlight>
                <a:srgbClr val="FFFFFF"/>
              </a:highlight>
              <a:latin typeface="Roboto"/>
              <a:ea typeface="Roboto"/>
              <a:cs typeface="Roboto"/>
              <a:sym typeface="Roboto"/>
            </a:endParaRPr>
          </a:p>
          <a:p>
            <a:pPr marL="0" lvl="0" indent="0" algn="l" rtl="0">
              <a:spcBef>
                <a:spcPts val="1500"/>
              </a:spcBef>
              <a:spcAft>
                <a:spcPts val="0"/>
              </a:spcAft>
              <a:buClr>
                <a:schemeClr val="dk1"/>
              </a:buClr>
              <a:buSzPts val="1100"/>
              <a:buFont typeface="Arial"/>
              <a:buNone/>
            </a:pPr>
            <a:endParaRPr sz="1400">
              <a:solidFill>
                <a:schemeClr val="dk1"/>
              </a:solidFill>
            </a:endParaRPr>
          </a:p>
        </p:txBody>
      </p:sp>
      <p:sp>
        <p:nvSpPr>
          <p:cNvPr id="2" name="Slide Number Placeholder 1">
            <a:extLst>
              <a:ext uri="{FF2B5EF4-FFF2-40B4-BE49-F238E27FC236}">
                <a16:creationId xmlns:a16="http://schemas.microsoft.com/office/drawing/2014/main" id="{584D78DE-936E-753B-3187-0A38FA51B9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0"/>
          <p:cNvSpPr txBox="1">
            <a:spLocks noGrp="1"/>
          </p:cNvSpPr>
          <p:nvPr>
            <p:ph type="title"/>
          </p:nvPr>
        </p:nvSpPr>
        <p:spPr>
          <a:xfrm>
            <a:off x="92825" y="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50000"/>
              </a:lnSpc>
              <a:spcBef>
                <a:spcPts val="0"/>
              </a:spcBef>
              <a:spcAft>
                <a:spcPts val="0"/>
              </a:spcAft>
              <a:buClr>
                <a:schemeClr val="dk1"/>
              </a:buClr>
              <a:buSzPct val="42672"/>
              <a:buFont typeface="Arial"/>
              <a:buNone/>
            </a:pPr>
            <a:r>
              <a:rPr lang="en" sz="2320"/>
              <a:t>We have divided the market into four segment, and assessed them in-terms for different criteria below:</a:t>
            </a:r>
            <a:endParaRPr sz="2320"/>
          </a:p>
          <a:p>
            <a:pPr marL="0" lvl="0" indent="0" algn="l" rtl="0">
              <a:spcBef>
                <a:spcPts val="800"/>
              </a:spcBef>
              <a:spcAft>
                <a:spcPts val="0"/>
              </a:spcAft>
              <a:buNone/>
            </a:pPr>
            <a:endParaRPr/>
          </a:p>
        </p:txBody>
      </p:sp>
      <p:pic>
        <p:nvPicPr>
          <p:cNvPr id="419" name="Google Shape;419;p40"/>
          <p:cNvPicPr preferRelativeResize="0"/>
          <p:nvPr/>
        </p:nvPicPr>
        <p:blipFill>
          <a:blip r:embed="rId3">
            <a:alphaModFix/>
          </a:blip>
          <a:stretch>
            <a:fillRect/>
          </a:stretch>
        </p:blipFill>
        <p:spPr>
          <a:xfrm>
            <a:off x="149025" y="572700"/>
            <a:ext cx="6130575" cy="4485676"/>
          </a:xfrm>
          <a:prstGeom prst="rect">
            <a:avLst/>
          </a:prstGeom>
          <a:noFill/>
          <a:ln>
            <a:noFill/>
          </a:ln>
        </p:spPr>
      </p:pic>
      <p:sp>
        <p:nvSpPr>
          <p:cNvPr id="420" name="Google Shape;420;p40"/>
          <p:cNvSpPr txBox="1"/>
          <p:nvPr/>
        </p:nvSpPr>
        <p:spPr>
          <a:xfrm>
            <a:off x="6339425" y="875475"/>
            <a:ext cx="2646600" cy="40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00">
              <a:solidFill>
                <a:schemeClr val="dk1"/>
              </a:solidFill>
            </a:endParaRPr>
          </a:p>
          <a:p>
            <a:pPr marL="0" lvl="0" indent="0" algn="l" rtl="0">
              <a:spcBef>
                <a:spcPts val="0"/>
              </a:spcBef>
              <a:spcAft>
                <a:spcPts val="0"/>
              </a:spcAft>
              <a:buNone/>
            </a:pPr>
            <a:r>
              <a:rPr lang="en" sz="1500">
                <a:solidFill>
                  <a:schemeClr val="dk1"/>
                </a:solidFill>
              </a:rPr>
              <a:t>Upon careful study, Martha Stewart and Canopy Growth Corporation determined that addressing the Medical Cannabis Patients sector was the best option. This area provides significant prospects for distinction, is consistent with the firms' commitment to quality and standards, and meets the expanding need for medical cannabis goods and services.</a:t>
            </a:r>
            <a:endParaRPr sz="1500">
              <a:solidFill>
                <a:schemeClr val="dk1"/>
              </a:solidFill>
            </a:endParaRPr>
          </a:p>
        </p:txBody>
      </p:sp>
      <p:sp>
        <p:nvSpPr>
          <p:cNvPr id="2" name="Slide Number Placeholder 1">
            <a:extLst>
              <a:ext uri="{FF2B5EF4-FFF2-40B4-BE49-F238E27FC236}">
                <a16:creationId xmlns:a16="http://schemas.microsoft.com/office/drawing/2014/main" id="{E04BE03F-ED81-AACE-44B4-A51B97E407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1"/>
          <p:cNvSpPr txBox="1">
            <a:spLocks noGrp="1"/>
          </p:cNvSpPr>
          <p:nvPr>
            <p:ph type="title"/>
          </p:nvPr>
        </p:nvSpPr>
        <p:spPr>
          <a:xfrm>
            <a:off x="106850" y="2825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Let's talk in detail</a:t>
            </a:r>
            <a:endParaRPr/>
          </a:p>
        </p:txBody>
      </p:sp>
      <p:grpSp>
        <p:nvGrpSpPr>
          <p:cNvPr id="426" name="Google Shape;426;p41"/>
          <p:cNvGrpSpPr/>
          <p:nvPr/>
        </p:nvGrpSpPr>
        <p:grpSpPr>
          <a:xfrm>
            <a:off x="0" y="1189989"/>
            <a:ext cx="2726700" cy="3284711"/>
            <a:chOff x="0" y="1189989"/>
            <a:chExt cx="2726700" cy="3284711"/>
          </a:xfrm>
        </p:grpSpPr>
        <p:sp>
          <p:nvSpPr>
            <p:cNvPr id="427" name="Google Shape;427;p41"/>
            <p:cNvSpPr/>
            <p:nvPr/>
          </p:nvSpPr>
          <p:spPr>
            <a:xfrm>
              <a:off x="0" y="1189989"/>
              <a:ext cx="2726700" cy="669000"/>
            </a:xfrm>
            <a:prstGeom prst="homePlate">
              <a:avLst>
                <a:gd name="adj" fmla="val 50000"/>
              </a:avLst>
            </a:prstGeom>
            <a:solidFill>
              <a:srgbClr val="2F2F2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0D0D0D"/>
                  </a:solidFill>
                  <a:highlight>
                    <a:srgbClr val="FFFFFF"/>
                  </a:highlight>
                  <a:latin typeface="Roboto"/>
                  <a:ea typeface="Roboto"/>
                  <a:cs typeface="Roboto"/>
                  <a:sym typeface="Roboto"/>
                </a:rPr>
                <a:t>Health-Conscious Consumers:</a:t>
              </a:r>
              <a:endParaRPr>
                <a:solidFill>
                  <a:srgbClr val="FFFFFF"/>
                </a:solidFill>
                <a:latin typeface="Roboto"/>
                <a:ea typeface="Roboto"/>
                <a:cs typeface="Roboto"/>
                <a:sym typeface="Roboto"/>
              </a:endParaRPr>
            </a:p>
          </p:txBody>
        </p:sp>
        <p:sp>
          <p:nvSpPr>
            <p:cNvPr id="428" name="Google Shape;428;p41"/>
            <p:cNvSpPr txBox="1"/>
            <p:nvPr/>
          </p:nvSpPr>
          <p:spPr>
            <a:xfrm>
              <a:off x="106850" y="1859000"/>
              <a:ext cx="19050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While this segment is measurable and accessible, it may lack substantial differentiation in terms of cannabis product preferences compared to other health and wellness products. Additionally, targeting this segment may require additional efforts to educate consumers about the benefits of cannabis.</a:t>
              </a:r>
              <a:endParaRPr sz="1200">
                <a:latin typeface="Roboto"/>
                <a:ea typeface="Roboto"/>
                <a:cs typeface="Roboto"/>
                <a:sym typeface="Roboto"/>
              </a:endParaRPr>
            </a:p>
          </p:txBody>
        </p:sp>
      </p:grpSp>
      <p:grpSp>
        <p:nvGrpSpPr>
          <p:cNvPr id="429" name="Google Shape;429;p41"/>
          <p:cNvGrpSpPr/>
          <p:nvPr/>
        </p:nvGrpSpPr>
        <p:grpSpPr>
          <a:xfrm>
            <a:off x="2263425" y="1189775"/>
            <a:ext cx="2541300" cy="3284700"/>
            <a:chOff x="2263425" y="1189775"/>
            <a:chExt cx="2541300" cy="3284700"/>
          </a:xfrm>
        </p:grpSpPr>
        <p:sp>
          <p:nvSpPr>
            <p:cNvPr id="430" name="Google Shape;430;p41"/>
            <p:cNvSpPr/>
            <p:nvPr/>
          </p:nvSpPr>
          <p:spPr>
            <a:xfrm>
              <a:off x="2263425" y="1189775"/>
              <a:ext cx="2541300" cy="669000"/>
            </a:xfrm>
            <a:prstGeom prst="chevron">
              <a:avLst>
                <a:gd name="adj" fmla="val 50000"/>
              </a:avLst>
            </a:prstGeom>
            <a:solidFill>
              <a:srgbClr val="3D3D3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0D0D0D"/>
                  </a:solidFill>
                  <a:highlight>
                    <a:srgbClr val="FFFFFF"/>
                  </a:highlight>
                  <a:latin typeface="Roboto"/>
                  <a:ea typeface="Roboto"/>
                  <a:cs typeface="Roboto"/>
                  <a:sym typeface="Roboto"/>
                </a:rPr>
                <a:t>Recreational Users:</a:t>
              </a:r>
              <a:endParaRPr>
                <a:solidFill>
                  <a:srgbClr val="FFFFFF"/>
                </a:solidFill>
                <a:latin typeface="Roboto"/>
                <a:ea typeface="Roboto"/>
                <a:cs typeface="Roboto"/>
                <a:sym typeface="Roboto"/>
              </a:endParaRPr>
            </a:p>
          </p:txBody>
        </p:sp>
        <p:sp>
          <p:nvSpPr>
            <p:cNvPr id="431" name="Google Shape;431;p41"/>
            <p:cNvSpPr txBox="1"/>
            <p:nvPr/>
          </p:nvSpPr>
          <p:spPr>
            <a:xfrm>
              <a:off x="2424977" y="1858775"/>
              <a:ext cx="19050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Although accessible, the recreational user segment may not provide substantial differentiation opportunities, as it's a broad and diverse market with numerous competitors. Moreover, the legality and regulations surrounding recreational cannabis use vary by region, posing challenges for market penetration.</a:t>
              </a:r>
              <a:endParaRPr sz="1200">
                <a:latin typeface="Roboto"/>
                <a:ea typeface="Roboto"/>
                <a:cs typeface="Roboto"/>
                <a:sym typeface="Roboto"/>
              </a:endParaRPr>
            </a:p>
          </p:txBody>
        </p:sp>
      </p:grpSp>
      <p:grpSp>
        <p:nvGrpSpPr>
          <p:cNvPr id="432" name="Google Shape;432;p41"/>
          <p:cNvGrpSpPr/>
          <p:nvPr/>
        </p:nvGrpSpPr>
        <p:grpSpPr>
          <a:xfrm>
            <a:off x="4329974" y="1189775"/>
            <a:ext cx="2541300" cy="3284700"/>
            <a:chOff x="4329974" y="1189775"/>
            <a:chExt cx="2541300" cy="3284700"/>
          </a:xfrm>
        </p:grpSpPr>
        <p:sp>
          <p:nvSpPr>
            <p:cNvPr id="433" name="Google Shape;433;p41"/>
            <p:cNvSpPr/>
            <p:nvPr/>
          </p:nvSpPr>
          <p:spPr>
            <a:xfrm>
              <a:off x="4329974" y="1189775"/>
              <a:ext cx="2541300" cy="669000"/>
            </a:xfrm>
            <a:prstGeom prst="chevron">
              <a:avLst>
                <a:gd name="adj" fmla="val 50000"/>
              </a:avLst>
            </a:prstGeom>
            <a:solidFill>
              <a:srgbClr val="4141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0D0D0D"/>
                  </a:solidFill>
                  <a:highlight>
                    <a:srgbClr val="FFFFFF"/>
                  </a:highlight>
                  <a:latin typeface="Roboto"/>
                  <a:ea typeface="Roboto"/>
                  <a:cs typeface="Roboto"/>
                  <a:sym typeface="Roboto"/>
                </a:rPr>
                <a:t>Medical Cannabis Patients: </a:t>
              </a:r>
              <a:endParaRPr>
                <a:solidFill>
                  <a:srgbClr val="FFFFFF"/>
                </a:solidFill>
                <a:latin typeface="Roboto"/>
                <a:ea typeface="Roboto"/>
                <a:cs typeface="Roboto"/>
                <a:sym typeface="Roboto"/>
              </a:endParaRPr>
            </a:p>
          </p:txBody>
        </p:sp>
        <p:sp>
          <p:nvSpPr>
            <p:cNvPr id="434" name="Google Shape;434;p41"/>
            <p:cNvSpPr txBox="1"/>
            <p:nvPr/>
          </p:nvSpPr>
          <p:spPr>
            <a:xfrm>
              <a:off x="4491750" y="1858775"/>
              <a:ext cx="23298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This segment demonstrates substantial potential due to the growing demand for medical cannabis products and services. It offers opportunities for differentiation based on product efficacy, safety, and tailored solutions for specific medical conditions. Additionally, targeting medical patients aligns with the companies' commitment to quality and standards, enhancing brand reputation and trust.</a:t>
              </a:r>
              <a:endParaRPr sz="1200">
                <a:latin typeface="Roboto"/>
                <a:ea typeface="Roboto"/>
                <a:cs typeface="Roboto"/>
                <a:sym typeface="Roboto"/>
              </a:endParaRPr>
            </a:p>
          </p:txBody>
        </p:sp>
      </p:grpSp>
      <p:grpSp>
        <p:nvGrpSpPr>
          <p:cNvPr id="435" name="Google Shape;435;p41"/>
          <p:cNvGrpSpPr/>
          <p:nvPr/>
        </p:nvGrpSpPr>
        <p:grpSpPr>
          <a:xfrm>
            <a:off x="6396739" y="1189775"/>
            <a:ext cx="2541300" cy="3284700"/>
            <a:chOff x="6396739" y="1189775"/>
            <a:chExt cx="2541300" cy="3284700"/>
          </a:xfrm>
        </p:grpSpPr>
        <p:sp>
          <p:nvSpPr>
            <p:cNvPr id="436" name="Google Shape;436;p41"/>
            <p:cNvSpPr/>
            <p:nvPr/>
          </p:nvSpPr>
          <p:spPr>
            <a:xfrm>
              <a:off x="6396739" y="1189775"/>
              <a:ext cx="2541300" cy="669000"/>
            </a:xfrm>
            <a:prstGeom prst="chevron">
              <a:avLst>
                <a:gd name="adj" fmla="val 50000"/>
              </a:avLst>
            </a:prstGeom>
            <a:solidFill>
              <a:srgbClr val="4646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0D0D0D"/>
                  </a:solidFill>
                  <a:highlight>
                    <a:srgbClr val="FFFFFF"/>
                  </a:highlight>
                  <a:latin typeface="Roboto"/>
                  <a:ea typeface="Roboto"/>
                  <a:cs typeface="Roboto"/>
                  <a:sym typeface="Roboto"/>
                </a:rPr>
                <a:t>Culinary Industry:</a:t>
              </a:r>
              <a:endParaRPr>
                <a:solidFill>
                  <a:srgbClr val="FFFFFF"/>
                </a:solidFill>
                <a:latin typeface="Roboto"/>
                <a:ea typeface="Roboto"/>
                <a:cs typeface="Roboto"/>
                <a:sym typeface="Roboto"/>
              </a:endParaRPr>
            </a:p>
          </p:txBody>
        </p:sp>
        <p:sp>
          <p:nvSpPr>
            <p:cNvPr id="437" name="Google Shape;437;p41"/>
            <p:cNvSpPr txBox="1"/>
            <p:nvPr/>
          </p:nvSpPr>
          <p:spPr>
            <a:xfrm>
              <a:off x="6775700" y="1858775"/>
              <a:ext cx="20565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0D0D0D"/>
                  </a:solidFill>
                  <a:highlight>
                    <a:srgbClr val="FFFFFF"/>
                  </a:highlight>
                  <a:latin typeface="Roboto"/>
                  <a:ea typeface="Roboto"/>
                  <a:cs typeface="Roboto"/>
                  <a:sym typeface="Roboto"/>
                </a:rPr>
                <a:t>While measurable and potentially accessible, the culinary industry segment may lack substantial differentiation within the cannabis market. Integrating cannabis into culinary practices presents unique opportunities, but it may not be the primary focus for Martha Stewart and Canopy Growth Corporation's partnership.</a:t>
              </a:r>
              <a:endParaRPr sz="1200">
                <a:latin typeface="Roboto"/>
                <a:ea typeface="Roboto"/>
                <a:cs typeface="Roboto"/>
                <a:sym typeface="Roboto"/>
              </a:endParaRPr>
            </a:p>
          </p:txBody>
        </p:sp>
      </p:grpSp>
      <p:sp>
        <p:nvSpPr>
          <p:cNvPr id="2" name="Left-Up Arrow 1">
            <a:extLst>
              <a:ext uri="{FF2B5EF4-FFF2-40B4-BE49-F238E27FC236}">
                <a16:creationId xmlns:a16="http://schemas.microsoft.com/office/drawing/2014/main" id="{81F30396-E8F2-2631-815F-31C18E8F2384}"/>
              </a:ext>
            </a:extLst>
          </p:cNvPr>
          <p:cNvSpPr/>
          <p:nvPr/>
        </p:nvSpPr>
        <p:spPr>
          <a:xfrm rot="10800000">
            <a:off x="1659921" y="385347"/>
            <a:ext cx="1207008" cy="787439"/>
          </a:xfrm>
          <a:prstGeom prst="lef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Left-Up Arrow 4">
            <a:extLst>
              <a:ext uri="{FF2B5EF4-FFF2-40B4-BE49-F238E27FC236}">
                <a16:creationId xmlns:a16="http://schemas.microsoft.com/office/drawing/2014/main" id="{FA9C1524-47D5-F4DC-51F3-80BC875986F4}"/>
              </a:ext>
            </a:extLst>
          </p:cNvPr>
          <p:cNvSpPr/>
          <p:nvPr/>
        </p:nvSpPr>
        <p:spPr>
          <a:xfrm rot="10800000" flipH="1">
            <a:off x="5884590" y="375831"/>
            <a:ext cx="1207008" cy="787439"/>
          </a:xfrm>
          <a:prstGeom prst="lef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7DCE0E37-DD81-635F-A592-27716B3596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2"/>
          <p:cNvSpPr txBox="1">
            <a:spLocks noGrp="1"/>
          </p:cNvSpPr>
          <p:nvPr>
            <p:ph type="title"/>
          </p:nvPr>
        </p:nvSpPr>
        <p:spPr>
          <a:xfrm>
            <a:off x="92825" y="923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TARGET MARKET SEGMENTATION</a:t>
            </a:r>
            <a:endParaRPr/>
          </a:p>
        </p:txBody>
      </p:sp>
      <p:pic>
        <p:nvPicPr>
          <p:cNvPr id="443" name="Google Shape;443;p42"/>
          <p:cNvPicPr preferRelativeResize="0"/>
          <p:nvPr/>
        </p:nvPicPr>
        <p:blipFill>
          <a:blip r:embed="rId3">
            <a:alphaModFix/>
          </a:blip>
          <a:stretch>
            <a:fillRect/>
          </a:stretch>
        </p:blipFill>
        <p:spPr>
          <a:xfrm>
            <a:off x="213200" y="665075"/>
            <a:ext cx="5355876" cy="4424926"/>
          </a:xfrm>
          <a:prstGeom prst="rect">
            <a:avLst/>
          </a:prstGeom>
          <a:noFill/>
          <a:ln>
            <a:noFill/>
          </a:ln>
        </p:spPr>
      </p:pic>
      <p:sp>
        <p:nvSpPr>
          <p:cNvPr id="444" name="Google Shape;444;p42"/>
          <p:cNvSpPr txBox="1"/>
          <p:nvPr/>
        </p:nvSpPr>
        <p:spPr>
          <a:xfrm>
            <a:off x="5824425" y="1325400"/>
            <a:ext cx="3088500" cy="29427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1500">
                <a:solidFill>
                  <a:schemeClr val="dk1"/>
                </a:solidFill>
                <a:highlight>
                  <a:srgbClr val="FFFFFF"/>
                </a:highlight>
              </a:rPr>
              <a:t>Based on our evaluation, we recommend targeting the following segment(s) as the primary audience for Martha Stewart and Canopy Growth Corporation</a:t>
            </a:r>
            <a:r>
              <a:rPr lang="en" sz="1500">
                <a:solidFill>
                  <a:schemeClr val="dk1"/>
                </a:solidFill>
              </a:rPr>
              <a:t> Medical Cannabis Patients.</a:t>
            </a:r>
            <a:endParaRPr sz="1500">
              <a:solidFill>
                <a:schemeClr val="dk1"/>
              </a:solidFill>
            </a:endParaRPr>
          </a:p>
          <a:p>
            <a:pPr marL="0" lvl="0" indent="0" algn="l" rtl="0">
              <a:spcBef>
                <a:spcPts val="800"/>
              </a:spcBef>
              <a:spcAft>
                <a:spcPts val="0"/>
              </a:spcAft>
              <a:buNone/>
            </a:pPr>
            <a:endParaRPr sz="1800">
              <a:solidFill>
                <a:schemeClr val="dk2"/>
              </a:solidFill>
            </a:endParaRPr>
          </a:p>
        </p:txBody>
      </p:sp>
      <p:sp>
        <p:nvSpPr>
          <p:cNvPr id="2" name="Slide Number Placeholder 1">
            <a:extLst>
              <a:ext uri="{FF2B5EF4-FFF2-40B4-BE49-F238E27FC236}">
                <a16:creationId xmlns:a16="http://schemas.microsoft.com/office/drawing/2014/main" id="{9AEB9586-AA39-10B1-751B-0FFCB057BE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43"/>
          <p:cNvSpPr txBox="1">
            <a:spLocks noGrp="1"/>
          </p:cNvSpPr>
          <p:nvPr>
            <p:ph type="title"/>
          </p:nvPr>
        </p:nvSpPr>
        <p:spPr>
          <a:xfrm>
            <a:off x="80650" y="80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Lets deeply Analyze the target market segment </a:t>
            </a:r>
            <a:endParaRPr/>
          </a:p>
        </p:txBody>
      </p:sp>
      <p:sp>
        <p:nvSpPr>
          <p:cNvPr id="450" name="Google Shape;450;p43"/>
          <p:cNvSpPr txBox="1"/>
          <p:nvPr/>
        </p:nvSpPr>
        <p:spPr>
          <a:xfrm>
            <a:off x="80650" y="559325"/>
            <a:ext cx="8913000" cy="130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In the ever-changing legal cannabis sector, organizations must strategically target market groups in order to capitalize on emerging possibilities and generate long-term success. Businesses may find profitable audience segments that correspond with their services and objectives by doing thorough segmentation study. In this respect, this study provides a thorough analysis of possible market segments for Martha Stewart and Canopy Growth Corporation, concentrating on factors such as size, growth potential, accessibility, and compatibility. By assessing these criteria, the research hopes to give insight into the most appropriate target demographic for the joint venture's medicinal cannabis products.</a:t>
            </a:r>
            <a:endParaRPr sz="1300">
              <a:solidFill>
                <a:schemeClr val="dk1"/>
              </a:solidFill>
            </a:endParaRPr>
          </a:p>
        </p:txBody>
      </p:sp>
      <p:sp>
        <p:nvSpPr>
          <p:cNvPr id="451" name="Google Shape;451;p43"/>
          <p:cNvSpPr/>
          <p:nvPr/>
        </p:nvSpPr>
        <p:spPr>
          <a:xfrm>
            <a:off x="0" y="1860425"/>
            <a:ext cx="2152200" cy="3149400"/>
          </a:xfrm>
          <a:prstGeom prst="upArrowCallout">
            <a:avLst>
              <a:gd name="adj1" fmla="val 25000"/>
              <a:gd name="adj2" fmla="val 25000"/>
              <a:gd name="adj3" fmla="val 25000"/>
              <a:gd name="adj4" fmla="val 6497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Size: The segment of medical cannabis patients is substantial, comprising individuals seeking relief from various medical conditions such as chronic pain, anxiety, insomnia, and epilepsy. As more states allow medicinal cannabis, the potential client base grows.</a:t>
            </a:r>
            <a:endParaRPr sz="1200"/>
          </a:p>
        </p:txBody>
      </p:sp>
      <p:sp>
        <p:nvSpPr>
          <p:cNvPr id="452" name="Google Shape;452;p43"/>
          <p:cNvSpPr/>
          <p:nvPr/>
        </p:nvSpPr>
        <p:spPr>
          <a:xfrm>
            <a:off x="2243850" y="1860425"/>
            <a:ext cx="2328000" cy="3149400"/>
          </a:xfrm>
          <a:prstGeom prst="upArrowCallout">
            <a:avLst>
              <a:gd name="adj1" fmla="val 25000"/>
              <a:gd name="adj2" fmla="val 25000"/>
              <a:gd name="adj3" fmla="val 25000"/>
              <a:gd name="adj4" fmla="val 6497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Growth Potential: This segment demonstrates significant growth potential as more people turn to medical cannabis as an alternative or complementary treatment option. With growing consciousness and acceptance of marijuana' medicinal benefits, the category is expected to expand significantly.</a:t>
            </a:r>
            <a:endParaRPr sz="1200"/>
          </a:p>
        </p:txBody>
      </p:sp>
      <p:sp>
        <p:nvSpPr>
          <p:cNvPr id="453" name="Google Shape;453;p43"/>
          <p:cNvSpPr/>
          <p:nvPr/>
        </p:nvSpPr>
        <p:spPr>
          <a:xfrm>
            <a:off x="4663500" y="1860425"/>
            <a:ext cx="1917900" cy="3149400"/>
          </a:xfrm>
          <a:prstGeom prst="upArrowCallout">
            <a:avLst>
              <a:gd name="adj1" fmla="val 25000"/>
              <a:gd name="adj2" fmla="val 25000"/>
              <a:gd name="adj3" fmla="val 25000"/>
              <a:gd name="adj4" fmla="val 6497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Accessibility: Patients can obtain medical cannabis in areas where it is legal. Consumers can get medicinal cannabis products via regulated dispensaries, healthcare practitioners, and internet platforms, assuring ease of access.</a:t>
            </a:r>
            <a:endParaRPr sz="1200"/>
          </a:p>
        </p:txBody>
      </p:sp>
      <p:sp>
        <p:nvSpPr>
          <p:cNvPr id="454" name="Google Shape;454;p43"/>
          <p:cNvSpPr/>
          <p:nvPr/>
        </p:nvSpPr>
        <p:spPr>
          <a:xfrm>
            <a:off x="6673050" y="1860425"/>
            <a:ext cx="2470800" cy="3149400"/>
          </a:xfrm>
          <a:prstGeom prst="upArrowCallout">
            <a:avLst>
              <a:gd name="adj1" fmla="val 25000"/>
              <a:gd name="adj2" fmla="val 25000"/>
              <a:gd name="adj3" fmla="val 25000"/>
              <a:gd name="adj4" fmla="val 6497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Compatibility: Martha Stewart and Canopy Growth Corporation's solutions are well-suited to the requirements and tastes of medicinal cannabis consumers. Its high-quality CBD products, which include oils, soft gels, and edibles, have been designed to assist patients ease medical symptoms without producing euphoria.</a:t>
            </a:r>
            <a:endParaRPr sz="1200"/>
          </a:p>
        </p:txBody>
      </p:sp>
      <p:sp>
        <p:nvSpPr>
          <p:cNvPr id="2" name="Slide Number Placeholder 1">
            <a:extLst>
              <a:ext uri="{FF2B5EF4-FFF2-40B4-BE49-F238E27FC236}">
                <a16:creationId xmlns:a16="http://schemas.microsoft.com/office/drawing/2014/main" id="{E5C577D1-2BAC-FDDE-310E-332EDA36ED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44"/>
          <p:cNvSpPr txBox="1">
            <a:spLocks noGrp="1"/>
          </p:cNvSpPr>
          <p:nvPr>
            <p:ph type="title"/>
          </p:nvPr>
        </p:nvSpPr>
        <p:spPr>
          <a:xfrm>
            <a:off x="133750" y="802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1820"/>
              <a:t>PERCEPTUAL MAPS:1</a:t>
            </a:r>
            <a:endParaRPr sz="1820"/>
          </a:p>
        </p:txBody>
      </p:sp>
      <p:pic>
        <p:nvPicPr>
          <p:cNvPr id="460" name="Google Shape;460;p44"/>
          <p:cNvPicPr preferRelativeResize="0"/>
          <p:nvPr/>
        </p:nvPicPr>
        <p:blipFill>
          <a:blip r:embed="rId3">
            <a:alphaModFix/>
          </a:blip>
          <a:stretch>
            <a:fillRect/>
          </a:stretch>
        </p:blipFill>
        <p:spPr>
          <a:xfrm>
            <a:off x="64675" y="517075"/>
            <a:ext cx="3952700" cy="2190025"/>
          </a:xfrm>
          <a:prstGeom prst="rect">
            <a:avLst/>
          </a:prstGeom>
          <a:noFill/>
          <a:ln>
            <a:noFill/>
          </a:ln>
        </p:spPr>
      </p:pic>
      <p:pic>
        <p:nvPicPr>
          <p:cNvPr id="461" name="Google Shape;461;p44"/>
          <p:cNvPicPr preferRelativeResize="0"/>
          <p:nvPr/>
        </p:nvPicPr>
        <p:blipFill>
          <a:blip r:embed="rId4">
            <a:alphaModFix/>
          </a:blip>
          <a:stretch>
            <a:fillRect/>
          </a:stretch>
        </p:blipFill>
        <p:spPr>
          <a:xfrm>
            <a:off x="4098250" y="80225"/>
            <a:ext cx="5045750" cy="2790351"/>
          </a:xfrm>
          <a:prstGeom prst="rect">
            <a:avLst/>
          </a:prstGeom>
          <a:noFill/>
          <a:ln>
            <a:noFill/>
          </a:ln>
        </p:spPr>
      </p:pic>
      <p:sp>
        <p:nvSpPr>
          <p:cNvPr id="462" name="Google Shape;462;p44"/>
          <p:cNvSpPr txBox="1"/>
          <p:nvPr/>
        </p:nvSpPr>
        <p:spPr>
          <a:xfrm>
            <a:off x="175450" y="3108150"/>
            <a:ext cx="7369200" cy="1867500"/>
          </a:xfrm>
          <a:prstGeom prst="rect">
            <a:avLst/>
          </a:prstGeom>
          <a:noFill/>
          <a:ln>
            <a:noFill/>
          </a:ln>
        </p:spPr>
        <p:txBody>
          <a:bodyPr spcFirstLastPara="1" wrap="square" lIns="91425" tIns="91425" rIns="91425" bIns="91425" anchor="t" anchorCtr="0">
            <a:noAutofit/>
          </a:bodyPr>
          <a:lstStyle/>
          <a:p>
            <a:pPr marL="0" lvl="0" indent="0" algn="l" rtl="0">
              <a:lnSpc>
                <a:spcPct val="175000"/>
              </a:lnSpc>
              <a:spcBef>
                <a:spcPts val="0"/>
              </a:spcBef>
              <a:spcAft>
                <a:spcPts val="0"/>
              </a:spcAft>
              <a:buClr>
                <a:schemeClr val="dk1"/>
              </a:buClr>
              <a:buSzPts val="1100"/>
              <a:buFont typeface="Arial"/>
              <a:buNone/>
            </a:pPr>
            <a:r>
              <a:rPr lang="en" sz="1100">
                <a:solidFill>
                  <a:schemeClr val="dk1"/>
                </a:solidFill>
              </a:rPr>
              <a:t>Based on the provided table, Martha Stewart emerges as a brand with a strong emphasis on health benefits, scoring an 8 out of 10, while ranking slightly lower in terms of recreational use at 5 out of 10. Aurora Cannabis, Aphria, and TerrAscend exhibit relatively balanced scores between health benefits and recreational use, with scores ranging from 6 to 7. Auxly falls slightly lower in terms of health benefits and recreational use compared to the other brands. Overall, Martha Stewart distinguishes itself with a clear focus on health benefits, positioning itself as a brand catering to consumers prioritizing wellness, while still offering recreational use options.</a:t>
            </a:r>
            <a:endParaRPr sz="1100">
              <a:solidFill>
                <a:schemeClr val="dk1"/>
              </a:solidFill>
            </a:endParaRPr>
          </a:p>
          <a:p>
            <a:pPr marL="0" lvl="0" indent="0" algn="l" rtl="0">
              <a:spcBef>
                <a:spcPts val="0"/>
              </a:spcBef>
              <a:spcAft>
                <a:spcPts val="0"/>
              </a:spcAft>
              <a:buNone/>
            </a:pPr>
            <a:endParaRPr sz="1100">
              <a:solidFill>
                <a:schemeClr val="dk1"/>
              </a:solidFill>
            </a:endParaRPr>
          </a:p>
        </p:txBody>
      </p:sp>
      <p:sp>
        <p:nvSpPr>
          <p:cNvPr id="2" name="Slide Number Placeholder 1">
            <a:extLst>
              <a:ext uri="{FF2B5EF4-FFF2-40B4-BE49-F238E27FC236}">
                <a16:creationId xmlns:a16="http://schemas.microsoft.com/office/drawing/2014/main" id="{4BCC00A2-5E29-C865-9992-9A63D7B366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5"/>
          <p:cNvSpPr txBox="1">
            <a:spLocks noGrp="1"/>
          </p:cNvSpPr>
          <p:nvPr>
            <p:ph type="title"/>
          </p:nvPr>
        </p:nvSpPr>
        <p:spPr>
          <a:xfrm>
            <a:off x="133750" y="802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1820"/>
              <a:t>PERCEPTUAL MAPS:2</a:t>
            </a:r>
            <a:endParaRPr sz="1820"/>
          </a:p>
        </p:txBody>
      </p:sp>
      <p:sp>
        <p:nvSpPr>
          <p:cNvPr id="468" name="Google Shape;468;p45"/>
          <p:cNvSpPr txBox="1"/>
          <p:nvPr/>
        </p:nvSpPr>
        <p:spPr>
          <a:xfrm>
            <a:off x="175450" y="3108150"/>
            <a:ext cx="7369200" cy="1867500"/>
          </a:xfrm>
          <a:prstGeom prst="rect">
            <a:avLst/>
          </a:prstGeom>
          <a:noFill/>
          <a:ln>
            <a:noFill/>
          </a:ln>
        </p:spPr>
        <p:txBody>
          <a:bodyPr spcFirstLastPara="1" wrap="square" lIns="91425" tIns="91425" rIns="91425" bIns="91425" anchor="t" anchorCtr="0">
            <a:noAutofit/>
          </a:bodyPr>
          <a:lstStyle/>
          <a:p>
            <a:pPr marL="0" lvl="0" indent="0" algn="l" rtl="0">
              <a:lnSpc>
                <a:spcPct val="175000"/>
              </a:lnSpc>
              <a:spcBef>
                <a:spcPts val="0"/>
              </a:spcBef>
              <a:spcAft>
                <a:spcPts val="0"/>
              </a:spcAft>
              <a:buNone/>
            </a:pPr>
            <a:r>
              <a:rPr lang="en" sz="1100">
                <a:solidFill>
                  <a:schemeClr val="dk1"/>
                </a:solidFill>
              </a:rPr>
              <a:t>Martha Stewart appears to offer a balance between price and quality, with both attributes rated at 7 out of 10. Aurora Cannabis ranks similarly in terms of price but falls short in quality, scoring a 4 out of 10. Aphria and Auxly exhibit lower ratings in both price and quality, with scores ranging from 3 to 6. TerrAscend stands out with a slightly higher quality rating compared to its price, reflecting a focus on offering relatively higher quality products at a reasonable price point. Overall, Martha Stewart maintains a competitive edge by delivering a blend of affordability and quality, positioning itself favorably against its competitors.</a:t>
            </a:r>
            <a:endParaRPr sz="1100">
              <a:solidFill>
                <a:schemeClr val="dk1"/>
              </a:solidFill>
            </a:endParaRPr>
          </a:p>
          <a:p>
            <a:pPr marL="0" lvl="0" indent="0" algn="l" rtl="0">
              <a:lnSpc>
                <a:spcPct val="175000"/>
              </a:lnSpc>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endParaRPr>
          </a:p>
        </p:txBody>
      </p:sp>
      <p:pic>
        <p:nvPicPr>
          <p:cNvPr id="469" name="Google Shape;469;p45"/>
          <p:cNvPicPr preferRelativeResize="0"/>
          <p:nvPr/>
        </p:nvPicPr>
        <p:blipFill>
          <a:blip r:embed="rId3">
            <a:alphaModFix/>
          </a:blip>
          <a:stretch>
            <a:fillRect/>
          </a:stretch>
        </p:blipFill>
        <p:spPr>
          <a:xfrm>
            <a:off x="0" y="529600"/>
            <a:ext cx="3946609" cy="2042150"/>
          </a:xfrm>
          <a:prstGeom prst="rect">
            <a:avLst/>
          </a:prstGeom>
          <a:noFill/>
          <a:ln>
            <a:noFill/>
          </a:ln>
        </p:spPr>
      </p:pic>
      <p:pic>
        <p:nvPicPr>
          <p:cNvPr id="470" name="Google Shape;470;p45"/>
          <p:cNvPicPr preferRelativeResize="0"/>
          <p:nvPr/>
        </p:nvPicPr>
        <p:blipFill>
          <a:blip r:embed="rId4">
            <a:alphaModFix/>
          </a:blip>
          <a:stretch>
            <a:fillRect/>
          </a:stretch>
        </p:blipFill>
        <p:spPr>
          <a:xfrm>
            <a:off x="3946599" y="80225"/>
            <a:ext cx="4707750" cy="3060566"/>
          </a:xfrm>
          <a:prstGeom prst="rect">
            <a:avLst/>
          </a:prstGeom>
          <a:noFill/>
          <a:ln>
            <a:noFill/>
          </a:ln>
        </p:spPr>
      </p:pic>
      <p:sp>
        <p:nvSpPr>
          <p:cNvPr id="2" name="Slide Number Placeholder 1">
            <a:extLst>
              <a:ext uri="{FF2B5EF4-FFF2-40B4-BE49-F238E27FC236}">
                <a16:creationId xmlns:a16="http://schemas.microsoft.com/office/drawing/2014/main" id="{F4688A6C-140F-8EE9-2073-2BFEBB954F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46"/>
          <p:cNvSpPr txBox="1">
            <a:spLocks noGrp="1"/>
          </p:cNvSpPr>
          <p:nvPr>
            <p:ph type="title"/>
          </p:nvPr>
        </p:nvSpPr>
        <p:spPr>
          <a:xfrm>
            <a:off x="133750" y="802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1820"/>
              <a:t>PERCEPTUAL MAPS:3</a:t>
            </a:r>
            <a:endParaRPr sz="1820"/>
          </a:p>
        </p:txBody>
      </p:sp>
      <p:sp>
        <p:nvSpPr>
          <p:cNvPr id="476" name="Google Shape;476;p46"/>
          <p:cNvSpPr txBox="1"/>
          <p:nvPr/>
        </p:nvSpPr>
        <p:spPr>
          <a:xfrm>
            <a:off x="213050" y="3396400"/>
            <a:ext cx="7369200" cy="147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0D0D0D"/>
                </a:solidFill>
                <a:highlight>
                  <a:srgbClr val="FFFFFF"/>
                </a:highlight>
              </a:rPr>
              <a:t>Martha Stewart demonstrates strong accessibility and customer loyalty, with scores of 7 and 8 out of 10, respectively. Aurora Cannabis follows closely behind with slightly lower scores in both categories, while Aphria, Auxly, and TerrAscend exhibit moderate ratings in terms of accessibility and customer loyalty. Overall, Martha Stewart stands out as a brand with high accessibility and strong customer loyalty, positioning it as a preferred choice among consumers and enhancing its competitive advantage in the market.</a:t>
            </a:r>
            <a:endParaRPr sz="1100">
              <a:solidFill>
                <a:schemeClr val="dk1"/>
              </a:solidFill>
            </a:endParaRPr>
          </a:p>
        </p:txBody>
      </p:sp>
      <p:pic>
        <p:nvPicPr>
          <p:cNvPr id="477" name="Google Shape;477;p46"/>
          <p:cNvPicPr preferRelativeResize="0"/>
          <p:nvPr/>
        </p:nvPicPr>
        <p:blipFill>
          <a:blip r:embed="rId3">
            <a:alphaModFix/>
          </a:blip>
          <a:stretch>
            <a:fillRect/>
          </a:stretch>
        </p:blipFill>
        <p:spPr>
          <a:xfrm>
            <a:off x="152400" y="805325"/>
            <a:ext cx="3716339" cy="2150425"/>
          </a:xfrm>
          <a:prstGeom prst="rect">
            <a:avLst/>
          </a:prstGeom>
          <a:noFill/>
          <a:ln>
            <a:noFill/>
          </a:ln>
        </p:spPr>
      </p:pic>
      <p:pic>
        <p:nvPicPr>
          <p:cNvPr id="478" name="Google Shape;478;p46"/>
          <p:cNvPicPr preferRelativeResize="0"/>
          <p:nvPr/>
        </p:nvPicPr>
        <p:blipFill>
          <a:blip r:embed="rId4">
            <a:alphaModFix/>
          </a:blip>
          <a:stretch>
            <a:fillRect/>
          </a:stretch>
        </p:blipFill>
        <p:spPr>
          <a:xfrm>
            <a:off x="3943954" y="80225"/>
            <a:ext cx="4152824" cy="3027925"/>
          </a:xfrm>
          <a:prstGeom prst="rect">
            <a:avLst/>
          </a:prstGeom>
          <a:noFill/>
          <a:ln>
            <a:noFill/>
          </a:ln>
        </p:spPr>
      </p:pic>
      <p:sp>
        <p:nvSpPr>
          <p:cNvPr id="2" name="Slide Number Placeholder 1">
            <a:extLst>
              <a:ext uri="{FF2B5EF4-FFF2-40B4-BE49-F238E27FC236}">
                <a16:creationId xmlns:a16="http://schemas.microsoft.com/office/drawing/2014/main" id="{DE15FE0B-DF0A-0683-DAAE-43A39C98D5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POSITIONING STATEMENT </a:t>
            </a:r>
            <a:endParaRPr b="1"/>
          </a:p>
        </p:txBody>
      </p:sp>
      <p:sp>
        <p:nvSpPr>
          <p:cNvPr id="484" name="Google Shape;484;p47"/>
          <p:cNvSpPr txBox="1">
            <a:spLocks noGrp="1"/>
          </p:cNvSpPr>
          <p:nvPr>
            <p:ph type="body" idx="1"/>
          </p:nvPr>
        </p:nvSpPr>
        <p:spPr>
          <a:xfrm>
            <a:off x="311700" y="1152475"/>
            <a:ext cx="8520600" cy="3444000"/>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1500">
                <a:solidFill>
                  <a:schemeClr val="dk1"/>
                </a:solidFill>
              </a:rPr>
              <a:t>For targeting the Medical Cannabis Patients segment, </a:t>
            </a:r>
            <a:r>
              <a:rPr lang="en" sz="1500">
                <a:solidFill>
                  <a:schemeClr val="dk1"/>
                </a:solidFill>
                <a:highlight>
                  <a:srgbClr val="FFFFFF"/>
                </a:highlight>
              </a:rPr>
              <a:t>Martha Stewart and Canopy Growth Corporation have to maintain the quality and standard. It is the way to lead the industry and have a sustainable growth over time, that will idealize the company in this sector </a:t>
            </a:r>
            <a:r>
              <a:rPr lang="en" sz="1500">
                <a:solidFill>
                  <a:schemeClr val="dk1"/>
                </a:solidFill>
              </a:rPr>
              <a:t>offering a curated selection of premium cannabis products crafted with the highest quality standards, ensuring a luxurious and trustworthy experience. Because our products are developed in collaboration with Martha Stewart, a trusted lifestyle expert renowned for her commitment to quality and excellence. Each product undergoes rigorous testing and quality control measures, guaranteeing the utmost safety and efficacy. With Martha Stewart Cannabis, consumers can indulge in premium cannabis products with confidence, knowing they are curated by a brand synonymous with sophistication and integrity.</a:t>
            </a:r>
            <a:endParaRPr sz="1500">
              <a:solidFill>
                <a:schemeClr val="dk1"/>
              </a:solidFill>
            </a:endParaRPr>
          </a:p>
          <a:p>
            <a:pPr marL="0" lvl="0" indent="0" algn="l" rtl="0">
              <a:spcBef>
                <a:spcPts val="800"/>
              </a:spcBef>
              <a:spcAft>
                <a:spcPts val="1200"/>
              </a:spcAft>
              <a:buNone/>
            </a:pPr>
            <a:endParaRPr sz="2200">
              <a:solidFill>
                <a:schemeClr val="dk1"/>
              </a:solidFill>
            </a:endParaRPr>
          </a:p>
        </p:txBody>
      </p:sp>
      <p:sp>
        <p:nvSpPr>
          <p:cNvPr id="2" name="Slide Number Placeholder 1">
            <a:extLst>
              <a:ext uri="{FF2B5EF4-FFF2-40B4-BE49-F238E27FC236}">
                <a16:creationId xmlns:a16="http://schemas.microsoft.com/office/drawing/2014/main" id="{9E514F6E-2D07-6F9F-6B7A-3E5AFF174D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8"/>
          <p:cNvSpPr txBox="1">
            <a:spLocks noGrp="1"/>
          </p:cNvSpPr>
          <p:nvPr>
            <p:ph type="title"/>
          </p:nvPr>
        </p:nvSpPr>
        <p:spPr>
          <a:xfrm>
            <a:off x="0" y="68075"/>
            <a:ext cx="8520600" cy="40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220"/>
              <a:t>After understanding the Positioning statement what are the key benefits then?</a:t>
            </a:r>
            <a:endParaRPr sz="2220"/>
          </a:p>
        </p:txBody>
      </p:sp>
      <p:sp>
        <p:nvSpPr>
          <p:cNvPr id="490" name="Google Shape;490;p48"/>
          <p:cNvSpPr txBox="1"/>
          <p:nvPr/>
        </p:nvSpPr>
        <p:spPr>
          <a:xfrm>
            <a:off x="316125" y="875475"/>
            <a:ext cx="8204400" cy="39762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sz="1100" b="1">
                <a:solidFill>
                  <a:schemeClr val="dk1"/>
                </a:solidFill>
              </a:rPr>
              <a:t>Premium Quality Assurance</a:t>
            </a:r>
            <a:r>
              <a:rPr lang="en" sz="1100">
                <a:solidFill>
                  <a:schemeClr val="dk1"/>
                </a:solidFill>
              </a:rPr>
              <a:t>: The positioning emphasizes the joint venture's commitment to offering premium cannabis products crafted with the highest quality standards, ensuring a luxurious experience for medical cannabis patients.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Trusted Collaboration with Martha Stewart</a:t>
            </a:r>
            <a:r>
              <a:rPr lang="en" sz="1100">
                <a:solidFill>
                  <a:schemeClr val="dk1"/>
                </a:solidFill>
              </a:rPr>
              <a:t>: The strength of the reason to believe lies in the collaboration with Martha Stewart, a renowned lifestyle expert known for her commitment to quality and excellence. Her association lends credibility and trustworthiness to the products, reinforcing the commitment to quality.</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Rigorous Testing and Quality Contro</a:t>
            </a:r>
            <a:r>
              <a:rPr lang="en" sz="1100">
                <a:solidFill>
                  <a:schemeClr val="dk1"/>
                </a:solidFill>
              </a:rPr>
              <a:t>l: Each product undergoes rigorous testing and quality control measures, guaranteeing the utmost safety and efficacy. This ensures that medical cannabis patients can rely on the products for their therapeutic needs.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Brand Synonymous with Sophistication and Integrity</a:t>
            </a:r>
            <a:r>
              <a:rPr lang="en" sz="1100">
                <a:solidFill>
                  <a:schemeClr val="dk1"/>
                </a:solidFill>
              </a:rPr>
              <a:t>: Martha Stewart's association with the brand signifies sophistication and integrity, further enhancing consumer trust and confidence in the product offerings.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Sustainable Growth and Industry Leadership</a:t>
            </a:r>
            <a:r>
              <a:rPr lang="en" sz="1100">
                <a:solidFill>
                  <a:schemeClr val="dk1"/>
                </a:solidFill>
              </a:rPr>
              <a:t>: By maintaining quality and standards, the joint venture aims to lead the industry and achieve sustainable growth over time. This commitment to excellence solidifies the brand's position as a leader in the medical cannabis segment.</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Curated Selection of Premium Cannabis Products</a:t>
            </a:r>
            <a:r>
              <a:rPr lang="en" sz="1100">
                <a:solidFill>
                  <a:schemeClr val="dk1"/>
                </a:solidFill>
              </a:rPr>
              <a:t>: The joint venture offers a curated selection of premium cannabis products, catering specifically to the needs of medical cannabis patients. This curated approach ensures that patients receive products tailored to their therapeutic requirements.</a:t>
            </a:r>
            <a:endParaRPr sz="1100" b="1">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Consumer Confidence and Peace of Mind</a:t>
            </a:r>
            <a:r>
              <a:rPr lang="en" sz="1100">
                <a:solidFill>
                  <a:schemeClr val="dk1"/>
                </a:solidFill>
              </a:rPr>
              <a:t>: With Martha Stewart Cannabis, consumers can indulge in premium cannabis products with confidence, knowing that they are curated by a brand synonymous with sophistication and integrity. This instills peace of mind among medical cannabis patients, fostering loyalty and repeat purchases.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Upholding Highest Standards</a:t>
            </a:r>
            <a:r>
              <a:rPr lang="en" sz="1100">
                <a:solidFill>
                  <a:schemeClr val="dk1"/>
                </a:solidFill>
              </a:rPr>
              <a:t>: The brand's dedication to upholding the highest standards of quality and excellence sets it apart in the competitive landscape of the medical cannabis industry, reinforcing its position as a trusted provider of premium cannabis products for medical use.</a:t>
            </a:r>
            <a:endParaRPr sz="1100">
              <a:solidFill>
                <a:schemeClr val="dk1"/>
              </a:solidFill>
            </a:endParaRPr>
          </a:p>
          <a:p>
            <a:pPr marL="0" lvl="0" indent="0" algn="l" rtl="0">
              <a:spcBef>
                <a:spcPts val="0"/>
              </a:spcBef>
              <a:spcAft>
                <a:spcPts val="0"/>
              </a:spcAft>
              <a:buNone/>
            </a:pPr>
            <a:endParaRPr sz="1100">
              <a:solidFill>
                <a:schemeClr val="dk1"/>
              </a:solidFill>
            </a:endParaRPr>
          </a:p>
        </p:txBody>
      </p:sp>
      <p:sp>
        <p:nvSpPr>
          <p:cNvPr id="491" name="Google Shape;491;p48"/>
          <p:cNvSpPr/>
          <p:nvPr/>
        </p:nvSpPr>
        <p:spPr>
          <a:xfrm rot="5400000">
            <a:off x="170225" y="863325"/>
            <a:ext cx="364800" cy="3405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 name="Google Shape;492;p48"/>
          <p:cNvSpPr/>
          <p:nvPr/>
        </p:nvSpPr>
        <p:spPr>
          <a:xfrm rot="5400000">
            <a:off x="170225" y="1320525"/>
            <a:ext cx="364800" cy="3405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 name="Google Shape;493;p48"/>
          <p:cNvSpPr/>
          <p:nvPr/>
        </p:nvSpPr>
        <p:spPr>
          <a:xfrm rot="5400000">
            <a:off x="170225" y="1777725"/>
            <a:ext cx="364800" cy="3405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 name="Google Shape;494;p48"/>
          <p:cNvSpPr/>
          <p:nvPr/>
        </p:nvSpPr>
        <p:spPr>
          <a:xfrm rot="5400000">
            <a:off x="170225" y="2234925"/>
            <a:ext cx="364800" cy="3405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 name="Google Shape;495;p48"/>
          <p:cNvSpPr/>
          <p:nvPr/>
        </p:nvSpPr>
        <p:spPr>
          <a:xfrm rot="5400000">
            <a:off x="170225" y="2768325"/>
            <a:ext cx="364800" cy="3405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 name="Google Shape;496;p48"/>
          <p:cNvSpPr/>
          <p:nvPr/>
        </p:nvSpPr>
        <p:spPr>
          <a:xfrm rot="5400000">
            <a:off x="170225" y="3225525"/>
            <a:ext cx="364800" cy="3405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 name="Google Shape;497;p48"/>
          <p:cNvSpPr/>
          <p:nvPr/>
        </p:nvSpPr>
        <p:spPr>
          <a:xfrm rot="5400000">
            <a:off x="170225" y="3682725"/>
            <a:ext cx="364800" cy="3405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 name="Google Shape;498;p48"/>
          <p:cNvSpPr/>
          <p:nvPr/>
        </p:nvSpPr>
        <p:spPr>
          <a:xfrm rot="5400000">
            <a:off x="170225" y="4139925"/>
            <a:ext cx="364800" cy="3405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Slide Number Placeholder 1">
            <a:extLst>
              <a:ext uri="{FF2B5EF4-FFF2-40B4-BE49-F238E27FC236}">
                <a16:creationId xmlns:a16="http://schemas.microsoft.com/office/drawing/2014/main" id="{C6265E62-24AF-6CC6-F74F-3BC403EAF3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49"/>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120"/>
              <a:t>What kind of brand strategy should we adopt?</a:t>
            </a:r>
            <a:endParaRPr sz="2120"/>
          </a:p>
        </p:txBody>
      </p:sp>
      <p:sp>
        <p:nvSpPr>
          <p:cNvPr id="504" name="Google Shape;504;p49"/>
          <p:cNvSpPr txBox="1">
            <a:spLocks noGrp="1"/>
          </p:cNvSpPr>
          <p:nvPr>
            <p:ph type="body" idx="1"/>
          </p:nvPr>
        </p:nvSpPr>
        <p:spPr>
          <a:xfrm>
            <a:off x="4486875" y="572700"/>
            <a:ext cx="3822600" cy="1231800"/>
          </a:xfrm>
          <a:prstGeom prst="rect">
            <a:avLst/>
          </a:prstGeom>
        </p:spPr>
        <p:txBody>
          <a:bodyPr spcFirstLastPara="1" wrap="square" lIns="91425" tIns="91425" rIns="91425" bIns="91425" anchor="t" anchorCtr="0">
            <a:noAutofit/>
          </a:bodyPr>
          <a:lstStyle/>
          <a:p>
            <a:pPr marL="0" lvl="0" indent="0" algn="just" rtl="0">
              <a:lnSpc>
                <a:spcPct val="130000"/>
              </a:lnSpc>
              <a:spcBef>
                <a:spcPts val="0"/>
              </a:spcBef>
              <a:spcAft>
                <a:spcPts val="0"/>
              </a:spcAft>
              <a:buClr>
                <a:schemeClr val="dk1"/>
              </a:buClr>
              <a:buSzPts val="935"/>
              <a:buFont typeface="Arial"/>
              <a:buNone/>
            </a:pPr>
            <a:r>
              <a:rPr lang="en" sz="1130">
                <a:solidFill>
                  <a:schemeClr val="dk1"/>
                </a:solidFill>
              </a:rPr>
              <a:t>The joint venture should adopt a sub-branding strategy from the brand relationship spectrum. This strategy allows leveraging the equity of both Martha Stewart and Canopy Growth while maintaining distinctiveness for the cannabis products.</a:t>
            </a:r>
            <a:endParaRPr sz="1130">
              <a:solidFill>
                <a:schemeClr val="dk1"/>
              </a:solidFill>
            </a:endParaRPr>
          </a:p>
          <a:p>
            <a:pPr marL="0" lvl="0" indent="0" algn="l" rtl="0">
              <a:lnSpc>
                <a:spcPct val="95000"/>
              </a:lnSpc>
              <a:spcBef>
                <a:spcPts val="800"/>
              </a:spcBef>
              <a:spcAft>
                <a:spcPts val="1200"/>
              </a:spcAft>
              <a:buSzPts val="935"/>
              <a:buNone/>
            </a:pPr>
            <a:endParaRPr sz="1130">
              <a:solidFill>
                <a:schemeClr val="dk1"/>
              </a:solidFill>
            </a:endParaRPr>
          </a:p>
        </p:txBody>
      </p:sp>
      <p:pic>
        <p:nvPicPr>
          <p:cNvPr id="505" name="Google Shape;505;p49"/>
          <p:cNvPicPr preferRelativeResize="0"/>
          <p:nvPr/>
        </p:nvPicPr>
        <p:blipFill>
          <a:blip r:embed="rId3">
            <a:alphaModFix/>
          </a:blip>
          <a:stretch>
            <a:fillRect/>
          </a:stretch>
        </p:blipFill>
        <p:spPr>
          <a:xfrm>
            <a:off x="68538" y="978950"/>
            <a:ext cx="4194226" cy="3900304"/>
          </a:xfrm>
          <a:prstGeom prst="rect">
            <a:avLst/>
          </a:prstGeom>
          <a:noFill/>
          <a:ln>
            <a:noFill/>
          </a:ln>
        </p:spPr>
      </p:pic>
      <p:sp>
        <p:nvSpPr>
          <p:cNvPr id="506" name="Google Shape;506;p49"/>
          <p:cNvSpPr txBox="1"/>
          <p:nvPr/>
        </p:nvSpPr>
        <p:spPr>
          <a:xfrm>
            <a:off x="651838" y="572700"/>
            <a:ext cx="2638500" cy="41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1"/>
                </a:solidFill>
                <a:highlight>
                  <a:srgbClr val="CCCCCC"/>
                </a:highlight>
              </a:rPr>
              <a:t>CRITERIA TABLE </a:t>
            </a:r>
            <a:endParaRPr sz="1800">
              <a:solidFill>
                <a:schemeClr val="dk1"/>
              </a:solidFill>
              <a:highlight>
                <a:srgbClr val="CCCCCC"/>
              </a:highlight>
            </a:endParaRPr>
          </a:p>
        </p:txBody>
      </p:sp>
      <p:sp>
        <p:nvSpPr>
          <p:cNvPr id="507" name="Google Shape;507;p49"/>
          <p:cNvSpPr/>
          <p:nvPr/>
        </p:nvSpPr>
        <p:spPr>
          <a:xfrm>
            <a:off x="4262775" y="1994200"/>
            <a:ext cx="783300" cy="724200"/>
          </a:xfrm>
          <a:prstGeom prst="notched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 name="Google Shape;508;p49"/>
          <p:cNvSpPr txBox="1"/>
          <p:nvPr/>
        </p:nvSpPr>
        <p:spPr>
          <a:xfrm>
            <a:off x="5119150" y="1860450"/>
            <a:ext cx="2699400" cy="16659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1100">
                <a:solidFill>
                  <a:schemeClr val="dk1"/>
                </a:solidFill>
              </a:rPr>
              <a:t>The products offered by the joint venture should be branded under the name "Martha Stewart Cannabis," with each product line or category having a unique sub-brand name.</a:t>
            </a:r>
            <a:endParaRPr sz="1100">
              <a:solidFill>
                <a:schemeClr val="dk1"/>
              </a:solidFill>
            </a:endParaRPr>
          </a:p>
          <a:p>
            <a:pPr marL="0" lvl="0" indent="0" algn="l" rtl="0">
              <a:spcBef>
                <a:spcPts val="800"/>
              </a:spcBef>
              <a:spcAft>
                <a:spcPts val="0"/>
              </a:spcAft>
              <a:buNone/>
            </a:pPr>
            <a:endParaRPr sz="1100">
              <a:solidFill>
                <a:schemeClr val="dk1"/>
              </a:solidFill>
            </a:endParaRPr>
          </a:p>
        </p:txBody>
      </p:sp>
      <p:sp>
        <p:nvSpPr>
          <p:cNvPr id="509" name="Google Shape;509;p49"/>
          <p:cNvSpPr/>
          <p:nvPr/>
        </p:nvSpPr>
        <p:spPr>
          <a:xfrm rot="10800000" flipH="1">
            <a:off x="5617700" y="68075"/>
            <a:ext cx="644400" cy="5727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 name="Google Shape;510;p49"/>
          <p:cNvSpPr txBox="1"/>
          <p:nvPr/>
        </p:nvSpPr>
        <p:spPr>
          <a:xfrm>
            <a:off x="4486875" y="3582300"/>
            <a:ext cx="4596300" cy="15612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1100" b="1">
                <a:solidFill>
                  <a:schemeClr val="dk1"/>
                </a:solidFill>
              </a:rPr>
              <a:t>Recommendation:</a:t>
            </a:r>
            <a:r>
              <a:rPr lang="en" sz="1100">
                <a:solidFill>
                  <a:schemeClr val="dk1"/>
                </a:solidFill>
              </a:rPr>
              <a:t> Based on the criteria evaluation, a sub-branding strategy leveraging the Martha Stewart and Canopy Growth brands is recommended. The products should be branded as "Martha Stewart Cannabis," reflecting the premium quality and trust associated with Martha Stewart's lifestyle expertise, while aligning with the innovative and reliable reputation of Canopy Growth in the cannabis industry.</a:t>
            </a:r>
            <a:endParaRPr sz="1100">
              <a:solidFill>
                <a:schemeClr val="dk1"/>
              </a:solidFill>
            </a:endParaRPr>
          </a:p>
          <a:p>
            <a:pPr marL="0" lvl="0" indent="0" algn="l" rtl="0">
              <a:spcBef>
                <a:spcPts val="800"/>
              </a:spcBef>
              <a:spcAft>
                <a:spcPts val="0"/>
              </a:spcAft>
              <a:buNone/>
            </a:pPr>
            <a:endParaRPr sz="1800">
              <a:solidFill>
                <a:schemeClr val="dk2"/>
              </a:solidFill>
            </a:endParaRPr>
          </a:p>
        </p:txBody>
      </p:sp>
      <p:sp>
        <p:nvSpPr>
          <p:cNvPr id="511" name="Google Shape;511;p49"/>
          <p:cNvSpPr/>
          <p:nvPr/>
        </p:nvSpPr>
        <p:spPr>
          <a:xfrm>
            <a:off x="6614800" y="3052050"/>
            <a:ext cx="316200" cy="5304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Slide Number Placeholder 1">
            <a:extLst>
              <a:ext uri="{FF2B5EF4-FFF2-40B4-BE49-F238E27FC236}">
                <a16:creationId xmlns:a16="http://schemas.microsoft.com/office/drawing/2014/main" id="{384DC318-721A-6D78-743E-AE4D24DD64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0"/>
          <p:cNvSpPr txBox="1"/>
          <p:nvPr/>
        </p:nvSpPr>
        <p:spPr>
          <a:xfrm>
            <a:off x="133750" y="145925"/>
            <a:ext cx="8888700" cy="583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 sz="2000">
                <a:solidFill>
                  <a:schemeClr val="dk1"/>
                </a:solidFill>
              </a:rPr>
              <a:t>After thorough analysis and evaluation, the following recommendations are proposed</a:t>
            </a:r>
            <a:endParaRPr sz="2000">
              <a:solidFill>
                <a:schemeClr val="dk1"/>
              </a:solidFill>
            </a:endParaRPr>
          </a:p>
          <a:p>
            <a:pPr marL="0" lvl="0" indent="0" algn="l" rtl="0">
              <a:spcBef>
                <a:spcPts val="800"/>
              </a:spcBef>
              <a:spcAft>
                <a:spcPts val="0"/>
              </a:spcAft>
              <a:buNone/>
            </a:pPr>
            <a:endParaRPr sz="2000">
              <a:solidFill>
                <a:schemeClr val="dk1"/>
              </a:solidFill>
            </a:endParaRPr>
          </a:p>
        </p:txBody>
      </p:sp>
      <p:sp>
        <p:nvSpPr>
          <p:cNvPr id="517" name="Google Shape;517;p50"/>
          <p:cNvSpPr txBox="1"/>
          <p:nvPr/>
        </p:nvSpPr>
        <p:spPr>
          <a:xfrm>
            <a:off x="863325" y="1070050"/>
            <a:ext cx="8037600" cy="3818100"/>
          </a:xfrm>
          <a:prstGeom prst="rect">
            <a:avLst/>
          </a:prstGeom>
          <a:noFill/>
          <a:ln>
            <a:noFill/>
          </a:ln>
        </p:spPr>
        <p:txBody>
          <a:bodyPr spcFirstLastPara="1" wrap="square" lIns="91425" tIns="91425" rIns="91425" bIns="91425" anchor="t" anchorCtr="0">
            <a:noAutofit/>
          </a:bodyPr>
          <a:lstStyle/>
          <a:p>
            <a:pPr marL="457200" lvl="0" indent="-228600" algn="just" rtl="0">
              <a:lnSpc>
                <a:spcPct val="150000"/>
              </a:lnSpc>
              <a:spcBef>
                <a:spcPts val="0"/>
              </a:spcBef>
              <a:spcAft>
                <a:spcPts val="0"/>
              </a:spcAft>
              <a:buClr>
                <a:schemeClr val="dk1"/>
              </a:buClr>
              <a:buSzPts val="1100"/>
              <a:buFont typeface="Arial"/>
              <a:buNone/>
            </a:pPr>
            <a:r>
              <a:rPr lang="en" sz="1300">
                <a:solidFill>
                  <a:schemeClr val="dk1"/>
                </a:solidFill>
              </a:rPr>
              <a:t>1.</a:t>
            </a:r>
            <a:r>
              <a:rPr lang="en" sz="900">
                <a:solidFill>
                  <a:schemeClr val="dk1"/>
                </a:solidFill>
                <a:latin typeface="Times New Roman"/>
                <a:ea typeface="Times New Roman"/>
                <a:cs typeface="Times New Roman"/>
                <a:sym typeface="Times New Roman"/>
              </a:rPr>
              <a:t> 	</a:t>
            </a:r>
            <a:r>
              <a:rPr lang="en" sz="1300" b="1">
                <a:solidFill>
                  <a:schemeClr val="dk1"/>
                </a:solidFill>
              </a:rPr>
              <a:t>Market Definition:</a:t>
            </a:r>
            <a:r>
              <a:rPr lang="en" sz="1300">
                <a:solidFill>
                  <a:schemeClr val="dk1"/>
                </a:solidFill>
              </a:rPr>
              <a:t> Focus on the lifestyle cannabis market segment, targeting health-conscious lifestyle enthusiasts who value premium quality and trust. In these types of segments, trust is an important thing to involve the conservative buyers.</a:t>
            </a:r>
            <a:endParaRPr sz="13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300">
                <a:solidFill>
                  <a:schemeClr val="dk1"/>
                </a:solidFill>
              </a:rPr>
              <a:t>2.</a:t>
            </a:r>
            <a:r>
              <a:rPr lang="en" sz="900">
                <a:solidFill>
                  <a:schemeClr val="dk1"/>
                </a:solidFill>
                <a:latin typeface="Times New Roman"/>
                <a:ea typeface="Times New Roman"/>
                <a:cs typeface="Times New Roman"/>
                <a:sym typeface="Times New Roman"/>
              </a:rPr>
              <a:t> 	</a:t>
            </a:r>
            <a:r>
              <a:rPr lang="en" sz="1300" b="1">
                <a:solidFill>
                  <a:schemeClr val="dk1"/>
                </a:solidFill>
              </a:rPr>
              <a:t>Situation Analysis &amp; Insights:</a:t>
            </a:r>
            <a:r>
              <a:rPr lang="en" sz="1300">
                <a:solidFill>
                  <a:schemeClr val="dk1"/>
                </a:solidFill>
              </a:rPr>
              <a:t> Highlighted the strengths and weaknesses of both Martha Stewart and Canopy Growth, emphasizing their potential for collaboration in the cannabis industry.</a:t>
            </a:r>
            <a:endParaRPr sz="13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300">
                <a:solidFill>
                  <a:schemeClr val="dk1"/>
                </a:solidFill>
              </a:rPr>
              <a:t>3.</a:t>
            </a:r>
            <a:r>
              <a:rPr lang="en" sz="900">
                <a:solidFill>
                  <a:schemeClr val="dk1"/>
                </a:solidFill>
                <a:latin typeface="Times New Roman"/>
                <a:ea typeface="Times New Roman"/>
                <a:cs typeface="Times New Roman"/>
                <a:sym typeface="Times New Roman"/>
              </a:rPr>
              <a:t> 	</a:t>
            </a:r>
            <a:r>
              <a:rPr lang="en" sz="1300" b="1">
                <a:solidFill>
                  <a:schemeClr val="dk1"/>
                </a:solidFill>
              </a:rPr>
              <a:t>Fit Between Brands:</a:t>
            </a:r>
            <a:r>
              <a:rPr lang="en" sz="1300">
                <a:solidFill>
                  <a:schemeClr val="dk1"/>
                </a:solidFill>
              </a:rPr>
              <a:t> Identified the strategic fit between Martha Stewart and Canopy Growth, leveraging their respective strengths to address unique challenges in the cannabis market.</a:t>
            </a:r>
            <a:endParaRPr sz="13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300">
                <a:solidFill>
                  <a:schemeClr val="dk1"/>
                </a:solidFill>
              </a:rPr>
              <a:t>4.</a:t>
            </a:r>
            <a:r>
              <a:rPr lang="en" sz="900">
                <a:solidFill>
                  <a:schemeClr val="dk1"/>
                </a:solidFill>
                <a:latin typeface="Times New Roman"/>
                <a:ea typeface="Times New Roman"/>
                <a:cs typeface="Times New Roman"/>
                <a:sym typeface="Times New Roman"/>
              </a:rPr>
              <a:t> 	</a:t>
            </a:r>
            <a:r>
              <a:rPr lang="en" sz="1300" b="1">
                <a:solidFill>
                  <a:schemeClr val="dk1"/>
                </a:solidFill>
              </a:rPr>
              <a:t>Problem Identification:</a:t>
            </a:r>
            <a:r>
              <a:rPr lang="en" sz="1300">
                <a:solidFill>
                  <a:schemeClr val="dk1"/>
                </a:solidFill>
              </a:rPr>
              <a:t> Identified the need to establish a clear brand positioning and product differentiation strategy in the competitive cannabis market. As soon as the problem is addressed, the growth has no limits.</a:t>
            </a:r>
            <a:endParaRPr sz="13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300">
                <a:solidFill>
                  <a:schemeClr val="dk1"/>
                </a:solidFill>
              </a:rPr>
              <a:t>5.</a:t>
            </a:r>
            <a:r>
              <a:rPr lang="en" sz="900">
                <a:solidFill>
                  <a:schemeClr val="dk1"/>
                </a:solidFill>
                <a:latin typeface="Times New Roman"/>
                <a:ea typeface="Times New Roman"/>
                <a:cs typeface="Times New Roman"/>
                <a:sym typeface="Times New Roman"/>
              </a:rPr>
              <a:t> 	</a:t>
            </a:r>
            <a:r>
              <a:rPr lang="en" sz="1300" b="1">
                <a:solidFill>
                  <a:schemeClr val="dk1"/>
                </a:solidFill>
              </a:rPr>
              <a:t>Segmentation Base Decision:</a:t>
            </a:r>
            <a:r>
              <a:rPr lang="en" sz="1300">
                <a:solidFill>
                  <a:schemeClr val="dk1"/>
                </a:solidFill>
              </a:rPr>
              <a:t> Recommended lifestyle-based segmentation to effectively target health-conscious consumers seeking premium cannabis products.</a:t>
            </a:r>
            <a:endParaRPr sz="1300">
              <a:solidFill>
                <a:schemeClr val="dk1"/>
              </a:solidFill>
            </a:endParaRPr>
          </a:p>
          <a:p>
            <a:pPr marL="0" lvl="0" indent="0" algn="l" rtl="0">
              <a:spcBef>
                <a:spcPts val="800"/>
              </a:spcBef>
              <a:spcAft>
                <a:spcPts val="0"/>
              </a:spcAft>
              <a:buNone/>
            </a:pPr>
            <a:endParaRPr sz="2000">
              <a:solidFill>
                <a:schemeClr val="dk2"/>
              </a:solidFill>
            </a:endParaRPr>
          </a:p>
        </p:txBody>
      </p:sp>
      <p:sp>
        <p:nvSpPr>
          <p:cNvPr id="518" name="Google Shape;518;p50"/>
          <p:cNvSpPr/>
          <p:nvPr/>
        </p:nvSpPr>
        <p:spPr>
          <a:xfrm>
            <a:off x="425575" y="1082200"/>
            <a:ext cx="486300" cy="474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 name="Google Shape;519;p50"/>
          <p:cNvSpPr/>
          <p:nvPr/>
        </p:nvSpPr>
        <p:spPr>
          <a:xfrm>
            <a:off x="425575" y="2018400"/>
            <a:ext cx="486300" cy="474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 name="Google Shape;520;p50"/>
          <p:cNvSpPr/>
          <p:nvPr/>
        </p:nvSpPr>
        <p:spPr>
          <a:xfrm>
            <a:off x="425575" y="2626463"/>
            <a:ext cx="486300" cy="474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 name="Google Shape;521;p50"/>
          <p:cNvSpPr/>
          <p:nvPr/>
        </p:nvSpPr>
        <p:spPr>
          <a:xfrm>
            <a:off x="425575" y="3404750"/>
            <a:ext cx="486300" cy="474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 name="Google Shape;522;p50"/>
          <p:cNvSpPr/>
          <p:nvPr/>
        </p:nvSpPr>
        <p:spPr>
          <a:xfrm>
            <a:off x="425575" y="4087250"/>
            <a:ext cx="486300" cy="474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Slide Number Placeholder 1">
            <a:extLst>
              <a:ext uri="{FF2B5EF4-FFF2-40B4-BE49-F238E27FC236}">
                <a16:creationId xmlns:a16="http://schemas.microsoft.com/office/drawing/2014/main" id="{26D35681-4B3D-E926-E414-D989CAC3E9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51"/>
          <p:cNvSpPr txBox="1">
            <a:spLocks noGrp="1"/>
          </p:cNvSpPr>
          <p:nvPr>
            <p:ph type="body" idx="1"/>
          </p:nvPr>
        </p:nvSpPr>
        <p:spPr>
          <a:xfrm>
            <a:off x="863325" y="131050"/>
            <a:ext cx="8017500" cy="2775000"/>
          </a:xfrm>
          <a:prstGeom prst="rect">
            <a:avLst/>
          </a:prstGeom>
        </p:spPr>
        <p:txBody>
          <a:bodyPr spcFirstLastPara="1" wrap="square" lIns="91425" tIns="91425" rIns="91425" bIns="91425" anchor="t" anchorCtr="0">
            <a:noAutofit/>
          </a:bodyPr>
          <a:lstStyle/>
          <a:p>
            <a:pPr marL="457200" lvl="0" indent="-228600" algn="just" rtl="0">
              <a:lnSpc>
                <a:spcPct val="150000"/>
              </a:lnSpc>
              <a:spcBef>
                <a:spcPts val="0"/>
              </a:spcBef>
              <a:spcAft>
                <a:spcPts val="0"/>
              </a:spcAft>
              <a:buClr>
                <a:schemeClr val="dk1"/>
              </a:buClr>
              <a:buSzPts val="1100"/>
              <a:buFont typeface="Arial"/>
              <a:buNone/>
            </a:pPr>
            <a:r>
              <a:rPr lang="en" sz="1300">
                <a:solidFill>
                  <a:schemeClr val="dk1"/>
                </a:solidFill>
              </a:rPr>
              <a:t>6.</a:t>
            </a:r>
            <a:r>
              <a:rPr lang="en" sz="1300">
                <a:solidFill>
                  <a:schemeClr val="dk1"/>
                </a:solidFill>
                <a:latin typeface="Times New Roman"/>
                <a:ea typeface="Times New Roman"/>
                <a:cs typeface="Times New Roman"/>
                <a:sym typeface="Times New Roman"/>
              </a:rPr>
              <a:t> 	</a:t>
            </a:r>
            <a:r>
              <a:rPr lang="en" sz="1300" b="1">
                <a:solidFill>
                  <a:schemeClr val="dk1"/>
                </a:solidFill>
              </a:rPr>
              <a:t>Target Market Decision:</a:t>
            </a:r>
            <a:r>
              <a:rPr lang="en" sz="1300">
                <a:solidFill>
                  <a:schemeClr val="dk1"/>
                </a:solidFill>
              </a:rPr>
              <a:t> Segmented the market based on lifestyle factors and health consciousness, targeting affluent lifestyle enthusiasts with premium cannabis offerings.</a:t>
            </a:r>
            <a:endParaRPr sz="13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300">
                <a:solidFill>
                  <a:schemeClr val="dk1"/>
                </a:solidFill>
              </a:rPr>
              <a:t>7.</a:t>
            </a:r>
            <a:r>
              <a:rPr lang="en" sz="1300">
                <a:solidFill>
                  <a:schemeClr val="dk1"/>
                </a:solidFill>
                <a:latin typeface="Times New Roman"/>
                <a:ea typeface="Times New Roman"/>
                <a:cs typeface="Times New Roman"/>
                <a:sym typeface="Times New Roman"/>
              </a:rPr>
              <a:t> 	</a:t>
            </a:r>
            <a:r>
              <a:rPr lang="en" sz="1300" b="1">
                <a:solidFill>
                  <a:schemeClr val="dk1"/>
                </a:solidFill>
              </a:rPr>
              <a:t>Positioning Decision:</a:t>
            </a:r>
            <a:r>
              <a:rPr lang="en" sz="1300">
                <a:solidFill>
                  <a:schemeClr val="dk1"/>
                </a:solidFill>
              </a:rPr>
              <a:t> Positioned Martha Stewart Cannabis as the premium lifestyle brand offering innovative and high-quality cannabis products, leveraging Martha Stewart's trusted reputation.</a:t>
            </a:r>
            <a:endParaRPr sz="13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300">
                <a:solidFill>
                  <a:schemeClr val="dk1"/>
                </a:solidFill>
              </a:rPr>
              <a:t>8.</a:t>
            </a:r>
            <a:r>
              <a:rPr lang="en" sz="1300">
                <a:solidFill>
                  <a:schemeClr val="dk1"/>
                </a:solidFill>
                <a:latin typeface="Times New Roman"/>
                <a:ea typeface="Times New Roman"/>
                <a:cs typeface="Times New Roman"/>
                <a:sym typeface="Times New Roman"/>
              </a:rPr>
              <a:t> 	</a:t>
            </a:r>
            <a:r>
              <a:rPr lang="en" sz="1300" b="1">
                <a:solidFill>
                  <a:schemeClr val="dk1"/>
                </a:solidFill>
              </a:rPr>
              <a:t>Key Benefit Determination &amp; Positioning Statement:</a:t>
            </a:r>
            <a:r>
              <a:rPr lang="en" sz="1300">
                <a:solidFill>
                  <a:schemeClr val="dk1"/>
                </a:solidFill>
              </a:rPr>
              <a:t> Crafted a positioning statement emphasizing Martha Stewart Cannabis as the premium brand for health-conscious lifestyle enthusiasts seeking innovative cannabis solutions.</a:t>
            </a:r>
            <a:endParaRPr sz="1300">
              <a:solidFill>
                <a:schemeClr val="dk1"/>
              </a:solidFill>
            </a:endParaRPr>
          </a:p>
          <a:p>
            <a:pPr marL="457200" lvl="0" indent="-228600" algn="just" rtl="0">
              <a:lnSpc>
                <a:spcPct val="150000"/>
              </a:lnSpc>
              <a:spcBef>
                <a:spcPts val="0"/>
              </a:spcBef>
              <a:spcAft>
                <a:spcPts val="0"/>
              </a:spcAft>
              <a:buClr>
                <a:schemeClr val="dk1"/>
              </a:buClr>
              <a:buSzPts val="1100"/>
              <a:buFont typeface="Arial"/>
              <a:buNone/>
            </a:pPr>
            <a:r>
              <a:rPr lang="en" sz="1300">
                <a:solidFill>
                  <a:schemeClr val="dk1"/>
                </a:solidFill>
              </a:rPr>
              <a:t>9.</a:t>
            </a:r>
            <a:r>
              <a:rPr lang="en" sz="1300">
                <a:solidFill>
                  <a:schemeClr val="dk1"/>
                </a:solidFill>
                <a:latin typeface="Times New Roman"/>
                <a:ea typeface="Times New Roman"/>
                <a:cs typeface="Times New Roman"/>
                <a:sym typeface="Times New Roman"/>
              </a:rPr>
              <a:t> 	</a:t>
            </a:r>
            <a:r>
              <a:rPr lang="en" sz="1300" b="1">
                <a:solidFill>
                  <a:schemeClr val="dk1"/>
                </a:solidFill>
              </a:rPr>
              <a:t>Brand Strategy &amp; Brand Name:</a:t>
            </a:r>
            <a:r>
              <a:rPr lang="en" sz="1300">
                <a:solidFill>
                  <a:schemeClr val="dk1"/>
                </a:solidFill>
              </a:rPr>
              <a:t> Adopted a sub-branding strategy, branding products under "Martha Stewart Cannabis" to capitalize on both brand equities.</a:t>
            </a:r>
            <a:endParaRPr sz="1300">
              <a:solidFill>
                <a:schemeClr val="dk1"/>
              </a:solidFill>
            </a:endParaRPr>
          </a:p>
          <a:p>
            <a:pPr marL="0" lvl="0" indent="0" algn="l" rtl="0">
              <a:spcBef>
                <a:spcPts val="800"/>
              </a:spcBef>
              <a:spcAft>
                <a:spcPts val="1200"/>
              </a:spcAft>
              <a:buNone/>
            </a:pPr>
            <a:endParaRPr sz="1300"/>
          </a:p>
        </p:txBody>
      </p:sp>
      <p:grpSp>
        <p:nvGrpSpPr>
          <p:cNvPr id="528" name="Google Shape;528;p51"/>
          <p:cNvGrpSpPr/>
          <p:nvPr/>
        </p:nvGrpSpPr>
        <p:grpSpPr>
          <a:xfrm>
            <a:off x="218850" y="179700"/>
            <a:ext cx="486300" cy="2441975"/>
            <a:chOff x="437725" y="1128150"/>
            <a:chExt cx="486300" cy="2441975"/>
          </a:xfrm>
        </p:grpSpPr>
        <p:sp>
          <p:nvSpPr>
            <p:cNvPr id="529" name="Google Shape;529;p51"/>
            <p:cNvSpPr/>
            <p:nvPr/>
          </p:nvSpPr>
          <p:spPr>
            <a:xfrm>
              <a:off x="437725" y="1128150"/>
              <a:ext cx="486300" cy="474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 name="Google Shape;530;p51"/>
            <p:cNvSpPr/>
            <p:nvPr/>
          </p:nvSpPr>
          <p:spPr>
            <a:xfrm>
              <a:off x="437725" y="1757450"/>
              <a:ext cx="486300" cy="474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 name="Google Shape;531;p51"/>
            <p:cNvSpPr/>
            <p:nvPr/>
          </p:nvSpPr>
          <p:spPr>
            <a:xfrm>
              <a:off x="437725" y="2386750"/>
              <a:ext cx="486300" cy="474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 name="Google Shape;532;p51"/>
            <p:cNvSpPr/>
            <p:nvPr/>
          </p:nvSpPr>
          <p:spPr>
            <a:xfrm>
              <a:off x="437725" y="3095825"/>
              <a:ext cx="486300" cy="474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33" name="Google Shape;533;p51"/>
          <p:cNvSpPr/>
          <p:nvPr/>
        </p:nvSpPr>
        <p:spPr>
          <a:xfrm rot="5400000">
            <a:off x="4328775" y="-559400"/>
            <a:ext cx="632400" cy="75633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 name="Google Shape;534;p51"/>
          <p:cNvSpPr txBox="1"/>
          <p:nvPr/>
        </p:nvSpPr>
        <p:spPr>
          <a:xfrm>
            <a:off x="449900" y="3477650"/>
            <a:ext cx="8378100" cy="149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1"/>
                </a:solidFill>
              </a:rPr>
              <a:t>Summary Rationale:</a:t>
            </a:r>
            <a:r>
              <a:rPr lang="en" sz="1600">
                <a:solidFill>
                  <a:schemeClr val="dk1"/>
                </a:solidFill>
              </a:rPr>
              <a:t> These recommendations aim to capitalize on the unique strengths of both Martha Stewart and Canopy Growth, positioning Martha Stewart Cannabis as the leading premium brand in the lifestyle cannabis market. By leveraging Martha Stewart's trusted reputation and Canopy Growth expertise in cannabis innovation, the joint venture can establish a strong foothold in the competitive cannabis</a:t>
            </a:r>
            <a:endParaRPr sz="2300">
              <a:solidFill>
                <a:schemeClr val="dk2"/>
              </a:solidFill>
            </a:endParaRPr>
          </a:p>
        </p:txBody>
      </p:sp>
      <p:sp>
        <p:nvSpPr>
          <p:cNvPr id="2" name="Slide Number Placeholder 1">
            <a:extLst>
              <a:ext uri="{FF2B5EF4-FFF2-40B4-BE49-F238E27FC236}">
                <a16:creationId xmlns:a16="http://schemas.microsoft.com/office/drawing/2014/main" id="{0E3D46D7-7DBA-93D0-3019-31F5173741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52"/>
          <p:cNvSpPr txBox="1">
            <a:spLocks noGrp="1"/>
          </p:cNvSpPr>
          <p:nvPr>
            <p:ph type="title"/>
          </p:nvPr>
        </p:nvSpPr>
        <p:spPr>
          <a:xfrm>
            <a:off x="117150" y="680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Let’s figure out how much is our industry attractive? </a:t>
            </a:r>
            <a:endParaRPr/>
          </a:p>
        </p:txBody>
      </p:sp>
      <p:sp>
        <p:nvSpPr>
          <p:cNvPr id="540" name="Google Shape;540;p52"/>
          <p:cNvSpPr txBox="1"/>
          <p:nvPr/>
        </p:nvSpPr>
        <p:spPr>
          <a:xfrm>
            <a:off x="182025" y="945325"/>
            <a:ext cx="8977500" cy="412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rPr>
              <a:t>Introduction</a:t>
            </a:r>
            <a:endParaRPr sz="2000" b="1">
              <a:solidFill>
                <a:schemeClr val="dk1"/>
              </a:solidFill>
            </a:endParaRPr>
          </a:p>
          <a:p>
            <a:pPr marL="0" lvl="0" indent="0" algn="l" rtl="0">
              <a:spcBef>
                <a:spcPts val="0"/>
              </a:spcBef>
              <a:spcAft>
                <a:spcPts val="0"/>
              </a:spcAft>
              <a:buClr>
                <a:schemeClr val="dk1"/>
              </a:buClr>
              <a:buSzPts val="1100"/>
              <a:buFont typeface="Arial"/>
              <a:buNone/>
            </a:pPr>
            <a:endParaRPr sz="1200">
              <a:solidFill>
                <a:schemeClr val="dk1"/>
              </a:solidFill>
            </a:endParaRPr>
          </a:p>
          <a:p>
            <a:pPr marL="0" lvl="0" indent="0" algn="l" rtl="0">
              <a:spcBef>
                <a:spcPts val="0"/>
              </a:spcBef>
              <a:spcAft>
                <a:spcPts val="0"/>
              </a:spcAft>
              <a:buNone/>
            </a:pPr>
            <a:r>
              <a:rPr lang="en">
                <a:solidFill>
                  <a:schemeClr val="dk1"/>
                </a:solidFill>
              </a:rPr>
              <a:t>This deck outlines a marketing strategy for the Martha Stewart CBD partnership with Canopy Growth Corporation, considering the current landscape of the legal cannabis industry in North America (US and Canada). We will analyze industry attractiveness using Porter's Five Forces and assess the competitive advantage of the joint venture through VRIO analysis.</a:t>
            </a:r>
            <a:endParaRPr>
              <a:solidFill>
                <a:schemeClr val="dk1"/>
              </a:solidFill>
            </a:endParaRPr>
          </a:p>
          <a:p>
            <a:pPr marL="0" lvl="0" indent="0" algn="l" rtl="0">
              <a:spcBef>
                <a:spcPts val="0"/>
              </a:spcBef>
              <a:spcAft>
                <a:spcPts val="0"/>
              </a:spcAft>
              <a:buNone/>
            </a:pPr>
            <a:r>
              <a:rPr lang="en" b="1">
                <a:solidFill>
                  <a:schemeClr val="dk1"/>
                </a:solidFill>
              </a:rPr>
              <a:t>Industry Attractiveness (Porter's Five Forces)</a:t>
            </a:r>
            <a:endParaRPr b="1">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b="1">
                <a:solidFill>
                  <a:schemeClr val="dk1"/>
                </a:solidFill>
              </a:rPr>
              <a:t>Threats of New Entrants (LOW-MEDIUM)</a:t>
            </a:r>
            <a:endParaRPr b="1">
              <a:solidFill>
                <a:schemeClr val="dk1"/>
              </a:solidFill>
            </a:endParaRPr>
          </a:p>
          <a:p>
            <a:pPr marL="0" lvl="0" indent="0" algn="l" rtl="0">
              <a:spcBef>
                <a:spcPts val="0"/>
              </a:spcBef>
              <a:spcAft>
                <a:spcPts val="0"/>
              </a:spcAft>
              <a:buNone/>
            </a:pPr>
            <a:r>
              <a:rPr lang="en" b="1">
                <a:solidFill>
                  <a:schemeClr val="dk1"/>
                </a:solidFill>
              </a:rPr>
              <a:t>Barriers to Entry:</a:t>
            </a:r>
            <a:r>
              <a:rPr lang="en">
                <a:solidFill>
                  <a:schemeClr val="dk1"/>
                </a:solidFill>
              </a:rPr>
              <a:t> Regulations, licensing requirements, and brand recognition create moderate barriers.</a:t>
            </a:r>
            <a:endParaRPr>
              <a:solidFill>
                <a:schemeClr val="dk1"/>
              </a:solidFill>
            </a:endParaRPr>
          </a:p>
          <a:p>
            <a:pPr marL="0" lvl="0" indent="0" algn="l" rtl="0">
              <a:spcBef>
                <a:spcPts val="0"/>
              </a:spcBef>
              <a:spcAft>
                <a:spcPts val="0"/>
              </a:spcAft>
              <a:buNone/>
            </a:pPr>
            <a:r>
              <a:rPr lang="en" b="1">
                <a:solidFill>
                  <a:schemeClr val="dk1"/>
                </a:solidFill>
              </a:rPr>
              <a:t>Capital Expenditure: </a:t>
            </a:r>
            <a:r>
              <a:rPr lang="en">
                <a:solidFill>
                  <a:schemeClr val="dk1"/>
                </a:solidFill>
              </a:rPr>
              <a:t>Cultivation facilities and brand building require significant capital investment.</a:t>
            </a:r>
            <a:endParaRPr>
              <a:solidFill>
                <a:schemeClr val="dk1"/>
              </a:solidFill>
            </a:endParaRPr>
          </a:p>
          <a:p>
            <a:pPr marL="0" lvl="0" indent="0" algn="l" rtl="0">
              <a:spcBef>
                <a:spcPts val="0"/>
              </a:spcBef>
              <a:spcAft>
                <a:spcPts val="0"/>
              </a:spcAft>
              <a:buNone/>
            </a:pPr>
            <a:r>
              <a:rPr lang="en" b="1">
                <a:solidFill>
                  <a:schemeClr val="dk1"/>
                </a:solidFill>
              </a:rPr>
              <a:t>Distribution Challenges:</a:t>
            </a:r>
            <a:r>
              <a:rPr lang="en">
                <a:solidFill>
                  <a:schemeClr val="dk1"/>
                </a:solidFill>
              </a:rPr>
              <a:t> Establishing distribution channels in a complex regulatory environment can be difficult.</a:t>
            </a:r>
            <a:endParaRPr>
              <a:solidFill>
                <a:schemeClr val="dk1"/>
              </a:solidFill>
            </a:endParaRPr>
          </a:p>
          <a:p>
            <a:pPr marL="0" lvl="0" indent="0" algn="l" rtl="0">
              <a:spcBef>
                <a:spcPts val="0"/>
              </a:spcBef>
              <a:spcAft>
                <a:spcPts val="0"/>
              </a:spcAft>
              <a:buNone/>
            </a:pPr>
            <a:r>
              <a:rPr lang="en">
                <a:solidFill>
                  <a:schemeClr val="dk1"/>
                </a:solidFill>
              </a:rPr>
              <a:t>Overall: The cannabis industry is still evolving, but the barriers are not insurmountable for large, well-funded companies.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solidFill>
                <a:schemeClr val="dk1"/>
              </a:solidFill>
            </a:endParaRPr>
          </a:p>
        </p:txBody>
      </p:sp>
      <p:sp>
        <p:nvSpPr>
          <p:cNvPr id="2" name="Slide Number Placeholder 1">
            <a:extLst>
              <a:ext uri="{FF2B5EF4-FFF2-40B4-BE49-F238E27FC236}">
                <a16:creationId xmlns:a16="http://schemas.microsoft.com/office/drawing/2014/main" id="{83DAB5B2-6AE9-1ABB-9C5E-DA0BE057C8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pic>
        <p:nvPicPr>
          <p:cNvPr id="545" name="Google Shape;545;p53"/>
          <p:cNvPicPr preferRelativeResize="0"/>
          <p:nvPr/>
        </p:nvPicPr>
        <p:blipFill>
          <a:blip r:embed="rId3">
            <a:alphaModFix/>
          </a:blip>
          <a:stretch>
            <a:fillRect/>
          </a:stretch>
        </p:blipFill>
        <p:spPr>
          <a:xfrm>
            <a:off x="152400" y="152400"/>
            <a:ext cx="5980669" cy="4838700"/>
          </a:xfrm>
          <a:prstGeom prst="rect">
            <a:avLst/>
          </a:prstGeom>
          <a:noFill/>
          <a:ln>
            <a:noFill/>
          </a:ln>
        </p:spPr>
      </p:pic>
      <p:sp>
        <p:nvSpPr>
          <p:cNvPr id="546" name="Google Shape;546;p53"/>
          <p:cNvSpPr txBox="1"/>
          <p:nvPr/>
        </p:nvSpPr>
        <p:spPr>
          <a:xfrm>
            <a:off x="6286475" y="231050"/>
            <a:ext cx="2480700" cy="32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6 FORCES</a:t>
            </a:r>
            <a:endParaRPr sz="1800">
              <a:solidFill>
                <a:schemeClr val="dk1"/>
              </a:solidFill>
            </a:endParaRPr>
          </a:p>
        </p:txBody>
      </p:sp>
      <p:sp>
        <p:nvSpPr>
          <p:cNvPr id="547" name="Google Shape;547;p53"/>
          <p:cNvSpPr txBox="1"/>
          <p:nvPr/>
        </p:nvSpPr>
        <p:spPr>
          <a:xfrm>
            <a:off x="6286475" y="1732200"/>
            <a:ext cx="2784600" cy="3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The overall market attractiveness for the industry appears moderately positive, characterized by moderate competitive rivalry, bargaining power from both buyers and suppliers, and a moderate threat of new entrants. While competition may lead to price pressures, it also drives innovation and market growth. Additionally, the balanced bargaining power of buyers and suppliers allows for negotiation without severely impacting profitability. The moderate threat of new entrants indicates opportunities for both existing and new players to thrive, maintaining a healthy level of market competition. Overall, these factors collectively suggest favorable conditions for profitability and growth within the industry.</a:t>
            </a:r>
            <a:endParaRPr sz="1100">
              <a:solidFill>
                <a:schemeClr val="dk1"/>
              </a:solidFill>
            </a:endParaRPr>
          </a:p>
        </p:txBody>
      </p:sp>
      <p:sp>
        <p:nvSpPr>
          <p:cNvPr id="548" name="Google Shape;548;p53"/>
          <p:cNvSpPr txBox="1"/>
          <p:nvPr/>
        </p:nvSpPr>
        <p:spPr>
          <a:xfrm>
            <a:off x="6250025" y="911975"/>
            <a:ext cx="2614200" cy="55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So, how is the market overall ?</a:t>
            </a:r>
            <a:endParaRPr sz="1800" b="1">
              <a:solidFill>
                <a:schemeClr val="dk1"/>
              </a:solidFill>
            </a:endParaRPr>
          </a:p>
        </p:txBody>
      </p:sp>
      <p:sp>
        <p:nvSpPr>
          <p:cNvPr id="2" name="Slide Number Placeholder 1">
            <a:extLst>
              <a:ext uri="{FF2B5EF4-FFF2-40B4-BE49-F238E27FC236}">
                <a16:creationId xmlns:a16="http://schemas.microsoft.com/office/drawing/2014/main" id="{B77A535E-5FDB-4107-69D4-7B2AA22E53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pic>
        <p:nvPicPr>
          <p:cNvPr id="553" name="Google Shape;553;p54"/>
          <p:cNvPicPr preferRelativeResize="0"/>
          <p:nvPr/>
        </p:nvPicPr>
        <p:blipFill>
          <a:blip r:embed="rId3">
            <a:alphaModFix/>
          </a:blip>
          <a:stretch>
            <a:fillRect/>
          </a:stretch>
        </p:blipFill>
        <p:spPr>
          <a:xfrm>
            <a:off x="152400" y="152400"/>
            <a:ext cx="5519208" cy="4838700"/>
          </a:xfrm>
          <a:prstGeom prst="rect">
            <a:avLst/>
          </a:prstGeom>
          <a:noFill/>
          <a:ln>
            <a:noFill/>
          </a:ln>
        </p:spPr>
      </p:pic>
      <p:sp>
        <p:nvSpPr>
          <p:cNvPr id="554" name="Google Shape;554;p54"/>
          <p:cNvSpPr txBox="1"/>
          <p:nvPr/>
        </p:nvSpPr>
        <p:spPr>
          <a:xfrm>
            <a:off x="5763600" y="802500"/>
            <a:ext cx="3380400" cy="434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The VRIO analysis reveals several key competitive advantages for Martha Stewart in the joint venture. Firstly, the exclusive brand partnership with Martha Stewart brings significant value due to her extensive fan base, consumer influence, and reputation for quality and innovation, providing a unique advantage that is difficult for competitors to imitate. Secondly, the possession of proprietary cannabis cultivation technology contributes to product quality and innovation, offering a sustained competitive advantage through its rarity and difficulty of imitation. Additionally, a strong distribution network ensures widespread availability of Martha Stewart CBD products, enhancing market reach and accessibility, and potentially outperforming competitors in product distribution and market penetration. Moreover, an experienced management team adds value through strategic decision-making and industry expertise, further contributing to the joint venture's competitive positioning and success. Finally, a unique product line caters to a broader consumer base, enhancing market penetration and differentiation from competitors, thus solidifying Martha Stewart's competitive advantage in the cannabis industry.</a:t>
            </a:r>
            <a:endParaRPr sz="1100">
              <a:solidFill>
                <a:schemeClr val="dk1"/>
              </a:solidFill>
            </a:endParaRPr>
          </a:p>
        </p:txBody>
      </p:sp>
      <p:sp>
        <p:nvSpPr>
          <p:cNvPr id="555" name="Google Shape;555;p54"/>
          <p:cNvSpPr txBox="1"/>
          <p:nvPr/>
        </p:nvSpPr>
        <p:spPr>
          <a:xfrm>
            <a:off x="5671600" y="152400"/>
            <a:ext cx="3380400" cy="2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Let's Analyze the competitive advantages </a:t>
            </a:r>
            <a:endParaRPr sz="1800" b="1">
              <a:solidFill>
                <a:schemeClr val="dk1"/>
              </a:solidFill>
            </a:endParaRPr>
          </a:p>
        </p:txBody>
      </p:sp>
      <p:sp>
        <p:nvSpPr>
          <p:cNvPr id="2" name="Slide Number Placeholder 1">
            <a:extLst>
              <a:ext uri="{FF2B5EF4-FFF2-40B4-BE49-F238E27FC236}">
                <a16:creationId xmlns:a16="http://schemas.microsoft.com/office/drawing/2014/main" id="{526A4CAC-3439-C792-AA88-F7B9B8226E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55"/>
          <p:cNvSpPr txBox="1">
            <a:spLocks noGrp="1"/>
          </p:cNvSpPr>
          <p:nvPr>
            <p:ph type="title"/>
          </p:nvPr>
        </p:nvSpPr>
        <p:spPr>
          <a:xfrm>
            <a:off x="92825" y="55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 </a:t>
            </a:r>
            <a:endParaRPr/>
          </a:p>
        </p:txBody>
      </p:sp>
      <p:sp>
        <p:nvSpPr>
          <p:cNvPr id="561" name="Google Shape;561;p55"/>
          <p:cNvSpPr txBox="1"/>
          <p:nvPr/>
        </p:nvSpPr>
        <p:spPr>
          <a:xfrm>
            <a:off x="92825" y="620100"/>
            <a:ext cx="8779200" cy="44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1.	Report State Medical Cannabis Laws (no date) National Conference of State Legislatures. Available at: https://www.ncsl.org/health/state-medical-cannabis-laws (Accessed: 26 March 2024). </a:t>
            </a:r>
            <a:endParaRPr sz="1500">
              <a:solidFill>
                <a:schemeClr val="dk1"/>
              </a:solidFill>
            </a:endParaRPr>
          </a:p>
          <a:p>
            <a:pPr marL="0" lvl="0" indent="0" algn="l" rtl="0">
              <a:spcBef>
                <a:spcPts val="0"/>
              </a:spcBef>
              <a:spcAft>
                <a:spcPts val="0"/>
              </a:spcAft>
              <a:buClr>
                <a:schemeClr val="dk1"/>
              </a:buClr>
              <a:buSzPts val="1100"/>
              <a:buFont typeface="Arial"/>
              <a:buNone/>
            </a:pPr>
            <a:endParaRPr sz="1500">
              <a:solidFill>
                <a:schemeClr val="dk1"/>
              </a:solidFill>
            </a:endParaRPr>
          </a:p>
          <a:p>
            <a:pPr marL="0" lvl="0" indent="0" algn="l" rtl="0">
              <a:spcBef>
                <a:spcPts val="0"/>
              </a:spcBef>
              <a:spcAft>
                <a:spcPts val="0"/>
              </a:spcAft>
              <a:buNone/>
            </a:pPr>
            <a:r>
              <a:rPr lang="en" sz="1500">
                <a:solidFill>
                  <a:schemeClr val="dk1"/>
                </a:solidFill>
              </a:rPr>
              <a:t>2.	McNarland, B. (2024) Canopy Growth’s U.S. market strategy, The Dales Report. Available at: https://thedalesreport.com/cannabis/canopy-growths-u-s-market-strategy/#:~:text=Legal%20and%20Regulatory%20Strategy%3A%20Through,in%20the%20U.S.%20cannabis%20industry. (Accessed: 26 March 2024). </a:t>
            </a:r>
            <a:endParaRPr sz="1500">
              <a:solidFill>
                <a:schemeClr val="dk1"/>
              </a:solidFill>
            </a:endParaRPr>
          </a:p>
          <a:p>
            <a:pPr marL="0" lvl="0" indent="0" algn="l" rtl="0">
              <a:spcBef>
                <a:spcPts val="0"/>
              </a:spcBef>
              <a:spcAft>
                <a:spcPts val="0"/>
              </a:spcAft>
              <a:buClr>
                <a:schemeClr val="dk1"/>
              </a:buClr>
              <a:buSzPts val="1100"/>
              <a:buFont typeface="Arial"/>
              <a:buNone/>
            </a:pPr>
            <a:endParaRPr sz="1500">
              <a:solidFill>
                <a:schemeClr val="dk1"/>
              </a:solidFill>
            </a:endParaRPr>
          </a:p>
          <a:p>
            <a:pPr marL="0" lvl="0" indent="0" algn="l" rtl="0">
              <a:spcBef>
                <a:spcPts val="0"/>
              </a:spcBef>
              <a:spcAft>
                <a:spcPts val="0"/>
              </a:spcAft>
              <a:buNone/>
            </a:pPr>
            <a:r>
              <a:rPr lang="en" sz="1500">
                <a:solidFill>
                  <a:schemeClr val="dk1"/>
                </a:solidFill>
              </a:rPr>
              <a:t>3.	Reiff, N. (no date) 7 biggest canadian marijuana companies, Investopedia. Available at: https://www.investopedia.com/top-canadian-cannabis-companies-by-revenue-4587803 (Accessed: 26 March 2024).   </a:t>
            </a:r>
            <a:endParaRPr sz="1500">
              <a:solidFill>
                <a:schemeClr val="dk1"/>
              </a:solidFill>
            </a:endParaRPr>
          </a:p>
          <a:p>
            <a:pPr marL="0" lvl="0" indent="0" algn="l" rtl="0">
              <a:spcBef>
                <a:spcPts val="0"/>
              </a:spcBef>
              <a:spcAft>
                <a:spcPts val="0"/>
              </a:spcAft>
              <a:buClr>
                <a:schemeClr val="dk1"/>
              </a:buClr>
              <a:buSzPts val="1100"/>
              <a:buFont typeface="Arial"/>
              <a:buNone/>
            </a:pPr>
            <a:endParaRPr sz="1500">
              <a:solidFill>
                <a:schemeClr val="dk1"/>
              </a:solidFill>
            </a:endParaRPr>
          </a:p>
          <a:p>
            <a:pPr marL="0" lvl="0" indent="0" algn="l" rtl="0">
              <a:spcBef>
                <a:spcPts val="0"/>
              </a:spcBef>
              <a:spcAft>
                <a:spcPts val="0"/>
              </a:spcAft>
              <a:buClr>
                <a:schemeClr val="dk1"/>
              </a:buClr>
              <a:buSzPts val="1100"/>
              <a:buFont typeface="Arial"/>
              <a:buNone/>
            </a:pPr>
            <a:r>
              <a:rPr lang="en" sz="1500">
                <a:solidFill>
                  <a:schemeClr val="dk1"/>
                </a:solidFill>
              </a:rPr>
              <a:t>4.	Corporation, C.G. (2021) Canopy Growth welcomes Martha Stewart as Official Strategic advisor, PR Newswire: press release distribution, targeting, monitoring and marketing. Available at: https://www.prnewswire.com/news-releases/canopy-growth-welcomes-martha-stewart-as-official-strategic-advisor-301295741.html (Accessed: 26 March 2024). </a:t>
            </a:r>
            <a:endParaRPr sz="1500">
              <a:solidFill>
                <a:schemeClr val="dk1"/>
              </a:solidFill>
            </a:endParaRPr>
          </a:p>
          <a:p>
            <a:pPr marL="0" lvl="0" indent="0" algn="l" rtl="0">
              <a:spcBef>
                <a:spcPts val="0"/>
              </a:spcBef>
              <a:spcAft>
                <a:spcPts val="0"/>
              </a:spcAft>
              <a:buClr>
                <a:schemeClr val="dk1"/>
              </a:buClr>
              <a:buSzPts val="1100"/>
              <a:buFont typeface="Arial"/>
              <a:buNone/>
            </a:pPr>
            <a:endParaRPr sz="1500">
              <a:solidFill>
                <a:schemeClr val="dk1"/>
              </a:solidFill>
            </a:endParaRPr>
          </a:p>
          <a:p>
            <a:pPr marL="0" lvl="0" indent="0" algn="l" rtl="0">
              <a:spcBef>
                <a:spcPts val="0"/>
              </a:spcBef>
              <a:spcAft>
                <a:spcPts val="0"/>
              </a:spcAft>
              <a:buNone/>
            </a:pPr>
            <a:endParaRPr sz="1100">
              <a:solidFill>
                <a:schemeClr val="dk1"/>
              </a:solidFill>
            </a:endParaRPr>
          </a:p>
        </p:txBody>
      </p:sp>
      <p:sp>
        <p:nvSpPr>
          <p:cNvPr id="2" name="Slide Number Placeholder 1">
            <a:extLst>
              <a:ext uri="{FF2B5EF4-FFF2-40B4-BE49-F238E27FC236}">
                <a16:creationId xmlns:a16="http://schemas.microsoft.com/office/drawing/2014/main" id="{C31731AF-24B4-A216-4F19-C883CDCA96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6879</Words>
  <Application>Microsoft Macintosh PowerPoint</Application>
  <PresentationFormat>On-screen Show (16:9)</PresentationFormat>
  <Paragraphs>356</Paragraphs>
  <Slides>43</Slides>
  <Notes>43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Times New Roman</vt:lpstr>
      <vt:lpstr>Roboto Thin</vt:lpstr>
      <vt:lpstr>Roboto</vt:lpstr>
      <vt:lpstr>Simple Light</vt:lpstr>
      <vt:lpstr>PowerPoint Presentation</vt:lpstr>
      <vt:lpstr>PowerPoint Presentation</vt:lpstr>
      <vt:lpstr>PowerPoint Presentation</vt:lpstr>
      <vt:lpstr>PowerPoint Presentation</vt:lpstr>
      <vt:lpstr>PowerPoint Presentation</vt:lpstr>
      <vt:lpstr>Strategic Landscape: Martha Stewart &amp; Canopy Growth</vt:lpstr>
      <vt:lpstr>Strategic Landscape: Martha Stewart &amp; Canopy Growth</vt:lpstr>
      <vt:lpstr>PowerPoint Presentation</vt:lpstr>
      <vt:lpstr>PowerPoint Presentation</vt:lpstr>
      <vt:lpstr>PowerPoint Presentation</vt:lpstr>
      <vt:lpstr>Strategic Landscape: Martha Stewart &amp; Canopy Growth</vt:lpstr>
      <vt:lpstr>PowerPoint Presentation</vt:lpstr>
      <vt:lpstr>Let us examine the competitive advantage in detail. </vt:lpstr>
      <vt:lpstr>Let us examine the competitive advantage in detail. </vt:lpstr>
      <vt:lpstr>So, what are the outcomes of the Competitive Advantage Analysis?</vt:lpstr>
      <vt:lpstr>Beyond the Stigma: Insights for Martha Stewart's CBD Strategy</vt:lpstr>
      <vt:lpstr>Talking about Pestle Analysis </vt:lpstr>
      <vt:lpstr>PowerPoint Presentation</vt:lpstr>
      <vt:lpstr>Allow us to investigate the insights from Porter's Five Forces. </vt:lpstr>
      <vt:lpstr>Beyond the Stigma: Insights for Martha Stewart's CBD Strategy</vt:lpstr>
      <vt:lpstr>The question is does Martha Stewart bring benefits or challenges to the joint venture and the overall cannabis industry? Let's figure out </vt:lpstr>
      <vt:lpstr>Whether Martha Stewart should be involved in the cannabis industry ?</vt:lpstr>
      <vt:lpstr>Benefits and Challenges of Canopy Growth Involvement </vt:lpstr>
      <vt:lpstr>A good strategic fit exists between Martha Stewart and Canopy Growth due to complementary strengths and shared objectives</vt:lpstr>
      <vt:lpstr>The joint venture between Martha Stewart and Canopy Growth helps address some of the unique challenges of the cannabis industry</vt:lpstr>
      <vt:lpstr>What problems did we identified? </vt:lpstr>
      <vt:lpstr>What did we examine, and can we backup our problem?</vt:lpstr>
      <vt:lpstr>We have divided the market into four segment, and assessed them in-terms for different criteria below: </vt:lpstr>
      <vt:lpstr>Let's talk in detail</vt:lpstr>
      <vt:lpstr>TARGET MARKET SEGMENTATION</vt:lpstr>
      <vt:lpstr>Lets deeply Analyze the target market segment </vt:lpstr>
      <vt:lpstr>PERCEPTUAL MAPS:1</vt:lpstr>
      <vt:lpstr>PERCEPTUAL MAPS:2</vt:lpstr>
      <vt:lpstr>PERCEPTUAL MAPS:3</vt:lpstr>
      <vt:lpstr>POSITIONING STATEMENT </vt:lpstr>
      <vt:lpstr>After understanding the Positioning statement what are the key benefits then?</vt:lpstr>
      <vt:lpstr>What kind of brand strategy should we adopt?</vt:lpstr>
      <vt:lpstr>PowerPoint Presentation</vt:lpstr>
      <vt:lpstr>PowerPoint Presentation</vt:lpstr>
      <vt:lpstr>Let’s figure out how much is our industry attractive? </vt:lpstr>
      <vt:lpstr>PowerPoint Presentation</vt:lpstr>
      <vt:lpstr>PowerPoint Presentation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shreya Punj</cp:lastModifiedBy>
  <cp:revision>4</cp:revision>
  <dcterms:modified xsi:type="dcterms:W3CDTF">2025-12-10T20:49:35Z</dcterms:modified>
</cp:coreProperties>
</file>