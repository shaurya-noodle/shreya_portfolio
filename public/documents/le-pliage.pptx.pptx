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1" r:id="rId17"/>
    <p:sldId id="273" r:id="rId18"/>
    <p:sldId id="274" r:id="rId19"/>
    <p:sldId id="275" r:id="rId20"/>
    <p:sldId id="276" r:id="rId21"/>
    <p:sldId id="277" r:id="rId22"/>
    <p:sldId id="278" r:id="rId23"/>
    <p:sldId id="279" r:id="rId24"/>
    <p:sldId id="281"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33"/>
  </p:normalViewPr>
  <p:slideViewPr>
    <p:cSldViewPr snapToGrid="0">
      <p:cViewPr varScale="1">
        <p:scale>
          <a:sx n="104" d="100"/>
          <a:sy n="104" d="100"/>
        </p:scale>
        <p:origin x="8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FE08D-FCCB-1A1B-6D49-B9452AFF1C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6F69C9-23D1-55D5-64C1-C93F4AB264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73C3D9-0987-BA46-4A9C-4B73F77C9701}"/>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5" name="Footer Placeholder 4">
            <a:extLst>
              <a:ext uri="{FF2B5EF4-FFF2-40B4-BE49-F238E27FC236}">
                <a16:creationId xmlns:a16="http://schemas.microsoft.com/office/drawing/2014/main" id="{6C8F02CE-B3EC-3D73-8F9E-3E3B5C26AB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F84F3-042B-E173-8EEE-1BC3A2A88E6C}"/>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4272381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0B3E-4A8C-148C-5245-021EE1C2AA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4B159B-4FF4-B678-71DC-61B536976A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E612F3-5F5F-8425-2167-1735F645C835}"/>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5" name="Footer Placeholder 4">
            <a:extLst>
              <a:ext uri="{FF2B5EF4-FFF2-40B4-BE49-F238E27FC236}">
                <a16:creationId xmlns:a16="http://schemas.microsoft.com/office/drawing/2014/main" id="{BA3DE7AE-0808-14DC-513C-97FD4772A2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890FC1-785D-3BB0-1979-640B11490F1E}"/>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191366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EC538-740C-3DF5-E3AC-F734C085C9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BB5A79-C8D3-F22C-8FCE-0C49B19FFD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51D9C0-1AF9-EF38-C3ED-AC3C74F931FE}"/>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5" name="Footer Placeholder 4">
            <a:extLst>
              <a:ext uri="{FF2B5EF4-FFF2-40B4-BE49-F238E27FC236}">
                <a16:creationId xmlns:a16="http://schemas.microsoft.com/office/drawing/2014/main" id="{B796E2A4-23EF-3FA3-76E9-37F5DE2DA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870B0A-31E3-A546-3024-4F91D9BCC91E}"/>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3979797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26F74-8EB8-80DD-D5A7-ACBC81A47C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BC1A23-BE1C-7076-E6DB-8F8CC84F2F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F5255D-D57C-4218-CF9C-EA66B7DAB5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57890E-DCB6-E879-7D2D-E28BE6264046}"/>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6" name="Footer Placeholder 5">
            <a:extLst>
              <a:ext uri="{FF2B5EF4-FFF2-40B4-BE49-F238E27FC236}">
                <a16:creationId xmlns:a16="http://schemas.microsoft.com/office/drawing/2014/main" id="{C93BF7C8-848D-AFE6-81A7-F88C4A6D34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2D01B0-6981-503D-A58B-2DEBAA59E935}"/>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4022611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26F0F-DC36-0038-30BD-8D781DA97C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77418A-B92D-A508-3DEA-E1A0A792B9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E83D04-0441-4A51-4F52-276DFD81BC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02FA8F-5827-8880-FD4B-91EC2E1567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A502B4-48FB-E73F-E2B1-84EA040380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3EBD63-AD6A-2818-5C7F-B1FE46129F85}"/>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8" name="Footer Placeholder 7">
            <a:extLst>
              <a:ext uri="{FF2B5EF4-FFF2-40B4-BE49-F238E27FC236}">
                <a16:creationId xmlns:a16="http://schemas.microsoft.com/office/drawing/2014/main" id="{5AEF36F1-675D-52A4-8E8B-F6DC14FAF9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E6E096-5DD2-84FD-1D6E-F728E69A5ED2}"/>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2304569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FD345-94C7-8A3A-6BA5-3C40EEA260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080649-93F2-26E2-880A-0C085EF1A1DA}"/>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4" name="Footer Placeholder 3">
            <a:extLst>
              <a:ext uri="{FF2B5EF4-FFF2-40B4-BE49-F238E27FC236}">
                <a16:creationId xmlns:a16="http://schemas.microsoft.com/office/drawing/2014/main" id="{492CD726-1128-ED86-0CBF-EE7D0973E3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29C763-2952-71AB-D4AD-1C6E9E41F197}"/>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3866938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760457-BA47-622F-F9A6-922EB34E0D6F}"/>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3" name="Footer Placeholder 2">
            <a:extLst>
              <a:ext uri="{FF2B5EF4-FFF2-40B4-BE49-F238E27FC236}">
                <a16:creationId xmlns:a16="http://schemas.microsoft.com/office/drawing/2014/main" id="{362E70BD-0295-0587-C558-CF0B179DA2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53C870-2BC3-8EB4-12D5-2F2B8F181AE4}"/>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421561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9C48A-7ABC-8C6C-F244-355EEA9EAB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00458F-35EA-8592-553D-28F0F8180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9BCADB-05DB-568C-A4FC-415623B3E6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D6FE50-8901-1C06-0D1A-B76BEFFEFB87}"/>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6" name="Footer Placeholder 5">
            <a:extLst>
              <a:ext uri="{FF2B5EF4-FFF2-40B4-BE49-F238E27FC236}">
                <a16:creationId xmlns:a16="http://schemas.microsoft.com/office/drawing/2014/main" id="{1BFDAC5D-E6F1-8099-4B17-1810336039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6CCE86-56DE-6BD4-D5DC-05B392CBB7B1}"/>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2091472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288E1-F573-55C7-BCA6-D77D4BD2BF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C7DA9E-01E4-50E4-573E-B122858C37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8C6E92-9987-7CD7-0907-A43D2DA652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14CD8D-030D-AFE5-B572-4AAAD3610CC4}"/>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6" name="Footer Placeholder 5">
            <a:extLst>
              <a:ext uri="{FF2B5EF4-FFF2-40B4-BE49-F238E27FC236}">
                <a16:creationId xmlns:a16="http://schemas.microsoft.com/office/drawing/2014/main" id="{1F2C21D0-7D03-A6BB-7D43-291E1BABDC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E131E8-641B-DADA-0B41-D5B8C5F9CDAE}"/>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3792772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E6255-DA0D-C420-CDFD-524D434FD9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5096C5-78F0-A758-EB65-4BC7107068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211DB-6628-9F91-97E9-8A958A94B71E}"/>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5" name="Footer Placeholder 4">
            <a:extLst>
              <a:ext uri="{FF2B5EF4-FFF2-40B4-BE49-F238E27FC236}">
                <a16:creationId xmlns:a16="http://schemas.microsoft.com/office/drawing/2014/main" id="{DF8A94CE-6544-BD4B-1E7F-19927C3CA2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21672-924C-63C7-CAA7-E2B56AFE53B5}"/>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318363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E1E1F4-D808-BD18-850A-887E0ED8D4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8137BF-E441-EB93-0681-C275839EE5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C35DC1-6ED6-18AB-EDEF-040D4A77DB62}"/>
              </a:ext>
            </a:extLst>
          </p:cNvPr>
          <p:cNvSpPr>
            <a:spLocks noGrp="1"/>
          </p:cNvSpPr>
          <p:nvPr>
            <p:ph type="dt" sz="half" idx="10"/>
          </p:nvPr>
        </p:nvSpPr>
        <p:spPr/>
        <p:txBody>
          <a:bodyPr/>
          <a:lstStyle/>
          <a:p>
            <a:fld id="{3BAF716C-5706-D540-A492-E59A7994982C}" type="datetimeFigureOut">
              <a:rPr lang="en-US" smtClean="0"/>
              <a:t>12/10/25</a:t>
            </a:fld>
            <a:endParaRPr lang="en-US"/>
          </a:p>
        </p:txBody>
      </p:sp>
      <p:sp>
        <p:nvSpPr>
          <p:cNvPr id="5" name="Footer Placeholder 4">
            <a:extLst>
              <a:ext uri="{FF2B5EF4-FFF2-40B4-BE49-F238E27FC236}">
                <a16:creationId xmlns:a16="http://schemas.microsoft.com/office/drawing/2014/main" id="{61534E87-5272-A4EC-1074-F49B537BF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5C6973-EECB-FC0D-8D96-858838B501C8}"/>
              </a:ext>
            </a:extLst>
          </p:cNvPr>
          <p:cNvSpPr>
            <a:spLocks noGrp="1"/>
          </p:cNvSpPr>
          <p:nvPr>
            <p:ph type="sldNum" sz="quarter" idx="12"/>
          </p:nvPr>
        </p:nvSpPr>
        <p:spPr/>
        <p:txBody>
          <a:bodyPr/>
          <a:lstStyle/>
          <a:p>
            <a:fld id="{10A630E0-3020-F449-9FB8-A51DE3AEC27C}" type="slidenum">
              <a:rPr lang="en-US" smtClean="0"/>
              <a:t>‹#›</a:t>
            </a:fld>
            <a:endParaRPr lang="en-US"/>
          </a:p>
        </p:txBody>
      </p:sp>
    </p:spTree>
    <p:extLst>
      <p:ext uri="{BB962C8B-B14F-4D97-AF65-F5344CB8AC3E}">
        <p14:creationId xmlns:p14="http://schemas.microsoft.com/office/powerpoint/2010/main" val="736376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176AEE-7E89-EB78-9656-80F32CB72E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5859DA-9104-D792-7546-FE8ED24BEE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4AE047-922E-661D-27CF-AD0E382267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AF716C-5706-D540-A492-E59A7994982C}" type="datetimeFigureOut">
              <a:rPr lang="en-US" smtClean="0"/>
              <a:t>12/10/25</a:t>
            </a:fld>
            <a:endParaRPr lang="en-US"/>
          </a:p>
        </p:txBody>
      </p:sp>
      <p:sp>
        <p:nvSpPr>
          <p:cNvPr id="5" name="Footer Placeholder 4">
            <a:extLst>
              <a:ext uri="{FF2B5EF4-FFF2-40B4-BE49-F238E27FC236}">
                <a16:creationId xmlns:a16="http://schemas.microsoft.com/office/drawing/2014/main" id="{33003B52-0304-B80D-C3D0-E7A9E72666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4828B04-6CFC-0AB3-8505-9C1DB39030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A630E0-3020-F449-9FB8-A51DE3AEC27C}" type="slidenum">
              <a:rPr lang="en-US" smtClean="0"/>
              <a:t>‹#›</a:t>
            </a:fld>
            <a:endParaRPr lang="en-US"/>
          </a:p>
        </p:txBody>
      </p:sp>
    </p:spTree>
    <p:extLst>
      <p:ext uri="{BB962C8B-B14F-4D97-AF65-F5344CB8AC3E}">
        <p14:creationId xmlns:p14="http://schemas.microsoft.com/office/powerpoint/2010/main" val="2577708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white text&#10;&#10;Description automatically generated">
            <a:extLst>
              <a:ext uri="{FF2B5EF4-FFF2-40B4-BE49-F238E27FC236}">
                <a16:creationId xmlns:a16="http://schemas.microsoft.com/office/drawing/2014/main" id="{FD57CA55-C9F7-7668-929C-398C0936E4A1}"/>
              </a:ext>
            </a:extLst>
          </p:cNvPr>
          <p:cNvPicPr>
            <a:picLocks noChangeAspect="1"/>
          </p:cNvPicPr>
          <p:nvPr/>
        </p:nvPicPr>
        <p:blipFill>
          <a:blip r:embed="rId2"/>
          <a:stretch>
            <a:fillRect/>
          </a:stretch>
        </p:blipFill>
        <p:spPr>
          <a:xfrm>
            <a:off x="3288031" y="-5911"/>
            <a:ext cx="5130952" cy="3848214"/>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35B493-6A3C-C505-ACAC-7A4F47C56258}"/>
              </a:ext>
            </a:extLst>
          </p:cNvPr>
          <p:cNvSpPr txBox="1"/>
          <p:nvPr/>
        </p:nvSpPr>
        <p:spPr>
          <a:xfrm>
            <a:off x="2801388" y="2408021"/>
            <a:ext cx="6104238" cy="830997"/>
          </a:xfrm>
          <a:prstGeom prst="rect">
            <a:avLst/>
          </a:prstGeom>
          <a:noFill/>
          <a:ln>
            <a:solidFill>
              <a:schemeClr val="accent1"/>
            </a:solidFill>
          </a:ln>
        </p:spPr>
        <p:txBody>
          <a:bodyPr wrap="square">
            <a:spAutoFit/>
          </a:bodyPr>
          <a:lstStyle/>
          <a:p>
            <a:pPr algn="ctr"/>
            <a:r>
              <a:rPr lang="en-CA" sz="2400" b="1" i="0" dirty="0">
                <a:solidFill>
                  <a:srgbClr val="0D0D0D"/>
                </a:solidFill>
                <a:effectLst/>
                <a:highlight>
                  <a:srgbClr val="FFFFFF"/>
                </a:highlight>
                <a:latin typeface="Söhne"/>
              </a:rPr>
              <a:t>Longchamp Le Pliage: Navigating Luxury Fashion's Competitive Landscape</a:t>
            </a:r>
            <a:endParaRPr lang="en-US" sz="2400" b="1" dirty="0"/>
          </a:p>
        </p:txBody>
      </p:sp>
      <p:sp>
        <p:nvSpPr>
          <p:cNvPr id="9" name="TextBox 8">
            <a:extLst>
              <a:ext uri="{FF2B5EF4-FFF2-40B4-BE49-F238E27FC236}">
                <a16:creationId xmlns:a16="http://schemas.microsoft.com/office/drawing/2014/main" id="{6B8940BA-242B-2CE7-6269-3D92882351C9}"/>
              </a:ext>
            </a:extLst>
          </p:cNvPr>
          <p:cNvSpPr txBox="1"/>
          <p:nvPr/>
        </p:nvSpPr>
        <p:spPr>
          <a:xfrm>
            <a:off x="82901" y="5185374"/>
            <a:ext cx="2718487" cy="923330"/>
          </a:xfrm>
          <a:prstGeom prst="rect">
            <a:avLst/>
          </a:prstGeom>
          <a:noFill/>
        </p:spPr>
        <p:txBody>
          <a:bodyPr wrap="square" rtlCol="0">
            <a:spAutoFit/>
          </a:bodyPr>
          <a:lstStyle/>
          <a:p>
            <a:r>
              <a:rPr lang="en-US" dirty="0"/>
              <a:t>SHREYA PUNJ </a:t>
            </a:r>
            <a:br>
              <a:rPr lang="en-US" dirty="0"/>
            </a:br>
            <a:r>
              <a:rPr lang="en-US" dirty="0"/>
              <a:t>131271207</a:t>
            </a:r>
            <a:br>
              <a:rPr lang="en-US" dirty="0"/>
            </a:br>
            <a:r>
              <a:rPr lang="en-US" dirty="0"/>
              <a:t>MRK620SAA</a:t>
            </a:r>
          </a:p>
        </p:txBody>
      </p:sp>
      <p:sp>
        <p:nvSpPr>
          <p:cNvPr id="11" name="TextBox 10">
            <a:extLst>
              <a:ext uri="{FF2B5EF4-FFF2-40B4-BE49-F238E27FC236}">
                <a16:creationId xmlns:a16="http://schemas.microsoft.com/office/drawing/2014/main" id="{8FB7AED4-38F4-F666-0C6B-9876ED58FBFB}"/>
              </a:ext>
            </a:extLst>
          </p:cNvPr>
          <p:cNvSpPr txBox="1"/>
          <p:nvPr/>
        </p:nvSpPr>
        <p:spPr>
          <a:xfrm>
            <a:off x="9419458" y="5185374"/>
            <a:ext cx="2709725" cy="646331"/>
          </a:xfrm>
          <a:prstGeom prst="rect">
            <a:avLst/>
          </a:prstGeom>
          <a:noFill/>
        </p:spPr>
        <p:txBody>
          <a:bodyPr wrap="square" rtlCol="0">
            <a:spAutoFit/>
          </a:bodyPr>
          <a:lstStyle/>
          <a:p>
            <a:r>
              <a:rPr lang="en-US" dirty="0"/>
              <a:t>Professor: Duncan Reith</a:t>
            </a:r>
            <a:br>
              <a:rPr lang="en-US" dirty="0"/>
            </a:br>
            <a:r>
              <a:rPr lang="en-US" dirty="0"/>
              <a:t>15 April 2024</a:t>
            </a:r>
          </a:p>
        </p:txBody>
      </p:sp>
    </p:spTree>
    <p:extLst>
      <p:ext uri="{BB962C8B-B14F-4D97-AF65-F5344CB8AC3E}">
        <p14:creationId xmlns:p14="http://schemas.microsoft.com/office/powerpoint/2010/main" val="193865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F399B2-8BC7-E141-FAA0-69449A753EA4}"/>
              </a:ext>
            </a:extLst>
          </p:cNvPr>
          <p:cNvSpPr txBox="1"/>
          <p:nvPr/>
        </p:nvSpPr>
        <p:spPr>
          <a:xfrm>
            <a:off x="67962" y="2813770"/>
            <a:ext cx="12056076" cy="4031873"/>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t>Longchamp, the company, operates in the fashion and luxury goods industry. It specializes in designing, manufacturing, and retailing premium leather goods, including handbags, luggage, accessories, and ready-to-wear apparel. </a:t>
            </a:r>
          </a:p>
          <a:p>
            <a:endParaRPr lang="en-US" sz="1600" dirty="0"/>
          </a:p>
          <a:p>
            <a:pPr marL="285750" indent="-285750">
              <a:buFont typeface="Arial" panose="020B0604020202020204" pitchFamily="34" charset="0"/>
              <a:buChar char="•"/>
            </a:pPr>
            <a:r>
              <a:rPr lang="en-US" sz="1600" b="1" dirty="0"/>
              <a:t>Handbags</a:t>
            </a:r>
            <a:r>
              <a:rPr lang="en-US" sz="1600" dirty="0"/>
              <a:t>: Longchamp is recognized for their stylish handbags, which come in a variety of styles spanning from conventional to futuristic. Longchamp purses are a sought-after item amongst fashion-forward people since they are exquisitely made and useful.</a:t>
            </a:r>
          </a:p>
          <a:p>
            <a:pPr marL="285750" indent="-285750">
              <a:buFont typeface="Arial" panose="020B0604020202020204" pitchFamily="34" charset="0"/>
              <a:buChar char="•"/>
            </a:pPr>
            <a:r>
              <a:rPr lang="en-US" sz="1600" b="1" dirty="0"/>
              <a:t>Luggage</a:t>
            </a:r>
            <a:r>
              <a:rPr lang="en-US" sz="1600" dirty="0"/>
              <a:t>: Longchamp's luggage portfolio blends utility and elegance, appealing to </a:t>
            </a:r>
            <a:r>
              <a:rPr lang="en-US" sz="1600" dirty="0" err="1"/>
              <a:t>travellers</a:t>
            </a:r>
            <a:r>
              <a:rPr lang="en-US" sz="1600" dirty="0"/>
              <a:t> who value aesthetics as well as dependability. Whether it's an overnight stay or a long-distance trip, Longchamp baggage guarantees that travelers travel in fashion, with pieces built to resist the </a:t>
            </a:r>
            <a:r>
              <a:rPr lang="en-US" sz="1600" dirty="0" err="1"/>
              <a:t>rigours</a:t>
            </a:r>
            <a:r>
              <a:rPr lang="en-US" sz="1600" dirty="0"/>
              <a:t> of travel while radiating ageless refinement.</a:t>
            </a:r>
          </a:p>
          <a:p>
            <a:pPr marL="285750" indent="-285750">
              <a:buFont typeface="Arial" panose="020B0604020202020204" pitchFamily="34" charset="0"/>
              <a:buChar char="•"/>
            </a:pPr>
            <a:r>
              <a:rPr lang="en-US" sz="1600" b="1" dirty="0"/>
              <a:t>Accessories</a:t>
            </a:r>
            <a:r>
              <a:rPr lang="en-US" sz="1600" dirty="0"/>
              <a:t>: Longchamp's accessories complement its handbags and luggage, offering a range of items such as wallets, belts, scarves, and small leather goods. These accessories not only enhance the overall look but also provide functional solutions for everyday needs, reflecting Longchamp's commitment to luxury and versatility.</a:t>
            </a:r>
          </a:p>
          <a:p>
            <a:pPr marL="285750" indent="-285750">
              <a:buFont typeface="Arial" panose="020B0604020202020204" pitchFamily="34" charset="0"/>
              <a:buChar char="•"/>
            </a:pPr>
            <a:r>
              <a:rPr lang="en-US" sz="1600" b="1" dirty="0"/>
              <a:t>Ready-to-wear Apparel</a:t>
            </a:r>
            <a:r>
              <a:rPr lang="en-US" sz="1600" dirty="0"/>
              <a:t>: Longchamp's ready-to-wear collection offers modern and stylish styles that represent the company's unique flair. From effortless daywear to sophisticated evening attire, Longchamp offers a curated collection of clothing that exudes elegance and refinement, appealing to discerning customers who seek timeless fashion pieces.</a:t>
            </a:r>
          </a:p>
          <a:p>
            <a:endParaRPr lang="en-US" sz="1600" dirty="0"/>
          </a:p>
          <a:p>
            <a:r>
              <a:rPr lang="en-US" sz="1600" dirty="0"/>
              <a:t>These markets cater to affluent consumers seeking premium, stylish, and high-quality products that reflect sophistication and elegance.</a:t>
            </a:r>
          </a:p>
        </p:txBody>
      </p:sp>
      <p:pic>
        <p:nvPicPr>
          <p:cNvPr id="10" name="Picture 9" descr="A black background with white text&#10;&#10;Description automatically generated">
            <a:extLst>
              <a:ext uri="{FF2B5EF4-FFF2-40B4-BE49-F238E27FC236}">
                <a16:creationId xmlns:a16="http://schemas.microsoft.com/office/drawing/2014/main" id="{0A36D183-000E-7D75-8EF9-E488C348AAD6}"/>
              </a:ext>
            </a:extLst>
          </p:cNvPr>
          <p:cNvPicPr>
            <a:picLocks noChangeAspect="1"/>
          </p:cNvPicPr>
          <p:nvPr/>
        </p:nvPicPr>
        <p:blipFill>
          <a:blip r:embed="rId2"/>
          <a:stretch>
            <a:fillRect/>
          </a:stretch>
        </p:blipFill>
        <p:spPr>
          <a:xfrm>
            <a:off x="3845269" y="-787021"/>
            <a:ext cx="3961905" cy="2243138"/>
          </a:xfrm>
          <a:prstGeom prst="rect">
            <a:avLst/>
          </a:prstGeom>
        </p:spPr>
      </p:pic>
      <p:grpSp>
        <p:nvGrpSpPr>
          <p:cNvPr id="13" name="Group 12">
            <a:extLst>
              <a:ext uri="{FF2B5EF4-FFF2-40B4-BE49-F238E27FC236}">
                <a16:creationId xmlns:a16="http://schemas.microsoft.com/office/drawing/2014/main" id="{767E17FD-5A03-2704-9AF2-65E45D923B85}"/>
              </a:ext>
            </a:extLst>
          </p:cNvPr>
          <p:cNvGrpSpPr/>
          <p:nvPr/>
        </p:nvGrpSpPr>
        <p:grpSpPr>
          <a:xfrm>
            <a:off x="206984" y="606956"/>
            <a:ext cx="11238473" cy="2062103"/>
            <a:chOff x="67962" y="4795897"/>
            <a:chExt cx="11238473" cy="2062103"/>
          </a:xfrm>
        </p:grpSpPr>
        <p:sp>
          <p:nvSpPr>
            <p:cNvPr id="11" name="TextBox 10">
              <a:extLst>
                <a:ext uri="{FF2B5EF4-FFF2-40B4-BE49-F238E27FC236}">
                  <a16:creationId xmlns:a16="http://schemas.microsoft.com/office/drawing/2014/main" id="{7C9AFF5E-210C-9277-28C3-585B9C69DEFB}"/>
                </a:ext>
              </a:extLst>
            </p:cNvPr>
            <p:cNvSpPr txBox="1"/>
            <p:nvPr/>
          </p:nvSpPr>
          <p:spPr>
            <a:xfrm>
              <a:off x="1940013" y="4795897"/>
              <a:ext cx="9366422" cy="2062103"/>
            </a:xfrm>
            <a:prstGeom prst="rect">
              <a:avLst/>
            </a:prstGeom>
            <a:noFill/>
            <a:ln>
              <a:solidFill>
                <a:schemeClr val="accent1"/>
              </a:solidFill>
            </a:ln>
          </p:spPr>
          <p:txBody>
            <a:bodyPr wrap="square" rtlCol="0">
              <a:spAutoFit/>
            </a:bodyPr>
            <a:lstStyle/>
            <a:p>
              <a:r>
                <a:rPr lang="en-CA" sz="1600" kern="100" dirty="0">
                  <a:solidFill>
                    <a:srgbClr val="000000"/>
                  </a:solidFill>
                  <a:effectLst/>
                  <a:highlight>
                    <a:srgbClr val="FFFFFF"/>
                  </a:highlight>
                  <a:latin typeface="Arial" panose="020B0604020202020204" pitchFamily="34" charset="0"/>
                  <a:ea typeface="Aptos" panose="020B0004020202020204" pitchFamily="34" charset="0"/>
                  <a:cs typeface="Times New Roman" panose="02020603050405020304" pitchFamily="18" charset="0"/>
                </a:rPr>
                <a:t>Longchamp is mainly involved in the premium clothing sector, who specializes on setting up, manufacturing goods, and marketing excellent in quality leather items such as handbags, luggage, accessories, and clothing that is ready to wear apparel. Longchamp is attractive to a targeted audience in the luxury and premium markets, reflecting exclusivity, modification, and refined taste. Its clients comprise of wealthy individuals seeking luxury items that radiate elegance and workmanship, reflecting their sophisticated lifestyle preferences. Longchamp's global retail network and flagship shop in Paris appeal to luxury admirers who adore French beauty and cherish the brand's renowned work of art.</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07FDCEB2-0F05-624E-FAEB-A9ED16426775}"/>
                </a:ext>
              </a:extLst>
            </p:cNvPr>
            <p:cNvSpPr txBox="1"/>
            <p:nvPr/>
          </p:nvSpPr>
          <p:spPr>
            <a:xfrm>
              <a:off x="67962" y="5503782"/>
              <a:ext cx="1767016" cy="646331"/>
            </a:xfrm>
            <a:prstGeom prst="rect">
              <a:avLst/>
            </a:prstGeom>
            <a:noFill/>
          </p:spPr>
          <p:txBody>
            <a:bodyPr wrap="square" rtlCol="0">
              <a:spAutoFit/>
            </a:bodyPr>
            <a:lstStyle/>
            <a:p>
              <a:pPr algn="ctr"/>
              <a:r>
                <a:rPr lang="en-US" b="1" dirty="0"/>
                <a:t>Defining The Market</a:t>
              </a:r>
            </a:p>
          </p:txBody>
        </p:sp>
      </p:grpSp>
    </p:spTree>
    <p:extLst>
      <p:ext uri="{BB962C8B-B14F-4D97-AF65-F5344CB8AC3E}">
        <p14:creationId xmlns:p14="http://schemas.microsoft.com/office/powerpoint/2010/main" val="2171307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and blue rectangular box with black text&#10;&#10;Description automatically generated with medium confidence">
            <a:extLst>
              <a:ext uri="{FF2B5EF4-FFF2-40B4-BE49-F238E27FC236}">
                <a16:creationId xmlns:a16="http://schemas.microsoft.com/office/drawing/2014/main" id="{8809E863-F718-1CEB-6E96-A9389EB043C8}"/>
              </a:ext>
            </a:extLst>
          </p:cNvPr>
          <p:cNvPicPr>
            <a:picLocks noChangeAspect="1"/>
          </p:cNvPicPr>
          <p:nvPr/>
        </p:nvPicPr>
        <p:blipFill>
          <a:blip r:embed="rId2"/>
          <a:stretch>
            <a:fillRect/>
          </a:stretch>
        </p:blipFill>
        <p:spPr>
          <a:xfrm>
            <a:off x="358346" y="1578134"/>
            <a:ext cx="11217487" cy="5279866"/>
          </a:xfrm>
          <a:prstGeom prst="rect">
            <a:avLst/>
          </a:prstGeom>
        </p:spPr>
      </p:pic>
      <p:sp>
        <p:nvSpPr>
          <p:cNvPr id="6" name="TextBox 5">
            <a:extLst>
              <a:ext uri="{FF2B5EF4-FFF2-40B4-BE49-F238E27FC236}">
                <a16:creationId xmlns:a16="http://schemas.microsoft.com/office/drawing/2014/main" id="{B2243172-5C1F-92AC-2EA9-6AFE4C227C21}"/>
              </a:ext>
            </a:extLst>
          </p:cNvPr>
          <p:cNvSpPr txBox="1"/>
          <p:nvPr/>
        </p:nvSpPr>
        <p:spPr>
          <a:xfrm>
            <a:off x="196034" y="740959"/>
            <a:ext cx="11799931" cy="830997"/>
          </a:xfrm>
          <a:prstGeom prst="rect">
            <a:avLst/>
          </a:prstGeom>
          <a:noFill/>
          <a:ln>
            <a:solidFill>
              <a:schemeClr val="accent1"/>
            </a:solidFill>
          </a:ln>
        </p:spPr>
        <p:txBody>
          <a:bodyPr wrap="square" rtlCol="0">
            <a:spAutoFit/>
          </a:bodyPr>
          <a:lstStyle/>
          <a:p>
            <a:r>
              <a:rPr lang="en-CA" sz="1200" kern="100" dirty="0">
                <a:effectLst/>
                <a:latin typeface="Arial" panose="020B0604020202020204" pitchFamily="34" charset="0"/>
                <a:ea typeface="Aptos" panose="020B0004020202020204" pitchFamily="34" charset="0"/>
                <a:cs typeface="Times New Roman" panose="02020603050405020304" pitchFamily="18" charset="0"/>
              </a:rPr>
              <a:t>The final recommendation is to target </a:t>
            </a:r>
            <a:r>
              <a:rPr lang="en-CA" sz="1200" b="1" u="sng" kern="100" dirty="0">
                <a:latin typeface="Arial" panose="020B0604020202020204" pitchFamily="34" charset="0"/>
                <a:ea typeface="Aptos" panose="020B0004020202020204" pitchFamily="34" charset="0"/>
                <a:cs typeface="Times New Roman" panose="02020603050405020304" pitchFamily="18" charset="0"/>
              </a:rPr>
              <a:t>T</a:t>
            </a:r>
            <a:r>
              <a:rPr lang="en-CA" sz="1200" b="1" u="sng" kern="100" dirty="0">
                <a:effectLst/>
                <a:latin typeface="Arial" panose="020B0604020202020204" pitchFamily="34" charset="0"/>
                <a:ea typeface="Aptos" panose="020B0004020202020204" pitchFamily="34" charset="0"/>
                <a:cs typeface="Times New Roman" panose="02020603050405020304" pitchFamily="18" charset="0"/>
              </a:rPr>
              <a:t>he Luxury Plus Premium Market</a:t>
            </a:r>
            <a:r>
              <a:rPr lang="en-CA" sz="1200" kern="100" dirty="0">
                <a:effectLst/>
                <a:latin typeface="Arial" panose="020B0604020202020204" pitchFamily="34" charset="0"/>
                <a:ea typeface="Aptos" panose="020B0004020202020204" pitchFamily="34" charset="0"/>
                <a:cs typeface="Times New Roman" panose="02020603050405020304" pitchFamily="18" charset="0"/>
              </a:rPr>
              <a:t>. </a:t>
            </a:r>
            <a:br>
              <a:rPr lang="en-CA" sz="1200" kern="100" dirty="0">
                <a:effectLst/>
                <a:latin typeface="Arial" panose="020B0604020202020204" pitchFamily="34" charset="0"/>
                <a:ea typeface="Aptos" panose="020B0004020202020204" pitchFamily="34" charset="0"/>
                <a:cs typeface="Times New Roman" panose="02020603050405020304" pitchFamily="18" charset="0"/>
              </a:rPr>
            </a:br>
            <a:r>
              <a:rPr lang="en-CA" sz="1200" kern="100" dirty="0">
                <a:effectLst/>
                <a:latin typeface="Arial" panose="020B0604020202020204" pitchFamily="34" charset="0"/>
                <a:ea typeface="Aptos" panose="020B0004020202020204" pitchFamily="34" charset="0"/>
                <a:cs typeface="Times New Roman" panose="02020603050405020304" pitchFamily="18" charset="0"/>
              </a:rPr>
              <a:t>This recommendation aligns with Longchamp's core competencies in </a:t>
            </a:r>
            <a:r>
              <a:rPr lang="en-CA" sz="1200" b="1" kern="100" dirty="0">
                <a:effectLst/>
                <a:latin typeface="Arial" panose="020B0604020202020204" pitchFamily="34" charset="0"/>
                <a:ea typeface="Aptos" panose="020B0004020202020204" pitchFamily="34" charset="0"/>
                <a:cs typeface="Times New Roman" panose="02020603050405020304" pitchFamily="18" charset="0"/>
              </a:rPr>
              <a:t>crafting high-quality leather goods </a:t>
            </a:r>
            <a:r>
              <a:rPr lang="en-CA" sz="1200" kern="100" dirty="0">
                <a:effectLst/>
                <a:latin typeface="Arial" panose="020B0604020202020204" pitchFamily="34" charset="0"/>
                <a:ea typeface="Aptos" panose="020B0004020202020204" pitchFamily="34" charset="0"/>
                <a:cs typeface="Times New Roman" panose="02020603050405020304" pitchFamily="18" charset="0"/>
              </a:rPr>
              <a:t>and serves as an ideal avenue to leverage the strengths of both the Longchamp and Le Pliage brands.  Consumers in the elegance Plus Premium Market are already accustomed to premium items, but they want a </a:t>
            </a:r>
            <a:r>
              <a:rPr lang="en-CA" sz="1200" b="1" kern="100" dirty="0">
                <a:effectLst/>
                <a:latin typeface="Arial" panose="020B0604020202020204" pitchFamily="34" charset="0"/>
                <a:ea typeface="Aptos" panose="020B0004020202020204" pitchFamily="34" charset="0"/>
                <a:cs typeface="Times New Roman" panose="02020603050405020304" pitchFamily="18" charset="0"/>
              </a:rPr>
              <a:t>combination of elegance and functionality</a:t>
            </a:r>
            <a:r>
              <a:rPr lang="en-CA" sz="1200" kern="100" dirty="0">
                <a:effectLst/>
                <a:latin typeface="Arial" panose="020B0604020202020204" pitchFamily="34" charset="0"/>
                <a:ea typeface="Aptos" panose="020B0004020202020204" pitchFamily="34" charset="0"/>
                <a:cs typeface="Times New Roman" panose="02020603050405020304" pitchFamily="18" charset="0"/>
              </a:rPr>
              <a:t>, which Longchamp and Le Pliage can supply with their famous designs and superb craftsmanship. </a:t>
            </a:r>
            <a:endParaRPr lang="en-CA"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C15C5BCB-7F7D-F3CD-0192-5BAE00CC60AD}"/>
              </a:ext>
            </a:extLst>
          </p:cNvPr>
          <p:cNvSpPr txBox="1"/>
          <p:nvPr/>
        </p:nvSpPr>
        <p:spPr>
          <a:xfrm>
            <a:off x="2918060" y="183872"/>
            <a:ext cx="6098058" cy="369332"/>
          </a:xfrm>
          <a:prstGeom prst="rect">
            <a:avLst/>
          </a:prstGeom>
          <a:solidFill>
            <a:schemeClr val="tx2">
              <a:lumMod val="25000"/>
              <a:lumOff val="75000"/>
            </a:schemeClr>
          </a:solidFill>
          <a:ln>
            <a:solidFill>
              <a:schemeClr val="accent1"/>
            </a:solidFill>
          </a:ln>
        </p:spPr>
        <p:txBody>
          <a:bodyPr wrap="square">
            <a:spAutoFit/>
          </a:bodyPr>
          <a:lstStyle/>
          <a:p>
            <a:pPr algn="ctr"/>
            <a:r>
              <a:rPr lang="en-CA" b="0" i="0" dirty="0">
                <a:solidFill>
                  <a:srgbClr val="1F1F1F"/>
                </a:solidFill>
                <a:effectLst/>
                <a:highlight>
                  <a:srgbClr val="FFFFFF"/>
                </a:highlight>
                <a:latin typeface="Google Sans"/>
              </a:rPr>
              <a:t>Targeting the Luxury Plus Premium Market</a:t>
            </a:r>
            <a:endParaRPr lang="en-US" dirty="0"/>
          </a:p>
        </p:txBody>
      </p:sp>
    </p:spTree>
    <p:extLst>
      <p:ext uri="{BB962C8B-B14F-4D97-AF65-F5344CB8AC3E}">
        <p14:creationId xmlns:p14="http://schemas.microsoft.com/office/powerpoint/2010/main" val="2733901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46BF0-9E19-1908-8EFD-93A5256B987E}"/>
              </a:ext>
            </a:extLst>
          </p:cNvPr>
          <p:cNvSpPr txBox="1"/>
          <p:nvPr/>
        </p:nvSpPr>
        <p:spPr>
          <a:xfrm>
            <a:off x="193588" y="1089845"/>
            <a:ext cx="2014151" cy="830997"/>
          </a:xfrm>
          <a:prstGeom prst="rect">
            <a:avLst/>
          </a:prstGeom>
          <a:solidFill>
            <a:schemeClr val="tx2">
              <a:lumMod val="25000"/>
              <a:lumOff val="75000"/>
            </a:schemeClr>
          </a:solidFill>
          <a:ln>
            <a:solidFill>
              <a:schemeClr val="accent1"/>
            </a:solidFill>
          </a:ln>
        </p:spPr>
        <p:txBody>
          <a:bodyPr wrap="square" rtlCol="0">
            <a:spAutoFit/>
          </a:bodyPr>
          <a:lstStyle/>
          <a:p>
            <a:r>
              <a:rPr lang="en-CA" sz="1600" dirty="0">
                <a:solidFill>
                  <a:srgbClr val="000000"/>
                </a:solidFill>
                <a:latin typeface="Calibri" panose="020F0502020204030204" pitchFamily="34" charset="0"/>
                <a:ea typeface="Calibri" panose="020F0502020204030204" pitchFamily="34" charset="0"/>
              </a:rPr>
              <a:t>C</a:t>
            </a:r>
            <a:r>
              <a:rPr lang="en-CA" sz="1600" dirty="0">
                <a:solidFill>
                  <a:srgbClr val="000000"/>
                </a:solidFill>
                <a:effectLst/>
                <a:latin typeface="Calibri" panose="020F0502020204030204" pitchFamily="34" charset="0"/>
                <a:ea typeface="Calibri" panose="020F0502020204030204" pitchFamily="34" charset="0"/>
              </a:rPr>
              <a:t>urrent situation and business performance for Longchamp </a:t>
            </a:r>
            <a:endParaRPr lang="en-US" sz="1600" dirty="0"/>
          </a:p>
        </p:txBody>
      </p:sp>
      <p:sp>
        <p:nvSpPr>
          <p:cNvPr id="3" name="TextBox 2">
            <a:extLst>
              <a:ext uri="{FF2B5EF4-FFF2-40B4-BE49-F238E27FC236}">
                <a16:creationId xmlns:a16="http://schemas.microsoft.com/office/drawing/2014/main" id="{1F183EA0-EACE-9C42-163C-569F87F37F9D}"/>
              </a:ext>
            </a:extLst>
          </p:cNvPr>
          <p:cNvSpPr txBox="1"/>
          <p:nvPr/>
        </p:nvSpPr>
        <p:spPr>
          <a:xfrm>
            <a:off x="2323071" y="104961"/>
            <a:ext cx="9576487" cy="2800767"/>
          </a:xfrm>
          <a:prstGeom prst="rect">
            <a:avLst/>
          </a:prstGeom>
          <a:noFill/>
          <a:ln>
            <a:solidFill>
              <a:schemeClr val="accent1"/>
            </a:solidFill>
          </a:ln>
        </p:spPr>
        <p:txBody>
          <a:bodyPr wrap="square" rtlCol="0">
            <a:spAutoFit/>
          </a:bodyPr>
          <a:lstStyle/>
          <a:p>
            <a:r>
              <a:rPr lang="en-CA" sz="1600" dirty="0">
                <a:effectLst/>
                <a:latin typeface="Arial" panose="020B0604020202020204" pitchFamily="34" charset="0"/>
                <a:ea typeface="Aptos" panose="020B0004020202020204" pitchFamily="34" charset="0"/>
              </a:rPr>
              <a:t>Longchamp's current status and business performance demonstrate it to be a thriving luxury fashion and lifestyle brand with a worldwide reach.</a:t>
            </a:r>
          </a:p>
          <a:p>
            <a:pPr marL="285750" indent="-285750">
              <a:buFont typeface="Arial" panose="020B0604020202020204" pitchFamily="34" charset="0"/>
              <a:buChar char="•"/>
            </a:pPr>
            <a:r>
              <a:rPr lang="en-CA" sz="1600" dirty="0">
                <a:effectLst/>
                <a:latin typeface="Arial" panose="020B0604020202020204" pitchFamily="34" charset="0"/>
                <a:ea typeface="Aptos" panose="020B0004020202020204" pitchFamily="34" charset="0"/>
              </a:rPr>
              <a:t>Longchamp has experienced substantial expansion, attaining a revenue of €500 million by 2015. </a:t>
            </a:r>
          </a:p>
          <a:p>
            <a:pPr marL="285750" indent="-285750">
              <a:buFont typeface="Arial" panose="020B0604020202020204" pitchFamily="34" charset="0"/>
              <a:buChar char="•"/>
            </a:pPr>
            <a:r>
              <a:rPr lang="en-CA" sz="1600" dirty="0">
                <a:effectLst/>
                <a:latin typeface="Arial" panose="020B0604020202020204" pitchFamily="34" charset="0"/>
                <a:ea typeface="Aptos" panose="020B0004020202020204" pitchFamily="34" charset="0"/>
              </a:rPr>
              <a:t>The widely recognized and admired Le Pliage brand makes up around 12% of the company's product range and has achieved sales of more than 30 million pieces globally. </a:t>
            </a:r>
          </a:p>
          <a:p>
            <a:pPr marL="285750" indent="-285750">
              <a:buFont typeface="Arial" panose="020B0604020202020204" pitchFamily="34" charset="0"/>
              <a:buChar char="•"/>
            </a:pPr>
            <a:r>
              <a:rPr lang="en-CA" sz="1600" dirty="0">
                <a:effectLst/>
                <a:latin typeface="Arial" panose="020B0604020202020204" pitchFamily="34" charset="0"/>
                <a:ea typeface="Aptos" panose="020B0004020202020204" pitchFamily="34" charset="0"/>
              </a:rPr>
              <a:t>The company's competitive strengths are rooted in its French lineage, superior artistry, and wide range of products, encompassing nylon and leather bags. </a:t>
            </a:r>
          </a:p>
          <a:p>
            <a:pPr marL="285750" indent="-285750">
              <a:buFont typeface="Arial" panose="020B0604020202020204" pitchFamily="34" charset="0"/>
              <a:buChar char="•"/>
            </a:pPr>
            <a:r>
              <a:rPr lang="en-CA" sz="1600" dirty="0">
                <a:effectLst/>
                <a:latin typeface="Arial" panose="020B0604020202020204" pitchFamily="34" charset="0"/>
                <a:ea typeface="Aptos" panose="020B0004020202020204" pitchFamily="34" charset="0"/>
              </a:rPr>
              <a:t>Longchamp's immediate goals involve preserving the appeal of its brand and growing its client base, while its long-term goals centre around fostering brand loyalty and enhancing its market presence.</a:t>
            </a:r>
          </a:p>
          <a:p>
            <a:pPr marL="285750" indent="-285750">
              <a:buFont typeface="Arial" panose="020B0604020202020204" pitchFamily="34" charset="0"/>
              <a:buChar char="•"/>
            </a:pPr>
            <a:r>
              <a:rPr lang="en-CA" sz="1600" dirty="0">
                <a:effectLst/>
                <a:latin typeface="Arial" panose="020B0604020202020204" pitchFamily="34" charset="0"/>
                <a:ea typeface="Aptos" panose="020B0004020202020204" pitchFamily="34" charset="0"/>
              </a:rPr>
              <a:t>The brand strives to be regarded as an emblem of refinement, sophistication, and enduring fashion by both customers and retailers.</a:t>
            </a:r>
            <a:endParaRPr lang="en-US" sz="1600" dirty="0"/>
          </a:p>
        </p:txBody>
      </p:sp>
      <p:sp>
        <p:nvSpPr>
          <p:cNvPr id="4" name="TextBox 3">
            <a:extLst>
              <a:ext uri="{FF2B5EF4-FFF2-40B4-BE49-F238E27FC236}">
                <a16:creationId xmlns:a16="http://schemas.microsoft.com/office/drawing/2014/main" id="{9930DE2C-264E-B195-55EC-10F702F5C0D2}"/>
              </a:ext>
            </a:extLst>
          </p:cNvPr>
          <p:cNvSpPr txBox="1"/>
          <p:nvPr/>
        </p:nvSpPr>
        <p:spPr>
          <a:xfrm>
            <a:off x="477794" y="4275438"/>
            <a:ext cx="1445740" cy="830997"/>
          </a:xfrm>
          <a:prstGeom prst="rect">
            <a:avLst/>
          </a:prstGeom>
          <a:solidFill>
            <a:schemeClr val="tx2">
              <a:lumMod val="25000"/>
              <a:lumOff val="75000"/>
            </a:schemeClr>
          </a:solidFill>
          <a:ln>
            <a:solidFill>
              <a:schemeClr val="accent1"/>
            </a:solidFill>
          </a:ln>
        </p:spPr>
        <p:txBody>
          <a:bodyPr wrap="square" rtlCol="0">
            <a:spAutoFit/>
          </a:bodyPr>
          <a:lstStyle/>
          <a:p>
            <a:r>
              <a:rPr lang="en-US" sz="1600" dirty="0"/>
              <a:t>Longchamp Competitive Advantages </a:t>
            </a:r>
          </a:p>
        </p:txBody>
      </p:sp>
      <p:sp>
        <p:nvSpPr>
          <p:cNvPr id="5" name="TextBox 4">
            <a:extLst>
              <a:ext uri="{FF2B5EF4-FFF2-40B4-BE49-F238E27FC236}">
                <a16:creationId xmlns:a16="http://schemas.microsoft.com/office/drawing/2014/main" id="{FECF4056-288A-9E5B-B789-C77E4991DE48}"/>
              </a:ext>
            </a:extLst>
          </p:cNvPr>
          <p:cNvSpPr txBox="1"/>
          <p:nvPr/>
        </p:nvSpPr>
        <p:spPr>
          <a:xfrm>
            <a:off x="2323070" y="3459830"/>
            <a:ext cx="9576488" cy="3293209"/>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600" kern="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Heritage and Tradition: Longchamp boasts a long history of craftsmanship and tradition in leatherworking, dating back to its founding in 1948. This heritage lends authenticity and prestige to its brand image.</a:t>
            </a:r>
            <a:endParaRPr lang="en-CA" sz="1600" kern="100" dirty="0">
              <a:latin typeface="Aptos" panose="020B0004020202020204" pitchFamily="34"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sz="1600" kern="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Quality and Craftsmanship: The firm has become recognized for its ongoing commitment to outstanding workmanship and precise craftsmanship in all of its merchandise, which ensures endurance and everlasting attractiveness.</a:t>
            </a:r>
            <a:endParaRPr lang="en-CA" sz="1600" kern="100" dirty="0">
              <a:latin typeface="Aptos" panose="020B0004020202020204" pitchFamily="34"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sz="1600" kern="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Iconic Products: Longchamp's signature product, Le Pliage, has achieved iconic status in the fashion industry, serving as a symbol of the brand's elegance and functionality.</a:t>
            </a:r>
            <a:endParaRPr lang="en-CA" sz="1600" kern="100" dirty="0">
              <a:latin typeface="Aptos" panose="020B0004020202020204" pitchFamily="34"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sz="1600" kern="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Brand Recognition: Longchamp has built strong brand recognition globally, with a presence in major fashion capitals and a loyal customer base attracted to its luxury offerings.</a:t>
            </a:r>
            <a:endParaRPr lang="en-CA" sz="1600" kern="100" dirty="0">
              <a:latin typeface="Aptos" panose="020B0004020202020204" pitchFamily="34"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sz="1600" kern="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Product Diversification: Alongside to its recognized handbags, Longchamp produces an extensive selection of items such as luggage, accessories, and ready-to-wear clothes to meet the broadened requirements of its clients</a:t>
            </a:r>
            <a:r>
              <a:rPr lang="en-CA" sz="1600" b="1" kern="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54494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09AB9DA-AB87-315B-0B82-620B15FED2E3}"/>
              </a:ext>
            </a:extLst>
          </p:cNvPr>
          <p:cNvGraphicFramePr>
            <a:graphicFrameLocks noGrp="1"/>
          </p:cNvGraphicFramePr>
          <p:nvPr>
            <p:extLst>
              <p:ext uri="{D42A27DB-BD31-4B8C-83A1-F6EECF244321}">
                <p14:modId xmlns:p14="http://schemas.microsoft.com/office/powerpoint/2010/main" val="3369054287"/>
              </p:ext>
            </p:extLst>
          </p:nvPr>
        </p:nvGraphicFramePr>
        <p:xfrm>
          <a:off x="354227" y="2289400"/>
          <a:ext cx="11590637" cy="2945492"/>
        </p:xfrm>
        <a:graphic>
          <a:graphicData uri="http://schemas.openxmlformats.org/drawingml/2006/table">
            <a:tbl>
              <a:tblPr firstRow="1" bandRow="1">
                <a:tableStyleId>{00A15C55-8517-42AA-B614-E9B94910E393}</a:tableStyleId>
              </a:tblPr>
              <a:tblGrid>
                <a:gridCol w="5127600">
                  <a:extLst>
                    <a:ext uri="{9D8B030D-6E8A-4147-A177-3AD203B41FA5}">
                      <a16:colId xmlns:a16="http://schemas.microsoft.com/office/drawing/2014/main" val="1777413769"/>
                    </a:ext>
                  </a:extLst>
                </a:gridCol>
                <a:gridCol w="6463037">
                  <a:extLst>
                    <a:ext uri="{9D8B030D-6E8A-4147-A177-3AD203B41FA5}">
                      <a16:colId xmlns:a16="http://schemas.microsoft.com/office/drawing/2014/main" val="683405357"/>
                    </a:ext>
                  </a:extLst>
                </a:gridCol>
              </a:tblGrid>
              <a:tr h="314833">
                <a:tc>
                  <a:txBody>
                    <a:bodyPr/>
                    <a:lstStyle/>
                    <a:p>
                      <a:r>
                        <a:rPr lang="en-US" sz="1600" dirty="0"/>
                        <a:t>SHORT TERM OBJECTIVES</a:t>
                      </a:r>
                    </a:p>
                  </a:txBody>
                  <a:tcPr/>
                </a:tc>
                <a:tc>
                  <a:txBody>
                    <a:bodyPr/>
                    <a:lstStyle/>
                    <a:p>
                      <a:r>
                        <a:rPr lang="en-US" sz="1600" dirty="0"/>
                        <a:t>LONG TERM OBJECTIVES </a:t>
                      </a:r>
                    </a:p>
                  </a:txBody>
                  <a:tcPr/>
                </a:tc>
                <a:extLst>
                  <a:ext uri="{0D108BD9-81ED-4DB2-BD59-A6C34878D82A}">
                    <a16:rowId xmlns:a16="http://schemas.microsoft.com/office/drawing/2014/main" val="2869281170"/>
                  </a:ext>
                </a:extLst>
              </a:tr>
              <a:tr h="543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600" kern="1200" dirty="0">
                          <a:solidFill>
                            <a:schemeClr val="dk1"/>
                          </a:solidFill>
                          <a:effectLst/>
                        </a:rPr>
                        <a:t>Maintain and enhance brand loyalty within existing consumers.</a:t>
                      </a:r>
                      <a:endParaRPr lang="en-CA" sz="16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600" kern="1200" dirty="0">
                          <a:solidFill>
                            <a:schemeClr val="dk1"/>
                          </a:solidFill>
                          <a:effectLst/>
                        </a:rPr>
                        <a:t>Maintain brand relevance and attract by constantly developing and adapting to changing market trends.</a:t>
                      </a:r>
                      <a:endParaRPr lang="en-CA" sz="1600" kern="1200" dirty="0">
                        <a:solidFill>
                          <a:schemeClr val="dk1"/>
                        </a:solidFill>
                        <a:effectLst/>
                        <a:latin typeface="+mn-lt"/>
                        <a:ea typeface="+mn-ea"/>
                        <a:cs typeface="+mn-cs"/>
                      </a:endParaRPr>
                    </a:p>
                  </a:txBody>
                  <a:tcPr/>
                </a:tc>
                <a:extLst>
                  <a:ext uri="{0D108BD9-81ED-4DB2-BD59-A6C34878D82A}">
                    <a16:rowId xmlns:a16="http://schemas.microsoft.com/office/drawing/2014/main" val="2933869576"/>
                  </a:ext>
                </a:extLst>
              </a:tr>
              <a:tr h="543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600" kern="1200" dirty="0">
                          <a:solidFill>
                            <a:schemeClr val="dk1"/>
                          </a:solidFill>
                          <a:effectLst/>
                        </a:rPr>
                        <a:t>Boost market share in significant markets by using focused marketing and distribution methods.</a:t>
                      </a:r>
                      <a:endParaRPr lang="en-CA" sz="16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600" kern="1200" dirty="0">
                          <a:solidFill>
                            <a:schemeClr val="dk1"/>
                          </a:solidFill>
                          <a:effectLst/>
                        </a:rPr>
                        <a:t>Expand into new international markets while maintaining the brand's core identity and values.</a:t>
                      </a:r>
                      <a:endParaRPr lang="en-CA" sz="1600" kern="1200" dirty="0">
                        <a:solidFill>
                          <a:schemeClr val="dk1"/>
                        </a:solidFill>
                        <a:effectLst/>
                        <a:latin typeface="+mn-lt"/>
                        <a:ea typeface="+mn-ea"/>
                        <a:cs typeface="+mn-cs"/>
                      </a:endParaRPr>
                    </a:p>
                  </a:txBody>
                  <a:tcPr/>
                </a:tc>
                <a:extLst>
                  <a:ext uri="{0D108BD9-81ED-4DB2-BD59-A6C34878D82A}">
                    <a16:rowId xmlns:a16="http://schemas.microsoft.com/office/drawing/2014/main" val="1913069708"/>
                  </a:ext>
                </a:extLst>
              </a:tr>
              <a:tr h="1451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600" kern="1200" dirty="0">
                          <a:solidFill>
                            <a:schemeClr val="dk1"/>
                          </a:solidFill>
                          <a:effectLst/>
                        </a:rPr>
                        <a:t>Optimize retail partnerships in order to offer the best brand presence and customer satisfaction.</a:t>
                      </a:r>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600" kern="1200" dirty="0">
                          <a:solidFill>
                            <a:schemeClr val="dk1"/>
                          </a:solidFill>
                          <a:effectLst/>
                        </a:rPr>
                        <a:t>Cultivate a reputation for premium quality, craftsmanship, and fashion-forward design among both customers and retailers. Foster strong relationships with retailers, ensuring alignment with Longchamp's brand image and values, and providing support for brand promotion and sales efforts.</a:t>
                      </a:r>
                      <a:endParaRPr lang="en-CA" sz="1600" kern="1200" dirty="0">
                        <a:solidFill>
                          <a:schemeClr val="dk1"/>
                        </a:solidFill>
                        <a:effectLst/>
                        <a:latin typeface="+mn-lt"/>
                        <a:ea typeface="+mn-ea"/>
                        <a:cs typeface="+mn-cs"/>
                      </a:endParaRPr>
                    </a:p>
                  </a:txBody>
                  <a:tcPr/>
                </a:tc>
                <a:extLst>
                  <a:ext uri="{0D108BD9-81ED-4DB2-BD59-A6C34878D82A}">
                    <a16:rowId xmlns:a16="http://schemas.microsoft.com/office/drawing/2014/main" val="2038246867"/>
                  </a:ext>
                </a:extLst>
              </a:tr>
            </a:tbl>
          </a:graphicData>
        </a:graphic>
      </p:graphicFrame>
      <p:grpSp>
        <p:nvGrpSpPr>
          <p:cNvPr id="8" name="Group 7">
            <a:extLst>
              <a:ext uri="{FF2B5EF4-FFF2-40B4-BE49-F238E27FC236}">
                <a16:creationId xmlns:a16="http://schemas.microsoft.com/office/drawing/2014/main" id="{1A086969-E0E9-5F53-02FD-5E18C92B163D}"/>
              </a:ext>
            </a:extLst>
          </p:cNvPr>
          <p:cNvGrpSpPr/>
          <p:nvPr/>
        </p:nvGrpSpPr>
        <p:grpSpPr>
          <a:xfrm>
            <a:off x="107093" y="277265"/>
            <a:ext cx="11837772" cy="1908215"/>
            <a:chOff x="247135" y="3534391"/>
            <a:chExt cx="11837772" cy="1908215"/>
          </a:xfrm>
        </p:grpSpPr>
        <p:sp>
          <p:nvSpPr>
            <p:cNvPr id="4" name="TextBox 3">
              <a:extLst>
                <a:ext uri="{FF2B5EF4-FFF2-40B4-BE49-F238E27FC236}">
                  <a16:creationId xmlns:a16="http://schemas.microsoft.com/office/drawing/2014/main" id="{9EB2FAE6-B891-092F-1A3E-18F515826922}"/>
                </a:ext>
              </a:extLst>
            </p:cNvPr>
            <p:cNvSpPr txBox="1"/>
            <p:nvPr/>
          </p:nvSpPr>
          <p:spPr>
            <a:xfrm>
              <a:off x="1949278" y="3534391"/>
              <a:ext cx="10135629" cy="830997"/>
            </a:xfrm>
            <a:prstGeom prst="rect">
              <a:avLst/>
            </a:prstGeom>
            <a:noFill/>
            <a:ln>
              <a:solidFill>
                <a:schemeClr val="accent1"/>
              </a:solidFill>
            </a:ln>
          </p:spPr>
          <p:txBody>
            <a:bodyPr wrap="square">
              <a:spAutoFit/>
            </a:bodyPr>
            <a:lstStyle/>
            <a:p>
              <a:r>
                <a:rPr lang="en-CA" sz="1600" kern="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Longchamp's present positioning highlights its </a:t>
              </a:r>
              <a:r>
                <a:rPr lang="en-CA" sz="1600" b="1" kern="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fusion of luxury, artistry, and practicality</a:t>
              </a:r>
              <a:r>
                <a:rPr lang="en-CA" sz="1600" kern="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mainly focusing on its Le Pliage brand. Although the brand has gained worldwide recognition and is highly popular, its ability to stand apart from competitors may be hindered by the prevalence of its characteristic Le Pliage bags.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DB34AB1-867A-1566-AD11-C28D40B61E6D}"/>
                </a:ext>
              </a:extLst>
            </p:cNvPr>
            <p:cNvSpPr txBox="1"/>
            <p:nvPr/>
          </p:nvSpPr>
          <p:spPr>
            <a:xfrm>
              <a:off x="247135" y="3555086"/>
              <a:ext cx="1566217" cy="1754326"/>
            </a:xfrm>
            <a:prstGeom prst="rect">
              <a:avLst/>
            </a:prstGeom>
            <a:solidFill>
              <a:schemeClr val="tx2">
                <a:lumMod val="25000"/>
                <a:lumOff val="75000"/>
              </a:schemeClr>
            </a:solidFill>
            <a:ln>
              <a:solidFill>
                <a:schemeClr val="accent1"/>
              </a:solidFill>
            </a:ln>
          </p:spPr>
          <p:txBody>
            <a:bodyPr wrap="square" rtlCol="0">
              <a:spAutoFit/>
            </a:bodyPr>
            <a:lstStyle/>
            <a:p>
              <a:r>
                <a:rPr lang="en-US" dirty="0"/>
                <a:t>Current Positioning of Longchamp and Le </a:t>
              </a:r>
              <a:r>
                <a:rPr lang="en-US" dirty="0" err="1"/>
                <a:t>Pilage</a:t>
              </a:r>
              <a:r>
                <a:rPr lang="en-US" dirty="0"/>
                <a:t> and is it clear? </a:t>
              </a:r>
            </a:p>
          </p:txBody>
        </p:sp>
        <p:sp>
          <p:nvSpPr>
            <p:cNvPr id="6" name="TextBox 5">
              <a:extLst>
                <a:ext uri="{FF2B5EF4-FFF2-40B4-BE49-F238E27FC236}">
                  <a16:creationId xmlns:a16="http://schemas.microsoft.com/office/drawing/2014/main" id="{7A045089-ECCF-42AD-7173-BC960452E903}"/>
                </a:ext>
              </a:extLst>
            </p:cNvPr>
            <p:cNvSpPr txBox="1"/>
            <p:nvPr/>
          </p:nvSpPr>
          <p:spPr>
            <a:xfrm>
              <a:off x="1949277" y="4365388"/>
              <a:ext cx="10135629" cy="1077218"/>
            </a:xfrm>
            <a:prstGeom prst="rect">
              <a:avLst/>
            </a:prstGeom>
            <a:noFill/>
            <a:ln>
              <a:solidFill>
                <a:schemeClr val="accent1"/>
              </a:solidFill>
            </a:ln>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The current positioning of Longchamp and Le Pliage is </a:t>
              </a:r>
              <a:r>
                <a:rPr lang="en-CA" sz="1600" b="1" kern="100" dirty="0">
                  <a:effectLst/>
                  <a:latin typeface="Arial" panose="020B0604020202020204" pitchFamily="34" charset="0"/>
                  <a:ea typeface="Aptos" panose="020B0004020202020204" pitchFamily="34" charset="0"/>
                  <a:cs typeface="Times New Roman" panose="02020603050405020304" pitchFamily="18" charset="0"/>
                </a:rPr>
                <a:t>clear</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emphasizing a combination of luxury, craftsmanship, and practicality. While Le Pliage has achieved significant popularity, its differentiation from competitors may be hindered by its widespread presence. Sustaining this positioning over the long term may require strategies to enhance exclusivity and maintain relevance amid evolving market dynamics.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grpSp>
      <p:sp>
        <p:nvSpPr>
          <p:cNvPr id="7" name="TextBox 6">
            <a:extLst>
              <a:ext uri="{FF2B5EF4-FFF2-40B4-BE49-F238E27FC236}">
                <a16:creationId xmlns:a16="http://schemas.microsoft.com/office/drawing/2014/main" id="{CC7F9802-8E0E-C6EE-2825-1F0A52A0A8A0}"/>
              </a:ext>
            </a:extLst>
          </p:cNvPr>
          <p:cNvSpPr txBox="1"/>
          <p:nvPr/>
        </p:nvSpPr>
        <p:spPr>
          <a:xfrm>
            <a:off x="109152" y="5482822"/>
            <a:ext cx="11973696" cy="1077218"/>
          </a:xfrm>
          <a:prstGeom prst="rect">
            <a:avLst/>
          </a:prstGeom>
          <a:noFill/>
          <a:ln>
            <a:solidFill>
              <a:schemeClr val="accent1"/>
            </a:solidFill>
          </a:ln>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Longchamp has been successful to date because of its ongoing commitment to superior quality, creativity, and adaptation. It has effectively employed its tradition of workmanship and superior products to build a strong worldwide brand recognition. Furthermore, Longchamp's potential to accurately foresee trends in the marketplace, in addition to strategic choices, has helped it stay ahead of the competition while remaining pertinent in the ever-changing fashion sector.</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88158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1D39F5-A0BE-00EB-5310-6CE24D5902B8}"/>
              </a:ext>
            </a:extLst>
          </p:cNvPr>
          <p:cNvSpPr txBox="1"/>
          <p:nvPr/>
        </p:nvSpPr>
        <p:spPr>
          <a:xfrm>
            <a:off x="222421" y="460098"/>
            <a:ext cx="10911015" cy="1815882"/>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The analysis indicates that Longchamp's robust brand equity and loyal client base are a firm basis for future expansion. Nevertheless, the corporation must persist in distinguishing its products, especially in light of growing competition in the high-end fashion industry. By capitalizing on its French heritage and expertise in workmanship, Longchamp may enhance its standing in the industry through the adoption of innovative strategies and diversification into new product categories. Furthermore, it will be imperative to bolster its brands' uniqueness and perceived worth, namely Le Pliage, by implementing well-planned marketing and distribution strategies. This will be crucial for to maintain its edge over competitors in the future.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DECC46D-13D3-EF31-2F14-223D7CD0FEC4}"/>
              </a:ext>
            </a:extLst>
          </p:cNvPr>
          <p:cNvSpPr txBox="1"/>
          <p:nvPr/>
        </p:nvSpPr>
        <p:spPr>
          <a:xfrm>
            <a:off x="3163329" y="66052"/>
            <a:ext cx="4411363" cy="369332"/>
          </a:xfrm>
          <a:prstGeom prst="rect">
            <a:avLst/>
          </a:prstGeom>
          <a:solidFill>
            <a:schemeClr val="tx2">
              <a:lumMod val="25000"/>
              <a:lumOff val="75000"/>
            </a:schemeClr>
          </a:solidFill>
          <a:ln>
            <a:solidFill>
              <a:schemeClr val="accent1"/>
            </a:solidFill>
          </a:ln>
        </p:spPr>
        <p:txBody>
          <a:bodyPr wrap="square">
            <a:spAutoFit/>
          </a:bodyPr>
          <a:lstStyle/>
          <a:p>
            <a:pPr algn="ctr"/>
            <a:r>
              <a:rPr lang="en-CA" b="1" i="0" dirty="0">
                <a:solidFill>
                  <a:srgbClr val="1F1F1F"/>
                </a:solidFill>
                <a:effectLst/>
                <a:highlight>
                  <a:srgbClr val="FFFFFF"/>
                </a:highlight>
                <a:latin typeface="Google Sans"/>
              </a:rPr>
              <a:t>Longchamp's Strategy in a Nutshell</a:t>
            </a:r>
            <a:endParaRPr lang="en-C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5B10B705-FB3B-F93B-AF25-FE32531E2273}"/>
              </a:ext>
            </a:extLst>
          </p:cNvPr>
          <p:cNvSpPr txBox="1"/>
          <p:nvPr/>
        </p:nvSpPr>
        <p:spPr>
          <a:xfrm>
            <a:off x="1973992" y="2442974"/>
            <a:ext cx="9773164" cy="4278094"/>
          </a:xfrm>
          <a:prstGeom prst="rect">
            <a:avLst/>
          </a:prstGeom>
          <a:noFill/>
          <a:ln>
            <a:solidFill>
              <a:schemeClr val="accent1"/>
            </a:solidFill>
          </a:ln>
        </p:spPr>
        <p:txBody>
          <a:bodyPr wrap="square">
            <a:spAutoFit/>
          </a:bodyPr>
          <a:lstStyle/>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Longchamp's crucial reach emphasizes client relationships as the key value discipline. This conclusion is drawn from the company's emphasis on building strong client connections through customized goods and exceptional service. Longchamp has a thorough understanding of its clients' wants and tastes, demonstrated by its ability to offer a diverse assortment of things to fit multiple tastes and interests. The company's commitment to quality workmanship and innovative layout strengthens its customer-centric strategy.</a:t>
            </a:r>
            <a:endParaRPr lang="en-CA"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Although Longchamp primarily focuses on client intimacy, the company also exhibits operational excellence and product leadership aspects. Longchamp's streamlined production methods and adept supply chain management exemplify operational efficiency, enabling the company to provide superior products punctually. In addition, Longchamp's emphasis on innovation and product development demonstrates a dedication to becoming a leader in the market by offering distinctive and inventive designs.</a:t>
            </a:r>
            <a:endParaRPr lang="en-CA"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However, Longchamp's value discipline extends beyond operational excellence or product leadership. Although these factors hold significance, the company's primary advantage rests in establishing enduring connections with its clients, prioritizing customer intimacy as the dominating value discipline. This strategy aligns with Longchamp's brand identity and strategic goals, highlighting the significance of comprehending and fulfilling the requirements of its discerning customers.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641BC971-CEB0-D9F3-75D3-5DA339BDBC93}"/>
              </a:ext>
            </a:extLst>
          </p:cNvPr>
          <p:cNvSpPr txBox="1"/>
          <p:nvPr/>
        </p:nvSpPr>
        <p:spPr>
          <a:xfrm>
            <a:off x="444844" y="3941805"/>
            <a:ext cx="1248033" cy="646331"/>
          </a:xfrm>
          <a:prstGeom prst="rect">
            <a:avLst/>
          </a:prstGeom>
          <a:noFill/>
          <a:ln>
            <a:solidFill>
              <a:schemeClr val="accent1"/>
            </a:solidFill>
          </a:ln>
        </p:spPr>
        <p:txBody>
          <a:bodyPr wrap="square" rtlCol="0">
            <a:spAutoFit/>
          </a:bodyPr>
          <a:lstStyle/>
          <a:p>
            <a:r>
              <a:rPr lang="en-US" dirty="0"/>
              <a:t>Value Discipline</a:t>
            </a:r>
          </a:p>
        </p:txBody>
      </p:sp>
    </p:spTree>
    <p:extLst>
      <p:ext uri="{BB962C8B-B14F-4D97-AF65-F5344CB8AC3E}">
        <p14:creationId xmlns:p14="http://schemas.microsoft.com/office/powerpoint/2010/main" val="2928312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F39764-3AA3-D9E7-78B4-E4F7D3017B5E}"/>
              </a:ext>
            </a:extLst>
          </p:cNvPr>
          <p:cNvSpPr txBox="1"/>
          <p:nvPr/>
        </p:nvSpPr>
        <p:spPr>
          <a:xfrm>
            <a:off x="135924" y="123568"/>
            <a:ext cx="11911914" cy="584775"/>
          </a:xfrm>
          <a:prstGeom prst="rect">
            <a:avLst/>
          </a:prstGeom>
          <a:solidFill>
            <a:schemeClr val="tx2">
              <a:lumMod val="25000"/>
              <a:lumOff val="75000"/>
            </a:schemeClr>
          </a:solidFill>
          <a:ln>
            <a:solidFill>
              <a:schemeClr val="accent1"/>
            </a:solidFill>
          </a:ln>
        </p:spPr>
        <p:txBody>
          <a:bodyPr wrap="square" rtlCol="0">
            <a:spAutoFit/>
          </a:bodyPr>
          <a:lstStyle/>
          <a:p>
            <a:r>
              <a:rPr lang="en-CA" sz="1600" dirty="0">
                <a:effectLst/>
                <a:latin typeface="Arial" panose="020B0604020202020204" pitchFamily="34" charset="0"/>
                <a:ea typeface="Aptos" panose="020B0004020202020204" pitchFamily="34" charset="0"/>
              </a:rPr>
              <a:t>Longchamp's business operations and market success are shaped by various external factors, including economic conditions, social trends, legal regulations, and environmental considerations. </a:t>
            </a:r>
            <a:endParaRPr lang="en-US" sz="1600" dirty="0"/>
          </a:p>
        </p:txBody>
      </p:sp>
      <p:grpSp>
        <p:nvGrpSpPr>
          <p:cNvPr id="12" name="Group 11">
            <a:extLst>
              <a:ext uri="{FF2B5EF4-FFF2-40B4-BE49-F238E27FC236}">
                <a16:creationId xmlns:a16="http://schemas.microsoft.com/office/drawing/2014/main" id="{97561F3B-1B0C-ADF9-F14C-D7DE95CA6FB8}"/>
              </a:ext>
            </a:extLst>
          </p:cNvPr>
          <p:cNvGrpSpPr/>
          <p:nvPr/>
        </p:nvGrpSpPr>
        <p:grpSpPr>
          <a:xfrm>
            <a:off x="370705" y="1223319"/>
            <a:ext cx="11821295" cy="3497990"/>
            <a:chOff x="370704" y="963827"/>
            <a:chExt cx="11821295" cy="3497990"/>
          </a:xfrm>
        </p:grpSpPr>
        <p:sp>
          <p:nvSpPr>
            <p:cNvPr id="4" name="TextBox 3">
              <a:extLst>
                <a:ext uri="{FF2B5EF4-FFF2-40B4-BE49-F238E27FC236}">
                  <a16:creationId xmlns:a16="http://schemas.microsoft.com/office/drawing/2014/main" id="{E61C6D8F-8B2B-EEDA-3D3E-1AD3E9E3F095}"/>
                </a:ext>
              </a:extLst>
            </p:cNvPr>
            <p:cNvSpPr txBox="1"/>
            <p:nvPr/>
          </p:nvSpPr>
          <p:spPr>
            <a:xfrm>
              <a:off x="667264" y="963827"/>
              <a:ext cx="11524735" cy="1815882"/>
            </a:xfrm>
            <a:prstGeom prst="rect">
              <a:avLst/>
            </a:prstGeom>
            <a:noFill/>
            <a:ln>
              <a:solidFill>
                <a:schemeClr val="accent1"/>
              </a:solidFill>
            </a:ln>
          </p:spPr>
          <p:txBody>
            <a:bodyPr wrap="square" rtlCol="0">
              <a:spAutoFit/>
            </a:bodyPr>
            <a:lstStyle/>
            <a:p>
              <a:r>
                <a:rPr lang="en-CA" sz="1600" b="1" kern="100" dirty="0">
                  <a:effectLst/>
                  <a:latin typeface="Arial" panose="020B0604020202020204" pitchFamily="34" charset="0"/>
                  <a:ea typeface="Aptos" panose="020B0004020202020204" pitchFamily="34" charset="0"/>
                  <a:cs typeface="Times New Roman" panose="02020603050405020304" pitchFamily="18" charset="0"/>
                </a:rPr>
                <a:t>Market &amp; Context:</a:t>
              </a:r>
              <a:endParaRPr lang="en-CA" sz="1600" b="1" kern="100" dirty="0">
                <a:effectLst/>
                <a:latin typeface="Aptos" panose="020B0004020202020204" pitchFamily="34" charset="0"/>
                <a:ea typeface="Aptos" panose="020B0004020202020204" pitchFamily="34" charset="0"/>
                <a:cs typeface="Times New Roman" panose="02020603050405020304" pitchFamily="18" charset="0"/>
              </a:endParaRPr>
            </a:p>
            <a:p>
              <a:r>
                <a:rPr lang="en-CA" sz="1600" dirty="0">
                  <a:effectLst/>
                  <a:latin typeface="Arial" panose="020B0604020202020204" pitchFamily="34" charset="0"/>
                  <a:ea typeface="Aptos" panose="020B0004020202020204" pitchFamily="34" charset="0"/>
                </a:rPr>
                <a:t>Longchamp operates in the premium and luxury fashion accessories market, where economic conditions play a significant role in consumer spending behavior. Fluctuations in GDP growth rates, inflation, and employment levels can impact the purchasing power of affluent consumers, influencing their propensity to buy luxury goods like handbags and accessories. Additionally, social trends such as increasing emphasis on sustainability and ethical consumption are reshaping consumer preferences in the fashion industry, affecting demand for environmentally friendly and ethically sourced products. Longchamp must adapt its strategies and offerings to capitalize on these trends and maintain its competitive edge in the market.</a:t>
              </a:r>
              <a:r>
                <a:rPr lang="en-CA" sz="1600" dirty="0">
                  <a:effectLst/>
                </a:rPr>
                <a:t> </a:t>
              </a:r>
              <a:endParaRPr lang="en-US" sz="1600" dirty="0"/>
            </a:p>
          </p:txBody>
        </p:sp>
        <p:sp>
          <p:nvSpPr>
            <p:cNvPr id="5" name="Oval 4">
              <a:extLst>
                <a:ext uri="{FF2B5EF4-FFF2-40B4-BE49-F238E27FC236}">
                  <a16:creationId xmlns:a16="http://schemas.microsoft.com/office/drawing/2014/main" id="{2C3F0C0E-9953-48D3-098B-713CE6C79896}"/>
                </a:ext>
              </a:extLst>
            </p:cNvPr>
            <p:cNvSpPr/>
            <p:nvPr/>
          </p:nvSpPr>
          <p:spPr>
            <a:xfrm>
              <a:off x="370704" y="1050324"/>
              <a:ext cx="123568" cy="16063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8BFB5B4-57C1-44EE-3C1D-C71D92C7170E}"/>
                </a:ext>
              </a:extLst>
            </p:cNvPr>
            <p:cNvSpPr txBox="1"/>
            <p:nvPr/>
          </p:nvSpPr>
          <p:spPr>
            <a:xfrm>
              <a:off x="667264" y="2892157"/>
              <a:ext cx="11524735" cy="1569660"/>
            </a:xfrm>
            <a:prstGeom prst="rect">
              <a:avLst/>
            </a:prstGeom>
            <a:noFill/>
            <a:ln>
              <a:solidFill>
                <a:schemeClr val="accent1"/>
              </a:solidFill>
            </a:ln>
          </p:spPr>
          <p:txBody>
            <a:bodyPr wrap="square">
              <a:spAutoFit/>
            </a:bodyPr>
            <a:lstStyle/>
            <a:p>
              <a:r>
                <a:rPr lang="en-CA" sz="1600" b="1" kern="100" dirty="0">
                  <a:effectLst/>
                  <a:latin typeface="Arial" panose="020B0604020202020204" pitchFamily="34" charset="0"/>
                  <a:ea typeface="Aptos" panose="020B0004020202020204" pitchFamily="34" charset="0"/>
                  <a:cs typeface="Times New Roman" panose="02020603050405020304" pitchFamily="18" charset="0"/>
                </a:rPr>
                <a:t>Consumer:</a:t>
              </a:r>
              <a:endParaRPr lang="en-CA" sz="1600" b="1" kern="100" dirty="0">
                <a:effectLst/>
                <a:latin typeface="Aptos" panose="020B0004020202020204" pitchFamily="34" charset="0"/>
                <a:ea typeface="Aptos" panose="020B0004020202020204" pitchFamily="34" charset="0"/>
                <a:cs typeface="Times New Roman" panose="02020603050405020304" pitchFamily="18" charset="0"/>
              </a:endParaRPr>
            </a:p>
            <a:p>
              <a:r>
                <a:rPr lang="en-CA" sz="1600" kern="100" dirty="0">
                  <a:effectLst/>
                  <a:latin typeface="Arial" panose="020B0604020202020204" pitchFamily="34" charset="0"/>
                  <a:ea typeface="Aptos" panose="020B0004020202020204" pitchFamily="34" charset="0"/>
                  <a:cs typeface="Times New Roman" panose="02020603050405020304" pitchFamily="18" charset="0"/>
                </a:rPr>
                <a:t>The target consumers for Longchamp's premium and luxury products are affluent individuals who value quality, craftsmanship, and brand prestige. These consumers are typically influenced by societal trends, including fashion, lifestyle, and status symbols. Longchamp's customers seek products that not only showcase their style and sophistication but also align with their values, such as sustainability and ethical production practices. Understanding these consumer preferences is crucial for Longchamp to effectively position its brand and offerings in the market.</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Oval 7">
              <a:extLst>
                <a:ext uri="{FF2B5EF4-FFF2-40B4-BE49-F238E27FC236}">
                  <a16:creationId xmlns:a16="http://schemas.microsoft.com/office/drawing/2014/main" id="{8628B4EF-A661-3906-AE2A-AE18E2E1A15D}"/>
                </a:ext>
              </a:extLst>
            </p:cNvPr>
            <p:cNvSpPr/>
            <p:nvPr/>
          </p:nvSpPr>
          <p:spPr>
            <a:xfrm>
              <a:off x="374824" y="3006810"/>
              <a:ext cx="123568" cy="16063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69230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7CF2E2D-74EB-970A-0B75-83E8FF7C5348}"/>
              </a:ext>
            </a:extLst>
          </p:cNvPr>
          <p:cNvGrpSpPr/>
          <p:nvPr/>
        </p:nvGrpSpPr>
        <p:grpSpPr>
          <a:xfrm>
            <a:off x="496331" y="2452463"/>
            <a:ext cx="11561803" cy="3552360"/>
            <a:chOff x="523105" y="166463"/>
            <a:chExt cx="11561803" cy="3552360"/>
          </a:xfrm>
        </p:grpSpPr>
        <p:sp>
          <p:nvSpPr>
            <p:cNvPr id="3" name="TextBox 2">
              <a:extLst>
                <a:ext uri="{FF2B5EF4-FFF2-40B4-BE49-F238E27FC236}">
                  <a16:creationId xmlns:a16="http://schemas.microsoft.com/office/drawing/2014/main" id="{2A6DD60F-3AAF-7383-5C6F-029234B5EE81}"/>
                </a:ext>
              </a:extLst>
            </p:cNvPr>
            <p:cNvSpPr txBox="1"/>
            <p:nvPr/>
          </p:nvSpPr>
          <p:spPr>
            <a:xfrm>
              <a:off x="840259" y="166463"/>
              <a:ext cx="11244649" cy="1569660"/>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Legal:</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a:p>
              <a:r>
                <a:rPr lang="en-CA" sz="1600" kern="100" dirty="0">
                  <a:effectLst/>
                  <a:latin typeface="Arial" panose="020B0604020202020204" pitchFamily="34" charset="0"/>
                  <a:ea typeface="Aptos" panose="020B0004020202020204" pitchFamily="34" charset="0"/>
                  <a:cs typeface="Times New Roman" panose="02020603050405020304" pitchFamily="18" charset="0"/>
                </a:rPr>
                <a:t>Longchamp's market access and competitive positioning are subject to legal regulations governing intellectual property rights, trade agreements, and consumer protection laws. Intellectual property laws protect Longchamp's brand identity and designs from infringement by competitors, ensuring the exclusivity and authenticity of its products. Compliance with trade agreements and consumer protection laws is essential for Longchamp to operate seamlessly in different markets and maintain consumer trust and confidence.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Oval 3">
              <a:extLst>
                <a:ext uri="{FF2B5EF4-FFF2-40B4-BE49-F238E27FC236}">
                  <a16:creationId xmlns:a16="http://schemas.microsoft.com/office/drawing/2014/main" id="{39E22358-7882-3BF9-C4E6-529210FD2335}"/>
                </a:ext>
              </a:extLst>
            </p:cNvPr>
            <p:cNvSpPr/>
            <p:nvPr/>
          </p:nvSpPr>
          <p:spPr>
            <a:xfrm>
              <a:off x="523105" y="290033"/>
              <a:ext cx="123568" cy="16063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70A9B7-63F8-D6A7-33C3-B28EC33C19BB}"/>
                </a:ext>
              </a:extLst>
            </p:cNvPr>
            <p:cNvSpPr txBox="1"/>
            <p:nvPr/>
          </p:nvSpPr>
          <p:spPr>
            <a:xfrm>
              <a:off x="840258" y="1902941"/>
              <a:ext cx="11244649" cy="1815882"/>
            </a:xfrm>
            <a:prstGeom prst="rect">
              <a:avLst/>
            </a:prstGeom>
            <a:noFill/>
            <a:ln>
              <a:solidFill>
                <a:schemeClr val="accent1"/>
              </a:solidFill>
            </a:ln>
          </p:spPr>
          <p:txBody>
            <a:bodyPr wrap="square" rtlCol="0">
              <a:spAutoFit/>
            </a:bodyPr>
            <a:lstStyle/>
            <a:p>
              <a:r>
                <a:rPr lang="en-CA" sz="1600" b="1" kern="100" dirty="0">
                  <a:effectLst/>
                  <a:latin typeface="Arial" panose="020B0604020202020204" pitchFamily="34" charset="0"/>
                  <a:ea typeface="Aptos" panose="020B0004020202020204" pitchFamily="34" charset="0"/>
                  <a:cs typeface="Times New Roman" panose="02020603050405020304" pitchFamily="18" charset="0"/>
                </a:rPr>
                <a:t>Environmental:</a:t>
              </a:r>
              <a:endParaRPr lang="en-CA" sz="1600" b="1" kern="100" dirty="0">
                <a:effectLst/>
                <a:latin typeface="Aptos" panose="020B0004020202020204" pitchFamily="34" charset="0"/>
                <a:ea typeface="Aptos" panose="020B0004020202020204" pitchFamily="34" charset="0"/>
                <a:cs typeface="Times New Roman" panose="02020603050405020304" pitchFamily="18" charset="0"/>
              </a:endParaRPr>
            </a:p>
            <a:p>
              <a:r>
                <a:rPr lang="en-CA" sz="1600" kern="100" dirty="0">
                  <a:effectLst/>
                  <a:latin typeface="Arial" panose="020B0604020202020204" pitchFamily="34" charset="0"/>
                  <a:ea typeface="Aptos" panose="020B0004020202020204" pitchFamily="34" charset="0"/>
                  <a:cs typeface="Times New Roman" panose="02020603050405020304" pitchFamily="18" charset="0"/>
                </a:rPr>
                <a:t>Environmental factors, including sustainability and ethical consumption trends, are increasingly influencing consumer behavior and brand preferences in the fashion industry. Longchamp must consider these factors in its product development, sourcing, and manufacturing processes to meet consumer expectations for eco-friendly and ethically produced goods. Embracing sustainable practices and offering environmentally conscious products can enhance Longchamp's brand image and appeal to environmentally conscious consumers in the premium and luxury market segment.</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Oval 5">
              <a:extLst>
                <a:ext uri="{FF2B5EF4-FFF2-40B4-BE49-F238E27FC236}">
                  <a16:creationId xmlns:a16="http://schemas.microsoft.com/office/drawing/2014/main" id="{E8762890-2A37-8CEF-482A-2025E24FE6A5}"/>
                </a:ext>
              </a:extLst>
            </p:cNvPr>
            <p:cNvSpPr/>
            <p:nvPr/>
          </p:nvSpPr>
          <p:spPr>
            <a:xfrm>
              <a:off x="523105" y="1987028"/>
              <a:ext cx="123568" cy="16063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1155DB2-7B39-6077-D471-08414D74466B}"/>
              </a:ext>
            </a:extLst>
          </p:cNvPr>
          <p:cNvSpPr txBox="1"/>
          <p:nvPr/>
        </p:nvSpPr>
        <p:spPr>
          <a:xfrm>
            <a:off x="133865" y="6119119"/>
            <a:ext cx="11924269" cy="584775"/>
          </a:xfrm>
          <a:prstGeom prst="rect">
            <a:avLst/>
          </a:prstGeom>
          <a:solidFill>
            <a:schemeClr val="tx2">
              <a:lumMod val="25000"/>
              <a:lumOff val="75000"/>
            </a:schemeClr>
          </a:solidFill>
          <a:ln>
            <a:solidFill>
              <a:schemeClr val="accent1"/>
            </a:solidFill>
          </a:ln>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By understanding and adapting to these factors, Longchamp can effectively position its brand and offerings in the premium and luxury fashion accessories market, capitalize on emerging opportunities, and maintain its competitive advantage.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grpSp>
        <p:nvGrpSpPr>
          <p:cNvPr id="9" name="Group 8">
            <a:extLst>
              <a:ext uri="{FF2B5EF4-FFF2-40B4-BE49-F238E27FC236}">
                <a16:creationId xmlns:a16="http://schemas.microsoft.com/office/drawing/2014/main" id="{DE2CF64E-CF03-A1DE-2A8C-28804E3B7232}"/>
              </a:ext>
            </a:extLst>
          </p:cNvPr>
          <p:cNvGrpSpPr/>
          <p:nvPr/>
        </p:nvGrpSpPr>
        <p:grpSpPr>
          <a:xfrm>
            <a:off x="529278" y="635260"/>
            <a:ext cx="11813060" cy="1569660"/>
            <a:chOff x="378940" y="4572000"/>
            <a:chExt cx="11813060" cy="1569660"/>
          </a:xfrm>
        </p:grpSpPr>
        <p:sp>
          <p:nvSpPr>
            <p:cNvPr id="10" name="TextBox 9">
              <a:extLst>
                <a:ext uri="{FF2B5EF4-FFF2-40B4-BE49-F238E27FC236}">
                  <a16:creationId xmlns:a16="http://schemas.microsoft.com/office/drawing/2014/main" id="{2B91F6C2-8081-1FD0-C5BF-CF18BA727CDA}"/>
                </a:ext>
              </a:extLst>
            </p:cNvPr>
            <p:cNvSpPr txBox="1"/>
            <p:nvPr/>
          </p:nvSpPr>
          <p:spPr>
            <a:xfrm>
              <a:off x="667264" y="4572000"/>
              <a:ext cx="11524736" cy="1569660"/>
            </a:xfrm>
            <a:prstGeom prst="rect">
              <a:avLst/>
            </a:prstGeom>
            <a:noFill/>
            <a:ln>
              <a:solidFill>
                <a:schemeClr val="accent1"/>
              </a:solidFill>
            </a:ln>
          </p:spPr>
          <p:txBody>
            <a:bodyPr wrap="square" rtlCol="0">
              <a:spAutoFit/>
            </a:bodyPr>
            <a:lstStyle/>
            <a:p>
              <a:r>
                <a:rPr lang="en-CA" sz="1600" b="1" kern="100" dirty="0">
                  <a:effectLst/>
                  <a:latin typeface="Arial" panose="020B0604020202020204" pitchFamily="34" charset="0"/>
                  <a:ea typeface="Aptos" panose="020B0004020202020204" pitchFamily="34" charset="0"/>
                  <a:cs typeface="Times New Roman" panose="02020603050405020304" pitchFamily="18" charset="0"/>
                </a:rPr>
                <a:t>Competitors:</a:t>
              </a:r>
              <a:endParaRPr lang="en-CA" sz="1600" b="1" kern="100" dirty="0">
                <a:effectLst/>
                <a:latin typeface="Aptos" panose="020B0004020202020204" pitchFamily="34" charset="0"/>
                <a:ea typeface="Aptos" panose="020B0004020202020204" pitchFamily="34" charset="0"/>
                <a:cs typeface="Times New Roman" panose="02020603050405020304" pitchFamily="18" charset="0"/>
              </a:endParaRPr>
            </a:p>
            <a:p>
              <a:r>
                <a:rPr lang="en-CA" sz="1600" kern="100" dirty="0">
                  <a:effectLst/>
                  <a:latin typeface="Arial" panose="020B0604020202020204" pitchFamily="34" charset="0"/>
                  <a:ea typeface="Aptos" panose="020B0004020202020204" pitchFamily="34" charset="0"/>
                  <a:cs typeface="Times New Roman" panose="02020603050405020304" pitchFamily="18" charset="0"/>
                </a:rPr>
                <a:t>Longchamp faces competition from both established luxury brands and emerging players in the premium and luxury fashion accessories market. Competitors such as Michael Kors, Coach, Tory Burch, and Kate Spade offer similar products targeting affluent consumers with a penchant for high-quality and stylish accessories. Longchamp must closely monitor competitors' strategies, product offerings, and marketing initiatives to identify opportunities for differentiation and maintain its market position.</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1" name="Oval 10">
              <a:extLst>
                <a:ext uri="{FF2B5EF4-FFF2-40B4-BE49-F238E27FC236}">
                  <a16:creationId xmlns:a16="http://schemas.microsoft.com/office/drawing/2014/main" id="{44AAA0DE-4C8D-C8EC-9AE9-91CD502367DC}"/>
                </a:ext>
              </a:extLst>
            </p:cNvPr>
            <p:cNvSpPr/>
            <p:nvPr/>
          </p:nvSpPr>
          <p:spPr>
            <a:xfrm>
              <a:off x="378940" y="4666736"/>
              <a:ext cx="123568" cy="16063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88033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table with text on it&#10;&#10;Description automatically generated">
            <a:extLst>
              <a:ext uri="{FF2B5EF4-FFF2-40B4-BE49-F238E27FC236}">
                <a16:creationId xmlns:a16="http://schemas.microsoft.com/office/drawing/2014/main" id="{11E5E6BC-4074-56EE-E25C-159F6842CFF8}"/>
              </a:ext>
            </a:extLst>
          </p:cNvPr>
          <p:cNvPicPr>
            <a:picLocks noChangeAspect="1"/>
          </p:cNvPicPr>
          <p:nvPr/>
        </p:nvPicPr>
        <p:blipFill>
          <a:blip r:embed="rId2"/>
          <a:stretch>
            <a:fillRect/>
          </a:stretch>
        </p:blipFill>
        <p:spPr>
          <a:xfrm>
            <a:off x="2434280" y="1142389"/>
            <a:ext cx="6870357" cy="3918710"/>
          </a:xfrm>
          <a:prstGeom prst="rect">
            <a:avLst/>
          </a:prstGeom>
        </p:spPr>
      </p:pic>
      <p:sp>
        <p:nvSpPr>
          <p:cNvPr id="4" name="TextBox 3">
            <a:extLst>
              <a:ext uri="{FF2B5EF4-FFF2-40B4-BE49-F238E27FC236}">
                <a16:creationId xmlns:a16="http://schemas.microsoft.com/office/drawing/2014/main" id="{1022C1C8-6B62-12E8-83F4-5B07EF5AC03C}"/>
              </a:ext>
            </a:extLst>
          </p:cNvPr>
          <p:cNvSpPr txBox="1"/>
          <p:nvPr/>
        </p:nvSpPr>
        <p:spPr>
          <a:xfrm>
            <a:off x="111211" y="75481"/>
            <a:ext cx="11874843" cy="1077218"/>
          </a:xfrm>
          <a:prstGeom prst="rect">
            <a:avLst/>
          </a:prstGeom>
          <a:solidFill>
            <a:schemeClr val="tx2">
              <a:lumMod val="25000"/>
              <a:lumOff val="75000"/>
            </a:schemeClr>
          </a:solidFill>
          <a:ln>
            <a:solidFill>
              <a:schemeClr val="accent1"/>
            </a:solidFill>
          </a:ln>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The market is favourable. Longchamp sees great prospects in the premium and luxury fashion accessories sector, thanks to its affluent client base, rising demand for high-quality and trendy items, and shifting consumer attitudes toward ecological and ethical purchasing. Despite competing demands and regulatory constraints, Longchamp's brand power, creative product offers, and positioning strategy allow it to profit on market attractiveness while maintaining its competitive advantage.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AEEEE98E-3579-738D-97F0-D7FA8B7D6C66}"/>
              </a:ext>
            </a:extLst>
          </p:cNvPr>
          <p:cNvSpPr txBox="1"/>
          <p:nvPr/>
        </p:nvSpPr>
        <p:spPr>
          <a:xfrm>
            <a:off x="158578" y="5042118"/>
            <a:ext cx="11874843" cy="1815882"/>
          </a:xfrm>
          <a:prstGeom prst="rect">
            <a:avLst/>
          </a:prstGeom>
          <a:noFill/>
          <a:ln>
            <a:solidFill>
              <a:schemeClr val="accent1"/>
            </a:solidFill>
          </a:ln>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There are various key factors which have contributed to the success of Le Pliage. </a:t>
            </a:r>
          </a:p>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First and foremost, the product's blend of functionality and style appeals to consumers seeking both useful and fashionable things. The renowned collapsible structure provides practicality for daily usage, further augmenting its widespread appeal.</a:t>
            </a:r>
          </a:p>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Furthermore, the cost of Le Pliage, in comparison to other high-end handbag manufacturers, establishes it as a readily accessible gateway into the realm of Longchamp. </a:t>
            </a:r>
            <a:endParaRPr lang="en-CA" sz="1600" kern="100" dirty="0">
              <a:latin typeface="Arial" panose="020B06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This product's design is everlasting and does not follow current trends, which has contributed to its long-term popularity among a diverse variety of consumers.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79232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8F2793-E3E1-6827-1E04-9ACD38CF2ABD}"/>
              </a:ext>
            </a:extLst>
          </p:cNvPr>
          <p:cNvSpPr txBox="1"/>
          <p:nvPr/>
        </p:nvSpPr>
        <p:spPr>
          <a:xfrm>
            <a:off x="2829697" y="171614"/>
            <a:ext cx="9140910" cy="1323439"/>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current value proposition is based on its capacity to offer a practical, stylish, and affordable product. Consumers are provided with multifunctional items appropriate for various situations, including travel, work, and leisure activities. The brand's dedication to superior workmanship and meticulousness increases its value proposition, guaranteeing its products' durability and extended lifespan.</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F63FA57C-3B16-F1AE-B7D1-71F64528B1E6}"/>
              </a:ext>
            </a:extLst>
          </p:cNvPr>
          <p:cNvSpPr txBox="1"/>
          <p:nvPr/>
        </p:nvSpPr>
        <p:spPr>
          <a:xfrm>
            <a:off x="221393" y="510167"/>
            <a:ext cx="2533135" cy="646331"/>
          </a:xfrm>
          <a:prstGeom prst="rect">
            <a:avLst/>
          </a:prstGeom>
          <a:solidFill>
            <a:schemeClr val="tx2">
              <a:lumMod val="25000"/>
              <a:lumOff val="75000"/>
            </a:schemeClr>
          </a:solidFill>
          <a:ln>
            <a:solidFill>
              <a:schemeClr val="accent1"/>
            </a:solidFill>
          </a:ln>
        </p:spPr>
        <p:txBody>
          <a:bodyPr wrap="square" rtlCol="0">
            <a:spAutoFit/>
          </a:bodyPr>
          <a:lstStyle/>
          <a:p>
            <a:r>
              <a:rPr lang="en-US" dirty="0"/>
              <a:t>Le </a:t>
            </a:r>
            <a:r>
              <a:rPr lang="en-US" dirty="0" err="1"/>
              <a:t>Pilage</a:t>
            </a:r>
            <a:r>
              <a:rPr lang="en-US" dirty="0"/>
              <a:t> current value proposition </a:t>
            </a:r>
          </a:p>
        </p:txBody>
      </p:sp>
      <p:sp>
        <p:nvSpPr>
          <p:cNvPr id="6" name="TextBox 5">
            <a:extLst>
              <a:ext uri="{FF2B5EF4-FFF2-40B4-BE49-F238E27FC236}">
                <a16:creationId xmlns:a16="http://schemas.microsoft.com/office/drawing/2014/main" id="{77E08FA4-873A-B540-AF60-E5B57FD86179}"/>
              </a:ext>
            </a:extLst>
          </p:cNvPr>
          <p:cNvSpPr txBox="1"/>
          <p:nvPr/>
        </p:nvSpPr>
        <p:spPr>
          <a:xfrm>
            <a:off x="0" y="2295407"/>
            <a:ext cx="4216743" cy="3293209"/>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Yes, the Le Pliage brand has established a strong and distinct image separate from the Longchamp brand. Its iconic foldable design, practicality, and affordability compared to other luxury handbag brands have contributed to its unique identity in the market. Despite being part of the Longchamp portfolio,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widespread recognition and popularity among premium and luxury consumers have solidified its independent image, catering to a specific segment of the market seeking functional yet stylish accessories.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1A410EE5-C3AE-1779-D469-73505C7BFF65}"/>
              </a:ext>
            </a:extLst>
          </p:cNvPr>
          <p:cNvSpPr txBox="1"/>
          <p:nvPr/>
        </p:nvSpPr>
        <p:spPr>
          <a:xfrm>
            <a:off x="458744" y="1591121"/>
            <a:ext cx="3299254" cy="646331"/>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dirty="0"/>
              <a:t>Do they have strong brand image ?</a:t>
            </a:r>
          </a:p>
        </p:txBody>
      </p:sp>
      <p:sp>
        <p:nvSpPr>
          <p:cNvPr id="9" name="TextBox 8">
            <a:extLst>
              <a:ext uri="{FF2B5EF4-FFF2-40B4-BE49-F238E27FC236}">
                <a16:creationId xmlns:a16="http://schemas.microsoft.com/office/drawing/2014/main" id="{88CCF85F-F770-7BF8-946E-2EFF707BF23B}"/>
              </a:ext>
            </a:extLst>
          </p:cNvPr>
          <p:cNvSpPr txBox="1"/>
          <p:nvPr/>
        </p:nvSpPr>
        <p:spPr>
          <a:xfrm>
            <a:off x="4383560" y="2290842"/>
            <a:ext cx="3808970" cy="2800767"/>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Le Pliage has cultivated a robust and unique brand identity, separate from but closely linked to the Longchamp brand.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distinctive foldable design and extensive recognition have positioned it as a distinct entity in the high-end handbag industry. The popularity of the Longchamp brand extends beyond its name, attracting buyers looking for practical and stylish items. </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24B655AF-9F57-8F5E-AF35-E559472A0F83}"/>
              </a:ext>
            </a:extLst>
          </p:cNvPr>
          <p:cNvSpPr txBox="1"/>
          <p:nvPr/>
        </p:nvSpPr>
        <p:spPr>
          <a:xfrm>
            <a:off x="4761470" y="1621898"/>
            <a:ext cx="2669060" cy="584775"/>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600" dirty="0">
                <a:latin typeface="Arial" panose="020B0604020202020204" pitchFamily="34" charset="0"/>
                <a:ea typeface="Aptos" panose="020B0004020202020204" pitchFamily="34" charset="0"/>
              </a:rPr>
              <a:t>R</a:t>
            </a:r>
            <a:r>
              <a:rPr lang="en-CA" sz="1600" dirty="0">
                <a:effectLst/>
                <a:latin typeface="Arial" panose="020B0604020202020204" pitchFamily="34" charset="0"/>
                <a:ea typeface="Aptos" panose="020B0004020202020204" pitchFamily="34" charset="0"/>
              </a:rPr>
              <a:t>ole of the Longchamp brand in its success</a:t>
            </a:r>
            <a:r>
              <a:rPr lang="en-CA" sz="1600" dirty="0">
                <a:effectLst/>
              </a:rPr>
              <a:t> </a:t>
            </a:r>
            <a:endParaRPr lang="en-US" sz="1600" dirty="0"/>
          </a:p>
        </p:txBody>
      </p:sp>
      <p:sp>
        <p:nvSpPr>
          <p:cNvPr id="12" name="TextBox 11">
            <a:extLst>
              <a:ext uri="{FF2B5EF4-FFF2-40B4-BE49-F238E27FC236}">
                <a16:creationId xmlns:a16="http://schemas.microsoft.com/office/drawing/2014/main" id="{8CC0E226-7FA5-6524-0569-8E334C5D81DD}"/>
              </a:ext>
            </a:extLst>
          </p:cNvPr>
          <p:cNvSpPr txBox="1"/>
          <p:nvPr/>
        </p:nvSpPr>
        <p:spPr>
          <a:xfrm>
            <a:off x="8359347" y="2290842"/>
            <a:ext cx="3808970" cy="3046988"/>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The Le Pliage collection significantly contributes to the Longchamp brand, acting as a fundamental part of its range of products.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Longchamp'sextensive</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popularity and robust consumer demand directly contribute to the company's sales and revenue. Moreover, Le Pliage improves Longchamp's brand awareness and market placement, draws in new clientele, and cultivates brand loyalty among current clients.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E33DBB2E-179A-F070-9A6A-9533F73FFEB6}"/>
              </a:ext>
            </a:extLst>
          </p:cNvPr>
          <p:cNvSpPr txBox="1"/>
          <p:nvPr/>
        </p:nvSpPr>
        <p:spPr>
          <a:xfrm>
            <a:off x="8359347" y="1591121"/>
            <a:ext cx="3611260" cy="584775"/>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600" dirty="0">
                <a:latin typeface="Arial" panose="020B0604020202020204" pitchFamily="34" charset="0"/>
                <a:ea typeface="Aptos" panose="020B0004020202020204" pitchFamily="34" charset="0"/>
              </a:rPr>
              <a:t>V</a:t>
            </a:r>
            <a:r>
              <a:rPr lang="en-CA" sz="1600" dirty="0">
                <a:effectLst/>
                <a:latin typeface="Arial" panose="020B0604020202020204" pitchFamily="34" charset="0"/>
                <a:ea typeface="Aptos" panose="020B0004020202020204" pitchFamily="34" charset="0"/>
              </a:rPr>
              <a:t>alue does Le Pliage bring to Longchamp</a:t>
            </a:r>
            <a:r>
              <a:rPr lang="en-CA" sz="1600" dirty="0">
                <a:effectLst/>
              </a:rPr>
              <a:t> </a:t>
            </a:r>
            <a:endParaRPr lang="en-US" sz="1600" dirty="0"/>
          </a:p>
        </p:txBody>
      </p:sp>
      <p:sp>
        <p:nvSpPr>
          <p:cNvPr id="14" name="TextBox 13">
            <a:extLst>
              <a:ext uri="{FF2B5EF4-FFF2-40B4-BE49-F238E27FC236}">
                <a16:creationId xmlns:a16="http://schemas.microsoft.com/office/drawing/2014/main" id="{2545E063-F035-848B-0EB6-AFA40451C147}"/>
              </a:ext>
            </a:extLst>
          </p:cNvPr>
          <p:cNvSpPr txBox="1"/>
          <p:nvPr/>
        </p:nvSpPr>
        <p:spPr>
          <a:xfrm>
            <a:off x="86497" y="5691909"/>
            <a:ext cx="11677135" cy="1077218"/>
          </a:xfrm>
          <a:prstGeom prst="rect">
            <a:avLst/>
          </a:prstGeom>
          <a:solidFill>
            <a:schemeClr val="tx2">
              <a:lumMod val="25000"/>
              <a:lumOff val="75000"/>
            </a:schemeClr>
          </a:solidFill>
          <a:ln>
            <a:solidFill>
              <a:schemeClr val="accent1"/>
            </a:solidFill>
          </a:ln>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Recognizing the strong and distinct image of the Le Pliage brand implies that decisions regarding its future direction, including potential expansions, collaborations, or brand separations, must carefully consider its established identity and appeal to the premium plus luxury market segment. Any strategic moves should aim to preserve and enhance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unique positioning while aligning with the overarching brand strategy of Longchamp.</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76685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9F11AB-652F-3421-9DE1-9C84E7F3FD86}"/>
              </a:ext>
            </a:extLst>
          </p:cNvPr>
          <p:cNvSpPr txBox="1"/>
          <p:nvPr/>
        </p:nvSpPr>
        <p:spPr>
          <a:xfrm>
            <a:off x="663661" y="1097851"/>
            <a:ext cx="10864678" cy="1815882"/>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The problem of maximizing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brand potential while preserving with Longchamp's premium plus luxury brand identity and market position which affects both Longchamp as a company and its stakeholders, including consumers, retailers, and investors. The risk of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success overshadowing other offerings and diluting Longchamp's luxury image poses a significant challenge. Balancing the growth of Le Pliage with the preservation of Longchamp’s brand equity is crucial to maintaining the company's competitive edge and market relevance. A successful solution would result in a clear brand identity and market positioning strategy for Le Pliage, ensuring sustainable growth while upholding Longchamp's esteemed reputation in the luxury fashion industry.</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736D4D0-90DA-EE07-000B-B8B8790FFAA3}"/>
              </a:ext>
            </a:extLst>
          </p:cNvPr>
          <p:cNvSpPr txBox="1"/>
          <p:nvPr/>
        </p:nvSpPr>
        <p:spPr>
          <a:xfrm>
            <a:off x="2814252" y="3402679"/>
            <a:ext cx="6098058" cy="2554545"/>
          </a:xfrm>
          <a:prstGeom prst="rect">
            <a:avLst/>
          </a:prstGeom>
          <a:noFill/>
          <a:ln>
            <a:solidFill>
              <a:schemeClr val="accent1"/>
            </a:solidFill>
          </a:ln>
        </p:spPr>
        <p:txBody>
          <a:bodyPr wrap="square">
            <a:spAutoFit/>
          </a:bodyPr>
          <a:lstStyle/>
          <a:p>
            <a:r>
              <a:rPr lang="en-CA" sz="1600" b="1" kern="100" dirty="0">
                <a:effectLst/>
                <a:latin typeface="Arial" panose="020B0604020202020204" pitchFamily="34" charset="0"/>
                <a:ea typeface="Aptos" panose="020B0004020202020204" pitchFamily="34" charset="0"/>
                <a:cs typeface="Times New Roman" panose="02020603050405020304" pitchFamily="18" charset="0"/>
              </a:rPr>
              <a:t>Rational</a:t>
            </a:r>
            <a:endParaRPr lang="en-CA" sz="1600" b="1"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b="1" kern="100" dirty="0">
                <a:effectLst/>
                <a:latin typeface="Arial" panose="020B0604020202020204" pitchFamily="34" charset="0"/>
                <a:ea typeface="Aptos" panose="020B0004020202020204" pitchFamily="34" charset="0"/>
                <a:cs typeface="Times New Roman" panose="02020603050405020304" pitchFamily="18" charset="0"/>
              </a:rPr>
              <a:t>Risk of Overshadowing</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overwhelming success may overshadow other Longchamp offerings, risking dilution of the brand's luxury image.</a:t>
            </a:r>
            <a:endParaRPr lang="en-CA"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b="1" kern="100" dirty="0">
                <a:effectLst/>
                <a:latin typeface="Arial" panose="020B0604020202020204" pitchFamily="34" charset="0"/>
                <a:ea typeface="Aptos" panose="020B0004020202020204" pitchFamily="34" charset="0"/>
                <a:cs typeface="Times New Roman" panose="02020603050405020304" pitchFamily="18" charset="0"/>
              </a:rPr>
              <a:t>Brand Equity Preservation</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Balancing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growth with Longchamp's brand equity preservation is vital for maintaining competitiveness.</a:t>
            </a:r>
            <a:endParaRPr lang="en-CA"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b="1" kern="100" dirty="0">
                <a:effectLst/>
                <a:latin typeface="Arial" panose="020B0604020202020204" pitchFamily="34" charset="0"/>
                <a:ea typeface="Aptos" panose="020B0004020202020204" pitchFamily="34" charset="0"/>
                <a:cs typeface="Times New Roman" panose="02020603050405020304" pitchFamily="18" charset="0"/>
              </a:rPr>
              <a:t>Market Relevance</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Achieving a clear brand identity and market positioning for Le Pliage is essential for Longchamp's sustained relevance in the luxury fashion industry.</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E811687-684B-64B7-0B7F-6BAD6CBDE0EC}"/>
              </a:ext>
            </a:extLst>
          </p:cNvPr>
          <p:cNvSpPr txBox="1"/>
          <p:nvPr/>
        </p:nvSpPr>
        <p:spPr>
          <a:xfrm>
            <a:off x="663661" y="608905"/>
            <a:ext cx="2122274" cy="369332"/>
          </a:xfrm>
          <a:prstGeom prst="rect">
            <a:avLst/>
          </a:prstGeom>
          <a:solidFill>
            <a:schemeClr val="tx2">
              <a:lumMod val="25000"/>
              <a:lumOff val="75000"/>
            </a:schemeClr>
          </a:solidFill>
          <a:ln>
            <a:solidFill>
              <a:schemeClr val="accent1"/>
            </a:solidFill>
          </a:ln>
        </p:spPr>
        <p:txBody>
          <a:bodyPr wrap="square" rtlCol="0">
            <a:spAutoFit/>
          </a:bodyPr>
          <a:lstStyle/>
          <a:p>
            <a:r>
              <a:rPr lang="en-US" dirty="0"/>
              <a:t>Problem Statement</a:t>
            </a:r>
          </a:p>
        </p:txBody>
      </p:sp>
    </p:spTree>
    <p:extLst>
      <p:ext uri="{BB962C8B-B14F-4D97-AF65-F5344CB8AC3E}">
        <p14:creationId xmlns:p14="http://schemas.microsoft.com/office/powerpoint/2010/main" val="4181517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and blue chart with black text&#10;&#10;Description automatically generated">
            <a:extLst>
              <a:ext uri="{FF2B5EF4-FFF2-40B4-BE49-F238E27FC236}">
                <a16:creationId xmlns:a16="http://schemas.microsoft.com/office/drawing/2014/main" id="{083C746C-3D5C-5D07-488B-07AEBB4BDD65}"/>
              </a:ext>
            </a:extLst>
          </p:cNvPr>
          <p:cNvPicPr>
            <a:picLocks noChangeAspect="1"/>
          </p:cNvPicPr>
          <p:nvPr/>
        </p:nvPicPr>
        <p:blipFill>
          <a:blip r:embed="rId2"/>
          <a:stretch>
            <a:fillRect/>
          </a:stretch>
        </p:blipFill>
        <p:spPr>
          <a:xfrm>
            <a:off x="1388848" y="942208"/>
            <a:ext cx="9414304" cy="4343014"/>
          </a:xfrm>
          <a:prstGeom prst="rect">
            <a:avLst/>
          </a:prstGeom>
        </p:spPr>
      </p:pic>
      <p:sp>
        <p:nvSpPr>
          <p:cNvPr id="4" name="TextBox 3">
            <a:extLst>
              <a:ext uri="{FF2B5EF4-FFF2-40B4-BE49-F238E27FC236}">
                <a16:creationId xmlns:a16="http://schemas.microsoft.com/office/drawing/2014/main" id="{A36DE5C4-E430-A213-FFB4-B38CB1AE4A4C}"/>
              </a:ext>
            </a:extLst>
          </p:cNvPr>
          <p:cNvSpPr txBox="1"/>
          <p:nvPr/>
        </p:nvSpPr>
        <p:spPr>
          <a:xfrm>
            <a:off x="135924" y="111211"/>
            <a:ext cx="11751276" cy="830997"/>
          </a:xfrm>
          <a:prstGeom prst="rect">
            <a:avLst/>
          </a:prstGeom>
          <a:solidFill>
            <a:schemeClr val="tx2">
              <a:lumMod val="25000"/>
              <a:lumOff val="75000"/>
            </a:schemeClr>
          </a:solidFill>
          <a:ln>
            <a:solidFill>
              <a:schemeClr val="accent1"/>
            </a:solidFill>
          </a:ln>
        </p:spPr>
        <p:txBody>
          <a:bodyPr wrap="square" rtlCol="0">
            <a:spAutoFit/>
          </a:bodyPr>
          <a:lstStyle/>
          <a:p>
            <a:r>
              <a:rPr lang="en-CA" sz="16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When deciding on the segmentation base for Le Pliage, we need to explore many options to achieve the best possible alignment with customer behavior and preferences. Each alternative will be assessed according to its relevance to Le </a:t>
            </a:r>
            <a:r>
              <a:rPr lang="en-CA" sz="1600" kern="1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Pliage's</a:t>
            </a:r>
            <a:r>
              <a:rPr lang="en-CA" sz="16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target market, measurability, accessibility, differentiation, and actionability.</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AA050127-1CE0-D1B1-2940-2A2C82B8C541}"/>
              </a:ext>
            </a:extLst>
          </p:cNvPr>
          <p:cNvSpPr txBox="1"/>
          <p:nvPr/>
        </p:nvSpPr>
        <p:spPr>
          <a:xfrm>
            <a:off x="135924" y="5285222"/>
            <a:ext cx="11924271" cy="1569660"/>
          </a:xfrm>
          <a:prstGeom prst="rect">
            <a:avLst/>
          </a:prstGeom>
          <a:noFill/>
          <a:ln>
            <a:solidFill>
              <a:schemeClr val="accent1"/>
            </a:solidFill>
          </a:ln>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After conducting a comprehensive investigation, it is recommended that </a:t>
            </a:r>
            <a:r>
              <a:rPr lang="en-CA" sz="1600" b="1" u="sng" kern="100" dirty="0">
                <a:effectLst/>
                <a:latin typeface="Arial" panose="020B0604020202020204" pitchFamily="34" charset="0"/>
                <a:ea typeface="Aptos" panose="020B0004020202020204" pitchFamily="34" charset="0"/>
                <a:cs typeface="Times New Roman" panose="02020603050405020304" pitchFamily="18" charset="0"/>
              </a:rPr>
              <a:t>psychographic segmentation </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be used as premium plus luxury target market for Le Pliage. The decision is derived from the criterion table, which demonstrates that psychographic segmentation provides the most thorough comprehension of the motivations behind various consumer groups' purchasing and usage behaviors. It facilitates a more thorough examination of consumer lifestyles, interests, and values, which is essential for strategically positioning Le Pliage in the market. Furthermore, psychographic segmentation is highly compatible with the brand's focus on fashion, style, and personal expression, allowing for focused marketing and product development tactics.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68643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CC6685-F0A7-FBAD-5103-DFE0C5170057}"/>
              </a:ext>
            </a:extLst>
          </p:cNvPr>
          <p:cNvSpPr txBox="1"/>
          <p:nvPr/>
        </p:nvSpPr>
        <p:spPr>
          <a:xfrm>
            <a:off x="86497" y="99021"/>
            <a:ext cx="11813059" cy="523220"/>
          </a:xfrm>
          <a:prstGeom prst="rect">
            <a:avLst/>
          </a:prstGeom>
          <a:solidFill>
            <a:schemeClr val="tx2">
              <a:lumMod val="25000"/>
              <a:lumOff val="75000"/>
            </a:schemeClr>
          </a:solidFill>
          <a:ln>
            <a:solidFill>
              <a:schemeClr val="accent1"/>
            </a:solidFill>
          </a:ln>
        </p:spPr>
        <p:txBody>
          <a:bodyPr wrap="square" rtlCol="0">
            <a:spAutoFit/>
          </a:bodyPr>
          <a:lstStyle/>
          <a:p>
            <a:r>
              <a:rPr lang="en-CA" sz="1400" kern="100" dirty="0">
                <a:solidFill>
                  <a:srgbClr val="000000"/>
                </a:solidFill>
                <a:effectLst/>
                <a:highlight>
                  <a:srgbClr val="FFFFFF"/>
                </a:highlight>
                <a:latin typeface="Arial" panose="020B0604020202020204" pitchFamily="34" charset="0"/>
                <a:ea typeface="Aptos" panose="020B0004020202020204" pitchFamily="34" charset="0"/>
                <a:cs typeface="Times New Roman" panose="02020603050405020304" pitchFamily="18" charset="0"/>
              </a:rPr>
              <a:t>After careful evaluation of the segmentation criteria table and considering the target market of premium plus luxury consumers for Le Pliage, Segment </a:t>
            </a:r>
            <a:r>
              <a:rPr lang="en-CA" sz="1400" b="1" kern="100" dirty="0">
                <a:solidFill>
                  <a:srgbClr val="000000"/>
                </a:solidFill>
                <a:effectLst/>
                <a:highlight>
                  <a:srgbClr val="FFFFFF"/>
                </a:highlight>
                <a:latin typeface="Arial" panose="020B0604020202020204" pitchFamily="34" charset="0"/>
                <a:ea typeface="Aptos" panose="020B0004020202020204" pitchFamily="34" charset="0"/>
                <a:cs typeface="Times New Roman" panose="02020603050405020304" pitchFamily="18" charset="0"/>
              </a:rPr>
              <a:t>Luxury Customer</a:t>
            </a:r>
            <a:r>
              <a:rPr lang="en-CA" sz="1400" kern="100" dirty="0">
                <a:solidFill>
                  <a:srgbClr val="000000"/>
                </a:solidFill>
                <a:effectLst/>
                <a:highlight>
                  <a:srgbClr val="FFFFFF"/>
                </a:highlight>
                <a:latin typeface="Arial" panose="020B0604020202020204" pitchFamily="34" charset="0"/>
                <a:ea typeface="Aptos" panose="020B0004020202020204" pitchFamily="34" charset="0"/>
                <a:cs typeface="Times New Roman" panose="02020603050405020304" pitchFamily="18" charset="0"/>
              </a:rPr>
              <a:t> emerges as the most suitable target audience.</a:t>
            </a:r>
            <a:endParaRPr lang="en-US" sz="1400" dirty="0"/>
          </a:p>
        </p:txBody>
      </p:sp>
      <p:sp>
        <p:nvSpPr>
          <p:cNvPr id="3" name="TextBox 2">
            <a:extLst>
              <a:ext uri="{FF2B5EF4-FFF2-40B4-BE49-F238E27FC236}">
                <a16:creationId xmlns:a16="http://schemas.microsoft.com/office/drawing/2014/main" id="{17AF6F80-18A5-2A72-7121-4DAAC14CB8CB}"/>
              </a:ext>
            </a:extLst>
          </p:cNvPr>
          <p:cNvSpPr txBox="1"/>
          <p:nvPr/>
        </p:nvSpPr>
        <p:spPr>
          <a:xfrm>
            <a:off x="45309" y="780019"/>
            <a:ext cx="2977978" cy="1938992"/>
          </a:xfrm>
          <a:prstGeom prst="rect">
            <a:avLst/>
          </a:prstGeom>
          <a:noFill/>
          <a:ln>
            <a:solidFill>
              <a:schemeClr val="accent1"/>
            </a:solidFill>
          </a:ln>
        </p:spPr>
        <p:txBody>
          <a:bodyPr wrap="square" rtlCol="0">
            <a:spAutoFit/>
          </a:bodyPr>
          <a:lstStyle/>
          <a:p>
            <a:r>
              <a:rPr lang="en-US" sz="1200" b="1" dirty="0"/>
              <a:t>Segment A represents the luxury customer segment</a:t>
            </a:r>
            <a:r>
              <a:rPr lang="en-US" sz="1200" dirty="0"/>
              <a:t>, represented by rich buyers that demonstrate quality, manufacturing, and distinction in their buying decisions. These people seek objects that represent their sophisticated preferences and will make investments in high-end companies like Le </a:t>
            </a:r>
            <a:r>
              <a:rPr lang="en-US" sz="1200" dirty="0" err="1"/>
              <a:t>Pliage</a:t>
            </a:r>
            <a:r>
              <a:rPr lang="en-US" sz="1200" dirty="0"/>
              <a:t> to meet their need for distinctiveness and elegance. </a:t>
            </a:r>
          </a:p>
        </p:txBody>
      </p:sp>
      <p:sp>
        <p:nvSpPr>
          <p:cNvPr id="4" name="TextBox 3">
            <a:extLst>
              <a:ext uri="{FF2B5EF4-FFF2-40B4-BE49-F238E27FC236}">
                <a16:creationId xmlns:a16="http://schemas.microsoft.com/office/drawing/2014/main" id="{665A9683-93E3-90FD-60E8-44FBC1DC837A}"/>
              </a:ext>
            </a:extLst>
          </p:cNvPr>
          <p:cNvSpPr txBox="1"/>
          <p:nvPr/>
        </p:nvSpPr>
        <p:spPr>
          <a:xfrm>
            <a:off x="3118022" y="707368"/>
            <a:ext cx="2977978" cy="2123658"/>
          </a:xfrm>
          <a:prstGeom prst="rect">
            <a:avLst/>
          </a:prstGeom>
          <a:noFill/>
          <a:ln>
            <a:solidFill>
              <a:schemeClr val="accent1"/>
            </a:solidFill>
          </a:ln>
        </p:spPr>
        <p:txBody>
          <a:bodyPr wrap="square" rtlCol="0">
            <a:spAutoFit/>
          </a:bodyPr>
          <a:lstStyle/>
          <a:p>
            <a:r>
              <a:rPr lang="en-US" sz="1200" b="1" dirty="0"/>
              <a:t>Segment B comprises fashion-conscious</a:t>
            </a:r>
            <a:r>
              <a:rPr lang="en-US" sz="1200" dirty="0"/>
              <a:t> who value style, innovation, and individuality in their lifestyle choices. These consumers are drawn to Le </a:t>
            </a:r>
            <a:r>
              <a:rPr lang="en-US" sz="1200" dirty="0" err="1"/>
              <a:t>Pliage</a:t>
            </a:r>
            <a:r>
              <a:rPr lang="en-US" sz="1200" dirty="0"/>
              <a:t> for its contemporary designs, versatility, and ability to express their unique fashion preferences. While not as expansive as the luxury customer category, Segment B represents a significant market segment with high growth potential and strong compatibility with the Le </a:t>
            </a:r>
            <a:r>
              <a:rPr lang="en-US" sz="1200" dirty="0" err="1"/>
              <a:t>Pliage</a:t>
            </a:r>
            <a:r>
              <a:rPr lang="en-US" sz="1200" dirty="0"/>
              <a:t> brand.</a:t>
            </a:r>
          </a:p>
        </p:txBody>
      </p:sp>
      <p:sp>
        <p:nvSpPr>
          <p:cNvPr id="5" name="TextBox 4">
            <a:extLst>
              <a:ext uri="{FF2B5EF4-FFF2-40B4-BE49-F238E27FC236}">
                <a16:creationId xmlns:a16="http://schemas.microsoft.com/office/drawing/2014/main" id="{6571700A-D469-C527-14D4-E0E68988979B}"/>
              </a:ext>
            </a:extLst>
          </p:cNvPr>
          <p:cNvSpPr txBox="1"/>
          <p:nvPr/>
        </p:nvSpPr>
        <p:spPr>
          <a:xfrm>
            <a:off x="6190735" y="872352"/>
            <a:ext cx="2977978" cy="1754326"/>
          </a:xfrm>
          <a:prstGeom prst="rect">
            <a:avLst/>
          </a:prstGeom>
          <a:noFill/>
          <a:ln>
            <a:solidFill>
              <a:schemeClr val="accent1"/>
            </a:solidFill>
          </a:ln>
        </p:spPr>
        <p:txBody>
          <a:bodyPr wrap="square" rtlCol="0">
            <a:spAutoFit/>
          </a:bodyPr>
          <a:lstStyle/>
          <a:p>
            <a:r>
              <a:rPr lang="en-US" sz="1200" b="1" dirty="0"/>
              <a:t>Segment C consists of practical consumers</a:t>
            </a:r>
            <a:r>
              <a:rPr lang="en-US" sz="1200" dirty="0"/>
              <a:t> who prioritize functionality, durability, and value in their purchasing decisions. Such individuals are looking for things that offer helpful solutions to their regular requirements, such as commutes, travel, and daily activities. While not as aligned with the luxury positioning of Le </a:t>
            </a:r>
            <a:r>
              <a:rPr lang="en-US" sz="1200" dirty="0" err="1"/>
              <a:t>Pliage</a:t>
            </a:r>
            <a:r>
              <a:rPr lang="en-US" sz="1200" dirty="0"/>
              <a:t>.</a:t>
            </a:r>
          </a:p>
        </p:txBody>
      </p:sp>
      <p:sp>
        <p:nvSpPr>
          <p:cNvPr id="6" name="TextBox 5">
            <a:extLst>
              <a:ext uri="{FF2B5EF4-FFF2-40B4-BE49-F238E27FC236}">
                <a16:creationId xmlns:a16="http://schemas.microsoft.com/office/drawing/2014/main" id="{6372B385-02B0-1E73-EE61-3C312F3D5EDF}"/>
              </a:ext>
            </a:extLst>
          </p:cNvPr>
          <p:cNvSpPr txBox="1"/>
          <p:nvPr/>
        </p:nvSpPr>
        <p:spPr>
          <a:xfrm>
            <a:off x="9263448" y="902001"/>
            <a:ext cx="2862649" cy="1938992"/>
          </a:xfrm>
          <a:prstGeom prst="rect">
            <a:avLst/>
          </a:prstGeom>
          <a:noFill/>
          <a:ln>
            <a:solidFill>
              <a:schemeClr val="accent1"/>
            </a:solidFill>
          </a:ln>
        </p:spPr>
        <p:txBody>
          <a:bodyPr wrap="square" rtlCol="0">
            <a:spAutoFit/>
          </a:bodyPr>
          <a:lstStyle/>
          <a:p>
            <a:r>
              <a:rPr lang="en-US" sz="1200" b="1" dirty="0"/>
              <a:t>Segment D represents budget-conscious consumers </a:t>
            </a:r>
            <a:r>
              <a:rPr lang="en-US" sz="1200" dirty="0"/>
              <a:t>who prioritize affordability and cost-effectiveness in their purchasing decisions. These individuals may be less concerned with brand prestige or design aesthetics and instead prioritize practicality and affordability. While not an ideal target audience for Le Pliage's premium plus luxury positioning.</a:t>
            </a:r>
          </a:p>
        </p:txBody>
      </p:sp>
      <p:pic>
        <p:nvPicPr>
          <p:cNvPr id="10" name="Picture 9" descr="A table of business data&#10;&#10;Description automatically generated with medium confidence">
            <a:extLst>
              <a:ext uri="{FF2B5EF4-FFF2-40B4-BE49-F238E27FC236}">
                <a16:creationId xmlns:a16="http://schemas.microsoft.com/office/drawing/2014/main" id="{4F4B5E5C-12FF-5B7E-4D9C-B91FB21C195B}"/>
              </a:ext>
            </a:extLst>
          </p:cNvPr>
          <p:cNvPicPr>
            <a:picLocks noChangeAspect="1"/>
          </p:cNvPicPr>
          <p:nvPr/>
        </p:nvPicPr>
        <p:blipFill>
          <a:blip r:embed="rId2"/>
          <a:stretch>
            <a:fillRect/>
          </a:stretch>
        </p:blipFill>
        <p:spPr>
          <a:xfrm>
            <a:off x="292444" y="2775393"/>
            <a:ext cx="4193059" cy="4066714"/>
          </a:xfrm>
          <a:prstGeom prst="rect">
            <a:avLst/>
          </a:prstGeom>
        </p:spPr>
      </p:pic>
      <p:sp>
        <p:nvSpPr>
          <p:cNvPr id="12" name="TextBox 11">
            <a:extLst>
              <a:ext uri="{FF2B5EF4-FFF2-40B4-BE49-F238E27FC236}">
                <a16:creationId xmlns:a16="http://schemas.microsoft.com/office/drawing/2014/main" id="{C42CA5EB-636C-130A-B80C-87CD1878232C}"/>
              </a:ext>
            </a:extLst>
          </p:cNvPr>
          <p:cNvSpPr txBox="1"/>
          <p:nvPr/>
        </p:nvSpPr>
        <p:spPr>
          <a:xfrm>
            <a:off x="5115697" y="3900809"/>
            <a:ext cx="5128053" cy="1815882"/>
          </a:xfrm>
          <a:prstGeom prst="rect">
            <a:avLst/>
          </a:prstGeom>
          <a:solidFill>
            <a:schemeClr val="tx2">
              <a:lumMod val="25000"/>
              <a:lumOff val="75000"/>
            </a:schemeClr>
          </a:solidFill>
          <a:ln>
            <a:solidFill>
              <a:schemeClr val="accent1"/>
            </a:solidFill>
          </a:ln>
        </p:spPr>
        <p:txBody>
          <a:bodyPr wrap="square">
            <a:spAutoFit/>
          </a:bodyPr>
          <a:lstStyle/>
          <a:p>
            <a:r>
              <a:rPr lang="en-CA" sz="1400" kern="100" dirty="0">
                <a:solidFill>
                  <a:srgbClr val="000000"/>
                </a:solidFill>
                <a:effectLst/>
                <a:highlight>
                  <a:srgbClr val="FFFFFF"/>
                </a:highlight>
                <a:latin typeface="Arial" panose="020B0604020202020204" pitchFamily="34" charset="0"/>
                <a:ea typeface="Aptos" panose="020B0004020202020204" pitchFamily="34" charset="0"/>
                <a:cs typeface="Times New Roman" panose="02020603050405020304" pitchFamily="18" charset="0"/>
              </a:rPr>
              <a:t>Segment Luxury Customer is the ideal target audience for Le Pliage due to its large size and high growth potential within the affluent market. It aligns closely with the brand's values and lifestyle preferences of premium luxury consumers, offering high profitability potential. Moreover, Segment Luxury Customer is accessible and reachable through various channels, requiring relatively low marketing and sales resources for effective engagement.</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164502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916B1B1E-049F-9C7D-060C-2CBB2A15E03D}"/>
              </a:ext>
            </a:extLst>
          </p:cNvPr>
          <p:cNvGrpSpPr/>
          <p:nvPr/>
        </p:nvGrpSpPr>
        <p:grpSpPr>
          <a:xfrm>
            <a:off x="0" y="618563"/>
            <a:ext cx="12192000" cy="2726724"/>
            <a:chOff x="0" y="115331"/>
            <a:chExt cx="12192000" cy="2726724"/>
          </a:xfrm>
        </p:grpSpPr>
        <p:pic>
          <p:nvPicPr>
            <p:cNvPr id="9" name="Picture 8" descr="A group of logos on a white background&#10;&#10;Description automatically generated">
              <a:extLst>
                <a:ext uri="{FF2B5EF4-FFF2-40B4-BE49-F238E27FC236}">
                  <a16:creationId xmlns:a16="http://schemas.microsoft.com/office/drawing/2014/main" id="{FBCBF384-7ADA-FD63-FBDC-060687A4AAB4}"/>
                </a:ext>
              </a:extLst>
            </p:cNvPr>
            <p:cNvPicPr>
              <a:picLocks noChangeAspect="1"/>
            </p:cNvPicPr>
            <p:nvPr/>
          </p:nvPicPr>
          <p:blipFill>
            <a:blip r:embed="rId2"/>
            <a:stretch>
              <a:fillRect/>
            </a:stretch>
          </p:blipFill>
          <p:spPr>
            <a:xfrm>
              <a:off x="0" y="115331"/>
              <a:ext cx="4090086" cy="2726724"/>
            </a:xfrm>
            <a:prstGeom prst="rect">
              <a:avLst/>
            </a:prstGeom>
            <a:ln>
              <a:solidFill>
                <a:schemeClr val="accent1"/>
              </a:solidFill>
            </a:ln>
          </p:spPr>
        </p:pic>
        <p:pic>
          <p:nvPicPr>
            <p:cNvPr id="11" name="Picture 10" descr="A group of logos on a white background&#10;&#10;Description automatically generated">
              <a:extLst>
                <a:ext uri="{FF2B5EF4-FFF2-40B4-BE49-F238E27FC236}">
                  <a16:creationId xmlns:a16="http://schemas.microsoft.com/office/drawing/2014/main" id="{D121520B-5F62-F4D6-01C0-F90A519FA69C}"/>
                </a:ext>
              </a:extLst>
            </p:cNvPr>
            <p:cNvPicPr>
              <a:picLocks noChangeAspect="1"/>
            </p:cNvPicPr>
            <p:nvPr/>
          </p:nvPicPr>
          <p:blipFill>
            <a:blip r:embed="rId3"/>
            <a:stretch>
              <a:fillRect/>
            </a:stretch>
          </p:blipFill>
          <p:spPr>
            <a:xfrm>
              <a:off x="4090086" y="115331"/>
              <a:ext cx="4090086" cy="2726724"/>
            </a:xfrm>
            <a:prstGeom prst="rect">
              <a:avLst/>
            </a:prstGeom>
            <a:ln>
              <a:solidFill>
                <a:schemeClr val="accent1"/>
              </a:solidFill>
            </a:ln>
          </p:spPr>
        </p:pic>
        <p:pic>
          <p:nvPicPr>
            <p:cNvPr id="13" name="Picture 12" descr="A diagram of brand names&#10;&#10;Description automatically generated with medium confidence">
              <a:extLst>
                <a:ext uri="{FF2B5EF4-FFF2-40B4-BE49-F238E27FC236}">
                  <a16:creationId xmlns:a16="http://schemas.microsoft.com/office/drawing/2014/main" id="{E4CC50C0-B89E-C0A8-3929-3F66D174A275}"/>
                </a:ext>
              </a:extLst>
            </p:cNvPr>
            <p:cNvPicPr>
              <a:picLocks noChangeAspect="1"/>
            </p:cNvPicPr>
            <p:nvPr/>
          </p:nvPicPr>
          <p:blipFill>
            <a:blip r:embed="rId4"/>
            <a:stretch>
              <a:fillRect/>
            </a:stretch>
          </p:blipFill>
          <p:spPr>
            <a:xfrm>
              <a:off x="8180172" y="115331"/>
              <a:ext cx="4011828" cy="2726724"/>
            </a:xfrm>
            <a:prstGeom prst="rect">
              <a:avLst/>
            </a:prstGeom>
            <a:ln>
              <a:solidFill>
                <a:schemeClr val="accent1"/>
              </a:solidFill>
            </a:ln>
          </p:spPr>
        </p:pic>
      </p:grpSp>
      <p:grpSp>
        <p:nvGrpSpPr>
          <p:cNvPr id="20" name="Group 19">
            <a:extLst>
              <a:ext uri="{FF2B5EF4-FFF2-40B4-BE49-F238E27FC236}">
                <a16:creationId xmlns:a16="http://schemas.microsoft.com/office/drawing/2014/main" id="{69FDB840-2383-2F28-6F0B-32594719C58B}"/>
              </a:ext>
            </a:extLst>
          </p:cNvPr>
          <p:cNvGrpSpPr/>
          <p:nvPr/>
        </p:nvGrpSpPr>
        <p:grpSpPr>
          <a:xfrm>
            <a:off x="1042086" y="3345287"/>
            <a:ext cx="10692714" cy="388774"/>
            <a:chOff x="444843" y="2990335"/>
            <a:chExt cx="10993395" cy="385808"/>
          </a:xfrm>
        </p:grpSpPr>
        <p:sp>
          <p:nvSpPr>
            <p:cNvPr id="14" name="TextBox 13">
              <a:extLst>
                <a:ext uri="{FF2B5EF4-FFF2-40B4-BE49-F238E27FC236}">
                  <a16:creationId xmlns:a16="http://schemas.microsoft.com/office/drawing/2014/main" id="{9F07E7F3-96FF-1AA6-D2AC-542247EFE443}"/>
                </a:ext>
              </a:extLst>
            </p:cNvPr>
            <p:cNvSpPr txBox="1"/>
            <p:nvPr/>
          </p:nvSpPr>
          <p:spPr>
            <a:xfrm>
              <a:off x="444843" y="2990335"/>
              <a:ext cx="2977979" cy="369332"/>
            </a:xfrm>
            <a:prstGeom prst="rect">
              <a:avLst/>
            </a:prstGeom>
            <a:noFill/>
            <a:ln>
              <a:solidFill>
                <a:schemeClr val="accent1"/>
              </a:solidFill>
            </a:ln>
          </p:spPr>
          <p:txBody>
            <a:bodyPr wrap="square" rtlCol="0">
              <a:spAutoFit/>
            </a:bodyPr>
            <a:lstStyle/>
            <a:p>
              <a:r>
                <a:rPr lang="en-US" dirty="0"/>
                <a:t>PERPECTUAL MAP 1</a:t>
              </a:r>
            </a:p>
          </p:txBody>
        </p:sp>
        <p:sp>
          <p:nvSpPr>
            <p:cNvPr id="15" name="TextBox 14">
              <a:extLst>
                <a:ext uri="{FF2B5EF4-FFF2-40B4-BE49-F238E27FC236}">
                  <a16:creationId xmlns:a16="http://schemas.microsoft.com/office/drawing/2014/main" id="{93AB7481-01D7-169F-BCD2-179BFED7F74F}"/>
                </a:ext>
              </a:extLst>
            </p:cNvPr>
            <p:cNvSpPr txBox="1"/>
            <p:nvPr/>
          </p:nvSpPr>
          <p:spPr>
            <a:xfrm>
              <a:off x="4452551" y="3006811"/>
              <a:ext cx="2977979" cy="369332"/>
            </a:xfrm>
            <a:prstGeom prst="rect">
              <a:avLst/>
            </a:prstGeom>
            <a:noFill/>
            <a:ln>
              <a:solidFill>
                <a:schemeClr val="accent1"/>
              </a:solidFill>
            </a:ln>
          </p:spPr>
          <p:txBody>
            <a:bodyPr wrap="square" rtlCol="0">
              <a:spAutoFit/>
            </a:bodyPr>
            <a:lstStyle/>
            <a:p>
              <a:r>
                <a:rPr lang="en-US" dirty="0"/>
                <a:t>PERPECTUAL MAP 2</a:t>
              </a:r>
            </a:p>
          </p:txBody>
        </p:sp>
        <p:sp>
          <p:nvSpPr>
            <p:cNvPr id="16" name="TextBox 15">
              <a:extLst>
                <a:ext uri="{FF2B5EF4-FFF2-40B4-BE49-F238E27FC236}">
                  <a16:creationId xmlns:a16="http://schemas.microsoft.com/office/drawing/2014/main" id="{06E41016-A41E-3186-67F4-000650835AAE}"/>
                </a:ext>
              </a:extLst>
            </p:cNvPr>
            <p:cNvSpPr txBox="1"/>
            <p:nvPr/>
          </p:nvSpPr>
          <p:spPr>
            <a:xfrm>
              <a:off x="8460259" y="3006811"/>
              <a:ext cx="2977979" cy="324829"/>
            </a:xfrm>
            <a:prstGeom prst="rect">
              <a:avLst/>
            </a:prstGeom>
            <a:noFill/>
            <a:ln>
              <a:solidFill>
                <a:schemeClr val="accent1"/>
              </a:solidFill>
            </a:ln>
          </p:spPr>
          <p:txBody>
            <a:bodyPr wrap="square" rtlCol="0">
              <a:spAutoFit/>
            </a:bodyPr>
            <a:lstStyle/>
            <a:p>
              <a:pPr marL="285750" indent="-285750">
                <a:buFont typeface="Wingdings" pitchFamily="2" charset="2"/>
                <a:buChar char="q"/>
              </a:pPr>
              <a:r>
                <a:rPr lang="en-US" dirty="0"/>
                <a:t>PERPECTUAL MAP 3</a:t>
              </a:r>
            </a:p>
          </p:txBody>
        </p:sp>
      </p:grpSp>
      <p:pic>
        <p:nvPicPr>
          <p:cNvPr id="18" name="Picture 17" descr="A white and blue chart with black text&#10;&#10;Description automatically generated">
            <a:extLst>
              <a:ext uri="{FF2B5EF4-FFF2-40B4-BE49-F238E27FC236}">
                <a16:creationId xmlns:a16="http://schemas.microsoft.com/office/drawing/2014/main" id="{C7842907-0C70-05DB-4515-428868860584}"/>
              </a:ext>
            </a:extLst>
          </p:cNvPr>
          <p:cNvPicPr>
            <a:picLocks noChangeAspect="1"/>
          </p:cNvPicPr>
          <p:nvPr/>
        </p:nvPicPr>
        <p:blipFill>
          <a:blip r:embed="rId5"/>
          <a:stretch>
            <a:fillRect/>
          </a:stretch>
        </p:blipFill>
        <p:spPr>
          <a:xfrm>
            <a:off x="766118" y="3734061"/>
            <a:ext cx="8254313" cy="3123939"/>
          </a:xfrm>
          <a:prstGeom prst="rect">
            <a:avLst/>
          </a:prstGeom>
        </p:spPr>
      </p:pic>
      <p:sp>
        <p:nvSpPr>
          <p:cNvPr id="19" name="TextBox 18">
            <a:extLst>
              <a:ext uri="{FF2B5EF4-FFF2-40B4-BE49-F238E27FC236}">
                <a16:creationId xmlns:a16="http://schemas.microsoft.com/office/drawing/2014/main" id="{169F4A65-2163-4282-F30F-9E5387BB2399}"/>
              </a:ext>
            </a:extLst>
          </p:cNvPr>
          <p:cNvSpPr txBox="1"/>
          <p:nvPr/>
        </p:nvSpPr>
        <p:spPr>
          <a:xfrm>
            <a:off x="9020431" y="3785526"/>
            <a:ext cx="3060357" cy="3046988"/>
          </a:xfrm>
          <a:prstGeom prst="rect">
            <a:avLst/>
          </a:prstGeom>
          <a:solidFill>
            <a:schemeClr val="tx2">
              <a:lumMod val="25000"/>
              <a:lumOff val="75000"/>
            </a:schemeClr>
          </a:solidFill>
          <a:ln>
            <a:solidFill>
              <a:schemeClr val="accent1"/>
            </a:solidFill>
          </a:ln>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The decision aligns with the market's demand for choice and accessibility, allowing Longchamp to differentiate itself, maximize market reach, and capitalize on growth opportunities. By emphasizing these aspects, the brand enhances visibility and reinforces customer perception, driving sustained success in the luxury fashion industry.</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1927865B-BB13-25D1-E57B-340A7BAE6803}"/>
              </a:ext>
            </a:extLst>
          </p:cNvPr>
          <p:cNvSpPr txBox="1"/>
          <p:nvPr/>
        </p:nvSpPr>
        <p:spPr>
          <a:xfrm>
            <a:off x="86497" y="25486"/>
            <a:ext cx="11775989" cy="584775"/>
          </a:xfrm>
          <a:prstGeom prst="rect">
            <a:avLst/>
          </a:prstGeom>
          <a:solidFill>
            <a:schemeClr val="tx2">
              <a:lumMod val="25000"/>
              <a:lumOff val="75000"/>
            </a:schemeClr>
          </a:solidFill>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Considering the luxury plus premium market's discerning preferences and Longchamp's brand strengths, focusing on </a:t>
            </a:r>
            <a:r>
              <a:rPr lang="en-CA" sz="1600" b="1" kern="100" dirty="0">
                <a:effectLst/>
                <a:latin typeface="Arial" panose="020B0604020202020204" pitchFamily="34" charset="0"/>
                <a:ea typeface="Aptos" panose="020B0004020202020204" pitchFamily="34" charset="0"/>
                <a:cs typeface="Times New Roman" panose="02020603050405020304" pitchFamily="18" charset="0"/>
              </a:rPr>
              <a:t>Product Variety and Distribution Channels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emerges as the most strategic positioning choice for Le Pliage.</a:t>
            </a:r>
            <a:endParaRPr lang="en-US" sz="1600" dirty="0"/>
          </a:p>
        </p:txBody>
      </p:sp>
    </p:spTree>
    <p:extLst>
      <p:ext uri="{BB962C8B-B14F-4D97-AF65-F5344CB8AC3E}">
        <p14:creationId xmlns:p14="http://schemas.microsoft.com/office/powerpoint/2010/main" val="3932510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77658F-604C-0982-1D91-D0C4860C511B}"/>
              </a:ext>
            </a:extLst>
          </p:cNvPr>
          <p:cNvSpPr txBox="1"/>
          <p:nvPr/>
        </p:nvSpPr>
        <p:spPr>
          <a:xfrm>
            <a:off x="1359243" y="697805"/>
            <a:ext cx="8625015" cy="1815882"/>
          </a:xfrm>
          <a:prstGeom prst="rect">
            <a:avLst/>
          </a:prstGeom>
          <a:noFill/>
          <a:ln>
            <a:solidFill>
              <a:schemeClr val="accent1"/>
            </a:solidFill>
          </a:ln>
        </p:spPr>
        <p:txBody>
          <a:bodyPr wrap="square">
            <a:spAutoFit/>
          </a:bodyPr>
          <a:lstStyle/>
          <a:p>
            <a:r>
              <a:rPr lang="en-CA" sz="1600" kern="100" dirty="0">
                <a:solidFill>
                  <a:srgbClr val="000000"/>
                </a:solidFill>
                <a:effectLst/>
                <a:highlight>
                  <a:srgbClr val="FFFFFF"/>
                </a:highlight>
                <a:latin typeface="Arial" panose="020B0604020202020204" pitchFamily="34" charset="0"/>
                <a:ea typeface="Aptos" panose="020B0004020202020204" pitchFamily="34" charset="0"/>
                <a:cs typeface="Times New Roman" panose="02020603050405020304" pitchFamily="18" charset="0"/>
              </a:rPr>
              <a:t>For discerning individuals in the luxury plus premium market who prioritize both functionality and fashion, Le Pliage is the versatile accessory solution that seamlessly integrates practicality with style. Le Pliage stands as the epitome of "Functionality and Fashion" in the realm of handbags, offering adaptable companionship for every occasion. Its enduring design, expert craftsmanship, and innovative features ensure that Le Pliage empowers individuals to navigate life's adventures effortlessly and elegantly, setting new standards for both utility and aesthetics in the luxury accessory market.</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20C1526-3A1D-EE27-D972-26C8D3EA97C4}"/>
              </a:ext>
            </a:extLst>
          </p:cNvPr>
          <p:cNvSpPr txBox="1"/>
          <p:nvPr/>
        </p:nvSpPr>
        <p:spPr>
          <a:xfrm>
            <a:off x="4114798" y="160638"/>
            <a:ext cx="3113903" cy="369332"/>
          </a:xfrm>
          <a:prstGeom prst="rect">
            <a:avLst/>
          </a:prstGeom>
          <a:solidFill>
            <a:schemeClr val="tx2">
              <a:lumMod val="25000"/>
              <a:lumOff val="75000"/>
            </a:schemeClr>
          </a:solidFill>
          <a:ln>
            <a:solidFill>
              <a:schemeClr val="accent1"/>
            </a:solidFill>
          </a:ln>
        </p:spPr>
        <p:txBody>
          <a:bodyPr wrap="square" rtlCol="0">
            <a:spAutoFit/>
          </a:bodyPr>
          <a:lstStyle/>
          <a:p>
            <a:r>
              <a:rPr lang="en-US" dirty="0"/>
              <a:t>POSITIONING STATEMENT</a:t>
            </a:r>
          </a:p>
        </p:txBody>
      </p:sp>
      <p:sp>
        <p:nvSpPr>
          <p:cNvPr id="6" name="TextBox 5">
            <a:extLst>
              <a:ext uri="{FF2B5EF4-FFF2-40B4-BE49-F238E27FC236}">
                <a16:creationId xmlns:a16="http://schemas.microsoft.com/office/drawing/2014/main" id="{CEB2A4A7-A6CE-AC27-961A-58D25933A751}"/>
              </a:ext>
            </a:extLst>
          </p:cNvPr>
          <p:cNvSpPr txBox="1"/>
          <p:nvPr/>
        </p:nvSpPr>
        <p:spPr>
          <a:xfrm>
            <a:off x="1359243" y="3650374"/>
            <a:ext cx="8625014" cy="3046988"/>
          </a:xfrm>
          <a:prstGeom prst="rect">
            <a:avLst/>
          </a:prstGeom>
          <a:noFill/>
          <a:ln>
            <a:solidFill>
              <a:schemeClr val="accent1"/>
            </a:solidFill>
          </a:ln>
        </p:spPr>
        <p:txBody>
          <a:bodyPr wrap="square">
            <a:spAutoFit/>
          </a:bodyPr>
          <a:lstStyle/>
          <a:p>
            <a:pPr marL="285750" indent="-285750">
              <a:buFont typeface="Arial" panose="020B0604020202020204" pitchFamily="34" charset="0"/>
              <a:buChar char="•"/>
            </a:pPr>
            <a:r>
              <a:rPr lang="en-CA" sz="1600" b="1" kern="0" dirty="0">
                <a:solidFill>
                  <a:srgbClr val="000000"/>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FUNCTIONAL BENEFITS:</a:t>
            </a:r>
          </a:p>
          <a:p>
            <a:r>
              <a:rPr lang="en-CA" sz="1600" kern="0" dirty="0">
                <a:solidFill>
                  <a:srgbClr val="000000"/>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The functional benefits of Le Pliage include its practical design and versatility, making it suitable for various occasions and purposes. Whether used for commuting, traveling, or everyday activities, Le Pliage offers consumers a reliable solution that meets their needs. The collapsible structure and lightweight materials enhance convenience and usability, further enhancing its appeal.</a:t>
            </a:r>
          </a:p>
          <a:p>
            <a:pPr marL="285750" indent="-285750">
              <a:buFont typeface="Arial" panose="020B0604020202020204" pitchFamily="34" charset="0"/>
              <a:buChar char="•"/>
            </a:pPr>
            <a:r>
              <a:rPr lang="en-CA" sz="1600" b="1" kern="0" dirty="0">
                <a:solidFill>
                  <a:srgbClr val="000000"/>
                </a:solidFill>
                <a:highlight>
                  <a:srgbClr val="FFFFFF"/>
                </a:highlight>
                <a:latin typeface="Arial" panose="020B0604020202020204" pitchFamily="34" charset="0"/>
                <a:ea typeface="Aptos" panose="020B0004020202020204" pitchFamily="34" charset="0"/>
                <a:cs typeface="Times New Roman" panose="02020603050405020304" pitchFamily="18" charset="0"/>
              </a:rPr>
              <a:t>EMOTIONAL BENEFITS:</a:t>
            </a:r>
            <a:endParaRPr lang="en-CA" sz="1600" b="1"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r>
              <a:rPr lang="en-CA" sz="1600" kern="0" dirty="0">
                <a:solidFill>
                  <a:srgbClr val="000000"/>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In addition to its functional benefits, Le Pliage delivers emotional value to consumers through its timeless design and aesthetic appeal. The brand evokes feelings of sophistication, elegance, and luxury, resonating with consumers who seek to express their personal style and taste. Owning a Le Pliage bag symbolizes status and refinement, adding a sense of prestige to the consumer's lifestyle.</a:t>
            </a:r>
            <a:endParaRPr lang="en-CA" sz="16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56B71581-F1CB-44EE-8BBF-9661FA70C468}"/>
              </a:ext>
            </a:extLst>
          </p:cNvPr>
          <p:cNvSpPr txBox="1"/>
          <p:nvPr/>
        </p:nvSpPr>
        <p:spPr>
          <a:xfrm>
            <a:off x="4114798" y="3052119"/>
            <a:ext cx="2975922" cy="376881"/>
          </a:xfrm>
          <a:prstGeom prst="rect">
            <a:avLst/>
          </a:prstGeom>
          <a:solidFill>
            <a:schemeClr val="tx2">
              <a:lumMod val="25000"/>
              <a:lumOff val="75000"/>
            </a:schemeClr>
          </a:solidFill>
        </p:spPr>
        <p:txBody>
          <a:bodyPr wrap="square" rtlCol="0">
            <a:spAutoFit/>
          </a:bodyPr>
          <a:lstStyle/>
          <a:p>
            <a:r>
              <a:rPr lang="en-US" dirty="0"/>
              <a:t>ANALYSIS FOR KEY BENIFTS</a:t>
            </a:r>
          </a:p>
        </p:txBody>
      </p:sp>
    </p:spTree>
    <p:extLst>
      <p:ext uri="{BB962C8B-B14F-4D97-AF65-F5344CB8AC3E}">
        <p14:creationId xmlns:p14="http://schemas.microsoft.com/office/powerpoint/2010/main" val="2531796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5D09C5-F656-4248-2B6F-05998D99D0C5}"/>
              </a:ext>
            </a:extLst>
          </p:cNvPr>
          <p:cNvSpPr txBox="1"/>
          <p:nvPr/>
        </p:nvSpPr>
        <p:spPr>
          <a:xfrm>
            <a:off x="160638" y="135924"/>
            <a:ext cx="11862486" cy="338554"/>
          </a:xfrm>
          <a:prstGeom prst="rect">
            <a:avLst/>
          </a:prstGeom>
          <a:solidFill>
            <a:schemeClr val="tx2">
              <a:lumMod val="25000"/>
              <a:lumOff val="75000"/>
            </a:schemeClr>
          </a:solidFill>
          <a:ln>
            <a:solidFill>
              <a:schemeClr val="accent1"/>
            </a:solidFill>
          </a:ln>
        </p:spPr>
        <p:txBody>
          <a:bodyPr wrap="square" rtlCol="0">
            <a:spAutoFit/>
          </a:bodyPr>
          <a:lstStyle/>
          <a:p>
            <a:r>
              <a:rPr lang="en-CA" sz="1600" dirty="0">
                <a:effectLst/>
                <a:latin typeface="Arial" panose="020B0604020202020204" pitchFamily="34" charset="0"/>
                <a:ea typeface="Aptos" panose="020B0004020202020204" pitchFamily="34" charset="0"/>
              </a:rPr>
              <a:t>Based on the criteria table and analysis, the appropriate key benefit for the positioning statement is "Functionality and Fashion."</a:t>
            </a:r>
            <a:endParaRPr lang="en-US" sz="1600" dirty="0"/>
          </a:p>
        </p:txBody>
      </p:sp>
      <p:pic>
        <p:nvPicPr>
          <p:cNvPr id="4" name="Picture 3">
            <a:extLst>
              <a:ext uri="{FF2B5EF4-FFF2-40B4-BE49-F238E27FC236}">
                <a16:creationId xmlns:a16="http://schemas.microsoft.com/office/drawing/2014/main" id="{29929470-D42A-CFC2-7C9D-38B40180C2F1}"/>
              </a:ext>
            </a:extLst>
          </p:cNvPr>
          <p:cNvPicPr>
            <a:picLocks noChangeAspect="1"/>
          </p:cNvPicPr>
          <p:nvPr/>
        </p:nvPicPr>
        <p:blipFill>
          <a:blip r:embed="rId2"/>
          <a:stretch>
            <a:fillRect/>
          </a:stretch>
        </p:blipFill>
        <p:spPr>
          <a:xfrm>
            <a:off x="663146" y="474478"/>
            <a:ext cx="10186086" cy="6397496"/>
          </a:xfrm>
          <a:prstGeom prst="rect">
            <a:avLst/>
          </a:prstGeom>
        </p:spPr>
      </p:pic>
    </p:spTree>
    <p:extLst>
      <p:ext uri="{BB962C8B-B14F-4D97-AF65-F5344CB8AC3E}">
        <p14:creationId xmlns:p14="http://schemas.microsoft.com/office/powerpoint/2010/main" val="4171174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93EE82-5AD7-3149-47D5-DF49F517C186}"/>
              </a:ext>
            </a:extLst>
          </p:cNvPr>
          <p:cNvSpPr txBox="1"/>
          <p:nvPr/>
        </p:nvSpPr>
        <p:spPr>
          <a:xfrm>
            <a:off x="220361" y="493242"/>
            <a:ext cx="11751276" cy="1569660"/>
          </a:xfrm>
          <a:prstGeom prst="rect">
            <a:avLst/>
          </a:prstGeom>
          <a:noFill/>
          <a:ln>
            <a:solidFill>
              <a:schemeClr val="accent1"/>
            </a:solidFill>
          </a:ln>
        </p:spPr>
        <p:txBody>
          <a:bodyPr wrap="square">
            <a:spAutoFit/>
          </a:bodyPr>
          <a:lstStyle/>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US" sz="1600" kern="100" dirty="0">
                <a:effectLst/>
                <a:latin typeface="Arial" panose="020B0604020202020204" pitchFamily="34" charset="0"/>
                <a:ea typeface="Aptos" panose="020B0004020202020204" pitchFamily="34" charset="0"/>
                <a:cs typeface="Times New Roman" panose="02020603050405020304" pitchFamily="18" charset="0"/>
              </a:rPr>
              <a:t>When evaluating the rate of growth for the Le </a:t>
            </a:r>
            <a:r>
              <a:rPr lang="en-US" sz="1600" kern="100" dirty="0" err="1">
                <a:effectLst/>
                <a:latin typeface="Arial" panose="020B0604020202020204" pitchFamily="34" charset="0"/>
                <a:ea typeface="Aptos" panose="020B0004020202020204" pitchFamily="34" charset="0"/>
                <a:cs typeface="Times New Roman" panose="02020603050405020304" pitchFamily="18" charset="0"/>
              </a:rPr>
              <a:t>Pliage</a:t>
            </a:r>
            <a:r>
              <a:rPr lang="en-US" sz="1600" kern="100" dirty="0">
                <a:effectLst/>
                <a:latin typeface="Arial" panose="020B0604020202020204" pitchFamily="34" charset="0"/>
                <a:ea typeface="Aptos" panose="020B0004020202020204" pitchFamily="34" charset="0"/>
                <a:cs typeface="Times New Roman" panose="02020603050405020304" pitchFamily="18" charset="0"/>
              </a:rPr>
              <a:t> brand, it is crucial to consider various elements. </a:t>
            </a:r>
          </a:p>
          <a:p>
            <a:pPr marL="285750" indent="-285750">
              <a:buFont typeface="Arial" panose="020B0604020202020204" pitchFamily="34" charset="0"/>
              <a:buChar cha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US" sz="1600" kern="100" dirty="0">
                <a:effectLst/>
                <a:latin typeface="Arial" panose="020B0604020202020204" pitchFamily="34" charset="0"/>
                <a:ea typeface="Aptos" panose="020B0004020202020204" pitchFamily="34" charset="0"/>
                <a:cs typeface="Times New Roman" panose="02020603050405020304" pitchFamily="18" charset="0"/>
              </a:rPr>
              <a:t>First and foremost, it is essential for Longchamp's long-term success to preserve its "mythical" reputation, indicating that a well-rounded strategy may be required.</a:t>
            </a:r>
          </a:p>
          <a:p>
            <a:pPr marL="285750" indent="-285750">
              <a:buFont typeface="Arial" panose="020B0604020202020204" pitchFamily="34" charset="0"/>
              <a:buChar cha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US" sz="1600" kern="100" dirty="0">
                <a:effectLst/>
                <a:latin typeface="Arial" panose="020B0604020202020204" pitchFamily="34" charset="0"/>
                <a:ea typeface="Aptos" panose="020B0004020202020204" pitchFamily="34" charset="0"/>
                <a:cs typeface="Times New Roman" panose="02020603050405020304" pitchFamily="18" charset="0"/>
              </a:rPr>
              <a:t>Furthermore, although introducing Le </a:t>
            </a:r>
            <a:r>
              <a:rPr lang="en-US" sz="1600" kern="100" dirty="0" err="1">
                <a:effectLst/>
                <a:latin typeface="Arial" panose="020B0604020202020204" pitchFamily="34" charset="0"/>
                <a:ea typeface="Aptos" panose="020B0004020202020204" pitchFamily="34" charset="0"/>
                <a:cs typeface="Times New Roman" panose="02020603050405020304" pitchFamily="18" charset="0"/>
              </a:rPr>
              <a:t>Pliage</a:t>
            </a:r>
            <a:r>
              <a:rPr lang="en-US" sz="1600" kern="100" dirty="0">
                <a:effectLst/>
                <a:latin typeface="Arial" panose="020B0604020202020204" pitchFamily="34" charset="0"/>
                <a:ea typeface="Aptos" panose="020B0004020202020204" pitchFamily="34" charset="0"/>
                <a:cs typeface="Times New Roman" panose="02020603050405020304" pitchFamily="18" charset="0"/>
              </a:rPr>
              <a:t> to a broader audience could enhance its effectiveness, there is a possibility that it may diminish its uniqueness and appeal. </a:t>
            </a:r>
          </a:p>
          <a:p>
            <a:pPr marL="285750" indent="-285750">
              <a:buFont typeface="Arial" panose="020B0604020202020204" pitchFamily="34" charset="0"/>
              <a:buChar cha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US" sz="1600" kern="100" dirty="0">
                <a:effectLst/>
                <a:latin typeface="Arial" panose="020B0604020202020204" pitchFamily="34" charset="0"/>
                <a:ea typeface="Aptos" panose="020B0004020202020204" pitchFamily="34" charset="0"/>
                <a:cs typeface="Times New Roman" panose="02020603050405020304" pitchFamily="18" charset="0"/>
              </a:rPr>
              <a:t>On the other hand, maintaining restrictions could protect its reputation but restrict the increase in revenue. </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1B87D86-5D76-9C1D-C288-5A0BDDF09D5D}"/>
              </a:ext>
            </a:extLst>
          </p:cNvPr>
          <p:cNvSpPr txBox="1"/>
          <p:nvPr/>
        </p:nvSpPr>
        <p:spPr>
          <a:xfrm>
            <a:off x="220362" y="2096788"/>
            <a:ext cx="11751275" cy="1569660"/>
          </a:xfrm>
          <a:prstGeom prst="rect">
            <a:avLst/>
          </a:prstGeom>
          <a:noFill/>
          <a:ln>
            <a:solidFill>
              <a:schemeClr val="accent1"/>
            </a:solidFill>
          </a:ln>
        </p:spPr>
        <p:txBody>
          <a:bodyPr wrap="square">
            <a:spAutoFit/>
          </a:bodyPr>
          <a:lstStyle/>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US" sz="1600" kern="100" dirty="0">
                <a:effectLst/>
                <a:latin typeface="Arial" panose="020B0604020202020204" pitchFamily="34" charset="0"/>
                <a:ea typeface="Aptos" panose="020B0004020202020204" pitchFamily="34" charset="0"/>
                <a:cs typeface="Times New Roman" panose="02020603050405020304" pitchFamily="18" charset="0"/>
              </a:rPr>
              <a:t>To effectively manage Le </a:t>
            </a:r>
            <a:r>
              <a:rPr lang="en-US" sz="1600" kern="100" dirty="0" err="1">
                <a:effectLst/>
                <a:latin typeface="Arial" panose="020B0604020202020204" pitchFamily="34" charset="0"/>
                <a:ea typeface="Aptos" panose="020B0004020202020204" pitchFamily="34" charset="0"/>
                <a:cs typeface="Times New Roman" panose="02020603050405020304" pitchFamily="18" charset="0"/>
              </a:rPr>
              <a:t>Pliage</a:t>
            </a:r>
            <a:r>
              <a:rPr lang="en-US" sz="1600" kern="100" dirty="0">
                <a:effectLst/>
                <a:latin typeface="Arial" panose="020B0604020202020204" pitchFamily="34" charset="0"/>
                <a:ea typeface="Aptos" panose="020B0004020202020204" pitchFamily="34" charset="0"/>
                <a:cs typeface="Times New Roman" panose="02020603050405020304" pitchFamily="18" charset="0"/>
              </a:rPr>
              <a:t>, Longchamp should find a way to maintain its attractiveness while also taking advantage of market prospects. This involves implementing a well-planned growth strategy that keeps its renowned position while deliberately extending its influence. </a:t>
            </a:r>
          </a:p>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US" sz="1600" kern="100" dirty="0">
                <a:effectLst/>
                <a:latin typeface="Arial" panose="020B0604020202020204" pitchFamily="34" charset="0"/>
                <a:ea typeface="Aptos" panose="020B0004020202020204" pitchFamily="34" charset="0"/>
                <a:cs typeface="Times New Roman" panose="02020603050405020304" pitchFamily="18" charset="0"/>
              </a:rPr>
              <a:t>Longchamp can maintain the attractiveness of Le </a:t>
            </a:r>
            <a:r>
              <a:rPr lang="en-US" sz="1600" kern="100" dirty="0" err="1">
                <a:effectLst/>
                <a:latin typeface="Arial" panose="020B0604020202020204" pitchFamily="34" charset="0"/>
                <a:ea typeface="Aptos" panose="020B0004020202020204" pitchFamily="34" charset="0"/>
                <a:cs typeface="Times New Roman" panose="02020603050405020304" pitchFamily="18" charset="0"/>
              </a:rPr>
              <a:t>Pliage</a:t>
            </a:r>
            <a:r>
              <a:rPr lang="en-US" sz="1600" kern="100" dirty="0">
                <a:effectLst/>
                <a:latin typeface="Arial" panose="020B0604020202020204" pitchFamily="34" charset="0"/>
                <a:ea typeface="Aptos" panose="020B0004020202020204" pitchFamily="34" charset="0"/>
                <a:cs typeface="Times New Roman" panose="02020603050405020304" pitchFamily="18" charset="0"/>
              </a:rPr>
              <a:t> while ensuring controlled expansion by progressively increasing distribution and promotional activities. This strategy is consistent with the brand's philosophy of delivering high standards and uniqueness while adjusting to changing market conditions.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48016B2-5789-D40A-4C6C-9C194EF70921}"/>
              </a:ext>
            </a:extLst>
          </p:cNvPr>
          <p:cNvSpPr txBox="1"/>
          <p:nvPr/>
        </p:nvSpPr>
        <p:spPr>
          <a:xfrm>
            <a:off x="220362" y="123910"/>
            <a:ext cx="2856470" cy="369332"/>
          </a:xfrm>
          <a:prstGeom prst="rect">
            <a:avLst/>
          </a:prstGeom>
          <a:solidFill>
            <a:schemeClr val="tx2">
              <a:lumMod val="25000"/>
              <a:lumOff val="75000"/>
            </a:schemeClr>
          </a:solidFill>
        </p:spPr>
        <p:txBody>
          <a:bodyPr wrap="square" rtlCol="0">
            <a:spAutoFit/>
          </a:bodyPr>
          <a:lstStyle/>
          <a:p>
            <a:r>
              <a:rPr lang="en-US" dirty="0"/>
              <a:t>GROWTH RATE </a:t>
            </a:r>
          </a:p>
        </p:txBody>
      </p:sp>
      <p:pic>
        <p:nvPicPr>
          <p:cNvPr id="8" name="Picture 7" descr="A table with text on it&#10;&#10;Description automatically generated">
            <a:extLst>
              <a:ext uri="{FF2B5EF4-FFF2-40B4-BE49-F238E27FC236}">
                <a16:creationId xmlns:a16="http://schemas.microsoft.com/office/drawing/2014/main" id="{63ED9FC7-F9BA-D7FD-B188-F39925323980}"/>
              </a:ext>
            </a:extLst>
          </p:cNvPr>
          <p:cNvPicPr>
            <a:picLocks noChangeAspect="1"/>
          </p:cNvPicPr>
          <p:nvPr/>
        </p:nvPicPr>
        <p:blipFill>
          <a:blip r:embed="rId2"/>
          <a:stretch>
            <a:fillRect/>
          </a:stretch>
        </p:blipFill>
        <p:spPr>
          <a:xfrm>
            <a:off x="220364" y="3700334"/>
            <a:ext cx="7551362" cy="3157666"/>
          </a:xfrm>
          <a:prstGeom prst="rect">
            <a:avLst/>
          </a:prstGeom>
        </p:spPr>
      </p:pic>
      <p:sp>
        <p:nvSpPr>
          <p:cNvPr id="12" name="TextBox 11">
            <a:extLst>
              <a:ext uri="{FF2B5EF4-FFF2-40B4-BE49-F238E27FC236}">
                <a16:creationId xmlns:a16="http://schemas.microsoft.com/office/drawing/2014/main" id="{5E5ABE09-2FCF-6011-4534-AAE050E1DF7F}"/>
              </a:ext>
            </a:extLst>
          </p:cNvPr>
          <p:cNvSpPr txBox="1"/>
          <p:nvPr/>
        </p:nvSpPr>
        <p:spPr>
          <a:xfrm>
            <a:off x="7807409" y="3832617"/>
            <a:ext cx="4164227" cy="2893100"/>
          </a:xfrm>
          <a:prstGeom prst="rect">
            <a:avLst/>
          </a:prstGeom>
          <a:solidFill>
            <a:schemeClr val="tx2">
              <a:lumMod val="25000"/>
              <a:lumOff val="75000"/>
            </a:schemeClr>
          </a:solidFill>
          <a:ln>
            <a:solidFill>
              <a:schemeClr val="accent1"/>
            </a:solidFill>
          </a:ln>
        </p:spPr>
        <p:txBody>
          <a:bodyPr wrap="square">
            <a:spAutoFit/>
          </a:bodyPr>
          <a:lstStyle/>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300" kern="100" dirty="0">
                <a:effectLst/>
                <a:latin typeface="Arial" panose="020B0604020202020204" pitchFamily="34" charset="0"/>
                <a:ea typeface="Aptos" panose="020B0004020202020204" pitchFamily="34" charset="0"/>
                <a:cs typeface="Times New Roman" panose="02020603050405020304" pitchFamily="18" charset="0"/>
              </a:rPr>
              <a:t>In conclusion, after a thorough analysis of the market growth potential, it's evident that Le Pliage operates within a segment characterized by high growth opportunities. The strong emerging trends, coupled with very high consumer interest and rapidly increasing demand, suggest a favorable landscape for Le Pliage to capitalize on. Furthermore, the relatively few competitors in the luxury plus premium market present significant opportunities for market expansion and differentiation. With ample room for innovation and a conducive market environment, Le Pliage is poised to achieve substantial growth and solidify its position as a leading brand in the premium plus luxury segment.</a:t>
            </a:r>
            <a:endParaRPr lang="en-CA" sz="13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71101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CD21B9-B2C6-62F6-9EFD-4432591E6B22}"/>
              </a:ext>
            </a:extLst>
          </p:cNvPr>
          <p:cNvSpPr txBox="1"/>
          <p:nvPr/>
        </p:nvSpPr>
        <p:spPr>
          <a:xfrm>
            <a:off x="98854" y="250386"/>
            <a:ext cx="11994292" cy="1323439"/>
          </a:xfrm>
          <a:prstGeom prst="rect">
            <a:avLst/>
          </a:prstGeom>
          <a:noFill/>
          <a:ln>
            <a:solidFill>
              <a:schemeClr val="accent1"/>
            </a:solidFill>
          </a:ln>
        </p:spPr>
        <p:txBody>
          <a:bodyPr wrap="square">
            <a:spAutoFit/>
          </a:bodyPr>
          <a:lstStyle/>
          <a:p>
            <a:r>
              <a:rPr lang="en-CA" sz="1600" dirty="0">
                <a:effectLst/>
                <a:latin typeface="Arial" panose="020B0604020202020204" pitchFamily="34" charset="0"/>
                <a:ea typeface="Aptos" panose="020B0004020202020204" pitchFamily="34" charset="0"/>
              </a:rPr>
              <a:t>An alternative is to establish a </a:t>
            </a:r>
            <a:r>
              <a:rPr lang="en-CA" sz="1600" b="1" dirty="0">
                <a:effectLst/>
                <a:latin typeface="Arial" panose="020B0604020202020204" pitchFamily="34" charset="0"/>
                <a:ea typeface="Aptos" panose="020B0004020202020204" pitchFamily="34" charset="0"/>
              </a:rPr>
              <a:t>sub-brand association</a:t>
            </a:r>
            <a:r>
              <a:rPr lang="en-CA" sz="1600" dirty="0">
                <a:effectLst/>
                <a:latin typeface="Arial" panose="020B0604020202020204" pitchFamily="34" charset="0"/>
                <a:ea typeface="Aptos" panose="020B0004020202020204" pitchFamily="34" charset="0"/>
              </a:rPr>
              <a:t> whereby Le Pliage functions inside the framework of the Longchamp brand. By adopting this strategy, Le Pliage can use Longchamp's established brand value and reputation while retaining a certain level of autonomy in its marketing and product innovation. An alternative approach is to designate Le Pliage as an authorized brand, maintaining its distinct character while establishing a clear connection to Longchamp. This approach can enhance the legitimacy and backing of Le Pliage from its parent brand while also allowing for greater adaptability in marketing and distribution. </a:t>
            </a:r>
            <a:endParaRPr lang="en-US" sz="1600" dirty="0"/>
          </a:p>
        </p:txBody>
      </p:sp>
      <p:sp>
        <p:nvSpPr>
          <p:cNvPr id="5" name="TextBox 4">
            <a:extLst>
              <a:ext uri="{FF2B5EF4-FFF2-40B4-BE49-F238E27FC236}">
                <a16:creationId xmlns:a16="http://schemas.microsoft.com/office/drawing/2014/main" id="{52713A54-225F-B62D-DF6F-74E30BCE47E8}"/>
              </a:ext>
            </a:extLst>
          </p:cNvPr>
          <p:cNvSpPr txBox="1"/>
          <p:nvPr/>
        </p:nvSpPr>
        <p:spPr>
          <a:xfrm>
            <a:off x="6095999" y="1671932"/>
            <a:ext cx="5997146" cy="1815882"/>
          </a:xfrm>
          <a:prstGeom prst="rect">
            <a:avLst/>
          </a:prstGeom>
          <a:solidFill>
            <a:schemeClr val="tx2">
              <a:lumMod val="25000"/>
              <a:lumOff val="75000"/>
            </a:schemeClr>
          </a:solidFill>
          <a:ln>
            <a:solidFill>
              <a:schemeClr val="accent1"/>
            </a:solidFill>
          </a:ln>
        </p:spPr>
        <p:txBody>
          <a:bodyPr wrap="square">
            <a:spAutoFit/>
          </a:bodyPr>
          <a:lstStyle/>
          <a:p>
            <a:r>
              <a:rPr lang="en-CA" sz="1600" dirty="0">
                <a:effectLst/>
                <a:latin typeface="Arial" panose="020B0604020202020204" pitchFamily="34" charset="0"/>
                <a:ea typeface="Aptos" panose="020B0004020202020204" pitchFamily="34" charset="0"/>
              </a:rPr>
              <a:t>Longchamp might opt for a house of brands model, in which Le Pliage functions as its own business with its distinct brand identity and marketing efforts. This strategy provides Le Pliage with the highest level of independence. Still, it may weaken the overall consistency of the brand and make it more challenging to take advantage of the combined strengths of the entire product range.</a:t>
            </a:r>
            <a:r>
              <a:rPr lang="en-CA" sz="1600" dirty="0">
                <a:effectLst/>
              </a:rPr>
              <a:t> </a:t>
            </a:r>
            <a:endParaRPr lang="en-US" sz="1600" dirty="0"/>
          </a:p>
        </p:txBody>
      </p:sp>
      <p:pic>
        <p:nvPicPr>
          <p:cNvPr id="7" name="Picture 6" descr="A table of brand names&#10;&#10;Description automatically generated">
            <a:extLst>
              <a:ext uri="{FF2B5EF4-FFF2-40B4-BE49-F238E27FC236}">
                <a16:creationId xmlns:a16="http://schemas.microsoft.com/office/drawing/2014/main" id="{168906D2-AAEA-4E84-AF4A-8F834BEB97FF}"/>
              </a:ext>
            </a:extLst>
          </p:cNvPr>
          <p:cNvPicPr>
            <a:picLocks noChangeAspect="1"/>
          </p:cNvPicPr>
          <p:nvPr/>
        </p:nvPicPr>
        <p:blipFill>
          <a:blip r:embed="rId2"/>
          <a:stretch>
            <a:fillRect/>
          </a:stretch>
        </p:blipFill>
        <p:spPr>
          <a:xfrm>
            <a:off x="98853" y="1573825"/>
            <a:ext cx="5997145" cy="5206312"/>
          </a:xfrm>
          <a:prstGeom prst="rect">
            <a:avLst/>
          </a:prstGeom>
        </p:spPr>
      </p:pic>
      <p:sp>
        <p:nvSpPr>
          <p:cNvPr id="9" name="TextBox 8">
            <a:extLst>
              <a:ext uri="{FF2B5EF4-FFF2-40B4-BE49-F238E27FC236}">
                <a16:creationId xmlns:a16="http://schemas.microsoft.com/office/drawing/2014/main" id="{51BFCC70-0249-4997-E181-A1A8CC057374}"/>
              </a:ext>
            </a:extLst>
          </p:cNvPr>
          <p:cNvSpPr txBox="1"/>
          <p:nvPr/>
        </p:nvSpPr>
        <p:spPr>
          <a:xfrm>
            <a:off x="6417273" y="3702814"/>
            <a:ext cx="4790305" cy="2862322"/>
          </a:xfrm>
          <a:prstGeom prst="rect">
            <a:avLst/>
          </a:prstGeom>
          <a:noFill/>
          <a:ln>
            <a:solidFill>
              <a:schemeClr val="accent1"/>
            </a:solidFill>
          </a:ln>
        </p:spPr>
        <p:txBody>
          <a:bodyPr wrap="square">
            <a:spAutoFit/>
          </a:bodyPr>
          <a:lstStyle/>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200" kern="100" dirty="0">
                <a:effectLst/>
                <a:latin typeface="Arial" panose="020B0604020202020204" pitchFamily="34" charset="0"/>
                <a:ea typeface="Aptos" panose="020B0004020202020204" pitchFamily="34" charset="0"/>
                <a:cs typeface="Times New Roman" panose="02020603050405020304" pitchFamily="18" charset="0"/>
              </a:rPr>
              <a:t>The rationale for opting for a house of brands model for Longchamp, with Le Pliage functioning as its own independent business, lies in providing Le Pliage with maximum autonomy. This approach acknowledges the distinct brand identity and marketing efforts of Le Pliage, allowing it to tailor its strategies specifically to its target audience within the luxury plus premium market. However, it's crucial to recognize that this strategy may compromise the overall consistency of the Longchamp brand portfolio and hinder the synergies that could be achieved by leveraging the combined strengths of all products. The decision should be carefully evaluated considering factors such as maintaining brand image, customer perceptions, retailer relationships, and financial implications. Ultimately, the selected brand architecture strategy will significantly influence Le </a:t>
            </a:r>
            <a:r>
              <a:rPr lang="en-CA" sz="12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200" kern="100" dirty="0">
                <a:effectLst/>
                <a:latin typeface="Arial" panose="020B0604020202020204" pitchFamily="34" charset="0"/>
                <a:ea typeface="Aptos" panose="020B0004020202020204" pitchFamily="34" charset="0"/>
                <a:cs typeface="Times New Roman" panose="02020603050405020304" pitchFamily="18" charset="0"/>
              </a:rPr>
              <a:t> positioning in the market and its alignment with Longchamp's broader product decisions and marketing initiatives.</a:t>
            </a:r>
            <a:endParaRPr lang="en-CA"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75123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E9F1E534-7C6F-C571-7132-D176587359F2}"/>
              </a:ext>
            </a:extLst>
          </p:cNvPr>
          <p:cNvGrpSpPr/>
          <p:nvPr/>
        </p:nvGrpSpPr>
        <p:grpSpPr>
          <a:xfrm>
            <a:off x="111211" y="621557"/>
            <a:ext cx="11969578" cy="1077218"/>
            <a:chOff x="111211" y="287924"/>
            <a:chExt cx="11969578" cy="1077218"/>
          </a:xfrm>
        </p:grpSpPr>
        <p:sp>
          <p:nvSpPr>
            <p:cNvPr id="3" name="TextBox 2">
              <a:extLst>
                <a:ext uri="{FF2B5EF4-FFF2-40B4-BE49-F238E27FC236}">
                  <a16:creationId xmlns:a16="http://schemas.microsoft.com/office/drawing/2014/main" id="{CD65BE02-71B4-F4D2-EEAB-D7542B4CF90D}"/>
                </a:ext>
              </a:extLst>
            </p:cNvPr>
            <p:cNvSpPr txBox="1"/>
            <p:nvPr/>
          </p:nvSpPr>
          <p:spPr>
            <a:xfrm>
              <a:off x="1898822" y="287924"/>
              <a:ext cx="10181967" cy="1077218"/>
            </a:xfrm>
            <a:prstGeom prst="rect">
              <a:avLst/>
            </a:prstGeom>
            <a:solidFill>
              <a:schemeClr val="tx2">
                <a:lumMod val="25000"/>
                <a:lumOff val="75000"/>
              </a:schemeClr>
            </a:solidFill>
            <a:ln>
              <a:solidFill>
                <a:schemeClr val="accent1"/>
              </a:solidFill>
            </a:ln>
          </p:spPr>
          <p:txBody>
            <a:bodyPr wrap="square">
              <a:spAutoFit/>
            </a:bodyPr>
            <a:lstStyle/>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US" sz="1600" kern="100" dirty="0">
                  <a:effectLst/>
                  <a:latin typeface="Arial" panose="020B0604020202020204" pitchFamily="34" charset="0"/>
                  <a:ea typeface="Aptos" panose="020B0004020202020204" pitchFamily="34" charset="0"/>
                  <a:cs typeface="Times New Roman" panose="02020603050405020304" pitchFamily="18" charset="0"/>
                </a:rPr>
                <a:t>"Le </a:t>
              </a:r>
              <a:r>
                <a:rPr lang="en-US" sz="1600" kern="100" dirty="0" err="1">
                  <a:effectLst/>
                  <a:latin typeface="Arial" panose="020B0604020202020204" pitchFamily="34" charset="0"/>
                  <a:ea typeface="Aptos" panose="020B0004020202020204" pitchFamily="34" charset="0"/>
                  <a:cs typeface="Times New Roman" panose="02020603050405020304" pitchFamily="18" charset="0"/>
                </a:rPr>
                <a:t>Pliage</a:t>
              </a:r>
              <a:r>
                <a:rPr lang="en-US" sz="1600" kern="100" dirty="0">
                  <a:effectLst/>
                  <a:latin typeface="Arial" panose="020B0604020202020204" pitchFamily="34" charset="0"/>
                  <a:ea typeface="Aptos" panose="020B0004020202020204" pitchFamily="34" charset="0"/>
                  <a:cs typeface="Times New Roman" panose="02020603050405020304" pitchFamily="18" charset="0"/>
                </a:rPr>
                <a:t> embodies the essence of French luxury, seamlessly blending timeless elegance with modern practicality. From bustling city streets to chic weekend getaways, it accompanies every journey with grace and style. Crafted with precision and passion, each piece is not just a bag, but a symbol of heritage and innovation. Le </a:t>
              </a:r>
              <a:r>
                <a:rPr lang="en-US" sz="1600" kern="100" dirty="0" err="1">
                  <a:effectLst/>
                  <a:latin typeface="Arial" panose="020B0604020202020204" pitchFamily="34" charset="0"/>
                  <a:ea typeface="Aptos" panose="020B0004020202020204" pitchFamily="34" charset="0"/>
                  <a:cs typeface="Times New Roman" panose="02020603050405020304" pitchFamily="18" charset="0"/>
                </a:rPr>
                <a:t>Pliage</a:t>
              </a:r>
              <a:r>
                <a:rPr lang="en-US" sz="1600" kern="100" dirty="0">
                  <a:effectLst/>
                  <a:latin typeface="Arial" panose="020B0604020202020204" pitchFamily="34" charset="0"/>
                  <a:ea typeface="Aptos" panose="020B0004020202020204" pitchFamily="34" charset="0"/>
                  <a:cs typeface="Times New Roman" panose="02020603050405020304" pitchFamily="18" charset="0"/>
                </a:rPr>
                <a:t>: where tradition meets the future."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4D8652D-FA1E-F301-A595-2567CF8BECB5}"/>
                </a:ext>
              </a:extLst>
            </p:cNvPr>
            <p:cNvSpPr txBox="1"/>
            <p:nvPr/>
          </p:nvSpPr>
          <p:spPr>
            <a:xfrm>
              <a:off x="111211" y="457201"/>
              <a:ext cx="1668162" cy="369332"/>
            </a:xfrm>
            <a:prstGeom prst="rect">
              <a:avLst/>
            </a:prstGeom>
            <a:noFill/>
            <a:ln>
              <a:solidFill>
                <a:schemeClr val="accent1"/>
              </a:solidFill>
            </a:ln>
          </p:spPr>
          <p:txBody>
            <a:bodyPr wrap="square" rtlCol="0">
              <a:spAutoFit/>
            </a:bodyPr>
            <a:lstStyle/>
            <a:p>
              <a:r>
                <a:rPr lang="en-US" dirty="0"/>
                <a:t>BRAND STORY</a:t>
              </a:r>
            </a:p>
          </p:txBody>
        </p:sp>
      </p:grpSp>
      <p:pic>
        <p:nvPicPr>
          <p:cNvPr id="7" name="Picture 6" descr="A close-up of a text&#10;&#10;Description automatically generated">
            <a:extLst>
              <a:ext uri="{FF2B5EF4-FFF2-40B4-BE49-F238E27FC236}">
                <a16:creationId xmlns:a16="http://schemas.microsoft.com/office/drawing/2014/main" id="{022B77C0-9EDC-6D2A-2DC1-FD4AAB21042E}"/>
              </a:ext>
            </a:extLst>
          </p:cNvPr>
          <p:cNvPicPr>
            <a:picLocks noChangeAspect="1"/>
          </p:cNvPicPr>
          <p:nvPr/>
        </p:nvPicPr>
        <p:blipFill>
          <a:blip r:embed="rId2"/>
          <a:stretch>
            <a:fillRect/>
          </a:stretch>
        </p:blipFill>
        <p:spPr>
          <a:xfrm>
            <a:off x="519756" y="2199405"/>
            <a:ext cx="11152488" cy="3750540"/>
          </a:xfrm>
          <a:prstGeom prst="rect">
            <a:avLst/>
          </a:prstGeom>
        </p:spPr>
      </p:pic>
    </p:spTree>
    <p:extLst>
      <p:ext uri="{BB962C8B-B14F-4D97-AF65-F5344CB8AC3E}">
        <p14:creationId xmlns:p14="http://schemas.microsoft.com/office/powerpoint/2010/main" val="4160655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brand image&#10;&#10;Description automatically generated">
            <a:extLst>
              <a:ext uri="{FF2B5EF4-FFF2-40B4-BE49-F238E27FC236}">
                <a16:creationId xmlns:a16="http://schemas.microsoft.com/office/drawing/2014/main" id="{B653CC87-1314-E9FC-6FB3-4F743E58078E}"/>
              </a:ext>
            </a:extLst>
          </p:cNvPr>
          <p:cNvPicPr>
            <a:picLocks noChangeAspect="1"/>
          </p:cNvPicPr>
          <p:nvPr/>
        </p:nvPicPr>
        <p:blipFill>
          <a:blip r:embed="rId2"/>
          <a:stretch>
            <a:fillRect/>
          </a:stretch>
        </p:blipFill>
        <p:spPr>
          <a:xfrm>
            <a:off x="3736443" y="980690"/>
            <a:ext cx="4849449" cy="3232966"/>
          </a:xfrm>
          <a:prstGeom prst="rect">
            <a:avLst/>
          </a:prstGeom>
          <a:ln>
            <a:solidFill>
              <a:schemeClr val="accent1"/>
            </a:solidFill>
          </a:ln>
        </p:spPr>
      </p:pic>
      <p:sp>
        <p:nvSpPr>
          <p:cNvPr id="6" name="TextBox 5">
            <a:extLst>
              <a:ext uri="{FF2B5EF4-FFF2-40B4-BE49-F238E27FC236}">
                <a16:creationId xmlns:a16="http://schemas.microsoft.com/office/drawing/2014/main" id="{40D510AE-4770-2E7A-6FDB-D429464C4969}"/>
              </a:ext>
            </a:extLst>
          </p:cNvPr>
          <p:cNvSpPr txBox="1"/>
          <p:nvPr/>
        </p:nvSpPr>
        <p:spPr>
          <a:xfrm>
            <a:off x="158573" y="155783"/>
            <a:ext cx="3447535" cy="2062103"/>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PHYSIQUE: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Sleek and minimalist design: Reflects the target audience's preference for sophistication and simplicity.</a:t>
            </a:r>
            <a:endParaRPr lang="en-CA" sz="1600" kern="100" dirty="0">
              <a:latin typeface="Aptos" panose="020B0004020202020204" pitchFamily="34" charset="0"/>
              <a:ea typeface="Aptos" panose="020B0004020202020204" pitchFamily="34" charset="0"/>
              <a:cs typeface="Times New Roman" panose="02020603050405020304" pitchFamily="18" charset="0"/>
            </a:endParaRPr>
          </a:p>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RATIONALE: Appeals to the luxury and premium market's desire for elegant, understated aesthetics.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3B83FE1A-2792-17F7-ABA2-CD7E00DF5DE9}"/>
              </a:ext>
            </a:extLst>
          </p:cNvPr>
          <p:cNvSpPr txBox="1"/>
          <p:nvPr/>
        </p:nvSpPr>
        <p:spPr>
          <a:xfrm>
            <a:off x="158575" y="2217886"/>
            <a:ext cx="3447535" cy="2800767"/>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latin typeface="Arial" panose="020B0604020202020204" pitchFamily="34" charset="0"/>
                <a:ea typeface="Aptos" panose="020B0004020202020204" pitchFamily="34" charset="0"/>
                <a:cs typeface="Times New Roman" panose="02020603050405020304" pitchFamily="18" charset="0"/>
              </a:rPr>
              <a:t>RELATIONSHIP</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The trusted and adaptable design of Le Pliage establishes a strong relationship between the brand and its consumers. By consistently delivering on its promise of quality and functionality, Le Pliage fosters a sense of trust and loyalty among its clientele, enhancing brand perception and customer satisfaction.</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C6E8E45D-7B34-2E7D-D6FB-DF0914ED88F9}"/>
              </a:ext>
            </a:extLst>
          </p:cNvPr>
          <p:cNvSpPr txBox="1"/>
          <p:nvPr/>
        </p:nvSpPr>
        <p:spPr>
          <a:xfrm>
            <a:off x="158573" y="5042118"/>
            <a:ext cx="5377254" cy="1815882"/>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latin typeface="Arial" panose="020B0604020202020204" pitchFamily="34" charset="0"/>
                <a:ea typeface="Aptos" panose="020B0004020202020204" pitchFamily="34" charset="0"/>
                <a:cs typeface="Times New Roman" panose="02020603050405020304" pitchFamily="18" charset="0"/>
              </a:rPr>
              <a:t>REFLECTION</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Le Pliage serves as a symbol of personal style and refinement, allowing consumers to express their individuality and sophistication. The brand's association with elegance and timeless design reflects the aspirations and values of the affluent market segment, resonating with their desire for luxury and exclusivity.</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6221ED3A-BC9F-8DDE-764D-F81C887545CE}"/>
              </a:ext>
            </a:extLst>
          </p:cNvPr>
          <p:cNvSpPr txBox="1"/>
          <p:nvPr/>
        </p:nvSpPr>
        <p:spPr>
          <a:xfrm>
            <a:off x="8684741" y="168944"/>
            <a:ext cx="3507259" cy="2308324"/>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PERSONALITY:</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Trusted and adaptable: Aligns with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positioning as a reliable and versatile companion for modern lifestyles.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RATIONALE: Reinforces the brand's promise of quality and practicality, appealing to the discerning tastes of the luxury plus premium market.</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D97C94F0-23E9-BD16-7CA3-2F16CA9078DB}"/>
              </a:ext>
            </a:extLst>
          </p:cNvPr>
          <p:cNvSpPr txBox="1"/>
          <p:nvPr/>
        </p:nvSpPr>
        <p:spPr>
          <a:xfrm>
            <a:off x="8684740" y="2496979"/>
            <a:ext cx="3507260" cy="2308324"/>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CULTURE: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French craftsmanship and luxury: Reflects the brand's heritage and association with high-quality craftsmanship.</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RATIONALE: Enhances the brand's prestige and exclusivity, resonating with the target audience's appreciation for luxury and tradition.</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FC79E35F-23BD-7BB1-C7F9-239A4D72A09F}"/>
              </a:ext>
            </a:extLst>
          </p:cNvPr>
          <p:cNvSpPr txBox="1"/>
          <p:nvPr/>
        </p:nvSpPr>
        <p:spPr>
          <a:xfrm>
            <a:off x="7342552" y="4794423"/>
            <a:ext cx="4849449" cy="2062103"/>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SELF-IMAGE: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a:p>
            <a:pPr>
              <a:tabLst>
                <a:tab pos="228600" algn="l"/>
                <a:tab pos="457200" algn="l"/>
                <a:tab pos="685800" algn="l"/>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Sophisticated, versatile, and practical: Represents the desired self-image of the target audience, reflecting their aspiration for refinement and functionality.</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a:p>
            <a:r>
              <a:rPr lang="en-CA" sz="1600" dirty="0">
                <a:effectLst/>
                <a:latin typeface="Arial" panose="020B0604020202020204" pitchFamily="34" charset="0"/>
                <a:ea typeface="Aptos" panose="020B0004020202020204" pitchFamily="34" charset="0"/>
              </a:rPr>
              <a:t>RATIONALE: Aligns with the premium plus luxury market's preference for products that embody sophistication while offering practical utility.</a:t>
            </a:r>
            <a:r>
              <a:rPr lang="en-CA" sz="1600" dirty="0">
                <a:effectLst/>
              </a:rPr>
              <a:t> </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4C5AD06A-B5B5-DC51-96DC-F2DD843CC2EA}"/>
              </a:ext>
            </a:extLst>
          </p:cNvPr>
          <p:cNvSpPr txBox="1"/>
          <p:nvPr/>
        </p:nvSpPr>
        <p:spPr>
          <a:xfrm>
            <a:off x="3704957" y="209183"/>
            <a:ext cx="4849450" cy="369332"/>
          </a:xfrm>
          <a:prstGeom prst="rect">
            <a:avLst/>
          </a:prstGeom>
          <a:solidFill>
            <a:schemeClr val="tx2">
              <a:lumMod val="25000"/>
              <a:lumOff val="75000"/>
            </a:schemeClr>
          </a:solidFill>
          <a:ln>
            <a:solidFill>
              <a:schemeClr val="accent1"/>
            </a:solidFill>
          </a:ln>
        </p:spPr>
        <p:txBody>
          <a:bodyPr wrap="square">
            <a:spAutoFit/>
          </a:bodyPr>
          <a:lstStyle/>
          <a:p>
            <a:pPr algn="ctr"/>
            <a:r>
              <a:rPr lang="en-CA" b="0" i="0" dirty="0">
                <a:solidFill>
                  <a:srgbClr val="1F1F1F"/>
                </a:solidFill>
                <a:effectLst/>
                <a:highlight>
                  <a:srgbClr val="FFFFFF"/>
                </a:highlight>
                <a:latin typeface="Google Sans"/>
              </a:rPr>
              <a:t>Le Pliage Brand Image</a:t>
            </a:r>
            <a:endParaRPr lang="en-US" dirty="0"/>
          </a:p>
        </p:txBody>
      </p:sp>
    </p:spTree>
    <p:extLst>
      <p:ext uri="{BB962C8B-B14F-4D97-AF65-F5344CB8AC3E}">
        <p14:creationId xmlns:p14="http://schemas.microsoft.com/office/powerpoint/2010/main" val="2447496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92DFE0-BE16-7E6A-3AF6-F871F200FC9B}"/>
              </a:ext>
            </a:extLst>
          </p:cNvPr>
          <p:cNvSpPr txBox="1"/>
          <p:nvPr/>
        </p:nvSpPr>
        <p:spPr>
          <a:xfrm>
            <a:off x="2162432" y="159258"/>
            <a:ext cx="9885405" cy="1323439"/>
          </a:xfrm>
          <a:prstGeom prst="rect">
            <a:avLst/>
          </a:prstGeom>
          <a:noFill/>
          <a:ln>
            <a:solidFill>
              <a:schemeClr val="accent1"/>
            </a:solidFill>
          </a:ln>
        </p:spPr>
        <p:txBody>
          <a:bodyPr wrap="square">
            <a:spAutoFit/>
          </a:bodyPr>
          <a:lstStyle/>
          <a:p>
            <a:pPr>
              <a:tabLst>
                <a:tab pos="914400" algn="l"/>
                <a:tab pos="1143000" algn="l"/>
                <a:tab pos="1371600" algn="l"/>
                <a:tab pos="1600200" algn="l"/>
                <a:tab pos="1828800" algn="l"/>
                <a:tab pos="2057400" algn="l"/>
                <a:tab pos="2286000" algn="l"/>
                <a:tab pos="2514600" algn="l"/>
                <a:tab pos="2743200" algn="l"/>
              </a:tabLst>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Product Assortment and Expansion: Given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positioning as a representation of enduring grace and usefulness, it is advised to make changes to the existing range of products to match the brand's positioning statement and business goals. The addition of new categories, such as women's ready-to-wear clothing and shoes, to the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Pliagebrand</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can capitalize on the brand's current value while also broadening its appeal to new groups of consumers. </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B6C3F33-F1B7-3D15-D3F0-259836ED7D34}"/>
              </a:ext>
            </a:extLst>
          </p:cNvPr>
          <p:cNvSpPr txBox="1"/>
          <p:nvPr/>
        </p:nvSpPr>
        <p:spPr>
          <a:xfrm>
            <a:off x="144163" y="296562"/>
            <a:ext cx="2014151" cy="646331"/>
          </a:xfrm>
          <a:prstGeom prst="rect">
            <a:avLst/>
          </a:prstGeom>
          <a:solidFill>
            <a:schemeClr val="tx2">
              <a:lumMod val="25000"/>
              <a:lumOff val="75000"/>
            </a:schemeClr>
          </a:solidFill>
          <a:ln>
            <a:solidFill>
              <a:schemeClr val="accent1"/>
            </a:solidFill>
          </a:ln>
        </p:spPr>
        <p:txBody>
          <a:bodyPr wrap="square" rtlCol="0">
            <a:spAutoFit/>
          </a:bodyPr>
          <a:lstStyle/>
          <a:p>
            <a:r>
              <a:rPr lang="en-CA" sz="1800" dirty="0">
                <a:effectLst/>
                <a:latin typeface="Arial" panose="020B0604020202020204" pitchFamily="34" charset="0"/>
                <a:ea typeface="Aptos" panose="020B0004020202020204" pitchFamily="34" charset="0"/>
              </a:rPr>
              <a:t>Current Le Pliage Assortment </a:t>
            </a:r>
            <a:endParaRPr lang="en-US" dirty="0"/>
          </a:p>
        </p:txBody>
      </p:sp>
      <p:sp>
        <p:nvSpPr>
          <p:cNvPr id="6" name="TextBox 5">
            <a:extLst>
              <a:ext uri="{FF2B5EF4-FFF2-40B4-BE49-F238E27FC236}">
                <a16:creationId xmlns:a16="http://schemas.microsoft.com/office/drawing/2014/main" id="{C97FAC0D-83C4-04BA-A679-4AD9E68A4144}"/>
              </a:ext>
            </a:extLst>
          </p:cNvPr>
          <p:cNvSpPr txBox="1"/>
          <p:nvPr/>
        </p:nvSpPr>
        <p:spPr>
          <a:xfrm>
            <a:off x="144163" y="1616564"/>
            <a:ext cx="11903674" cy="584775"/>
          </a:xfrm>
          <a:prstGeom prst="rect">
            <a:avLst/>
          </a:prstGeom>
          <a:solidFill>
            <a:schemeClr val="tx2">
              <a:lumMod val="25000"/>
              <a:lumOff val="75000"/>
            </a:schemeClr>
          </a:solidFill>
          <a:ln>
            <a:solidFill>
              <a:schemeClr val="accent1"/>
            </a:solidFill>
          </a:ln>
        </p:spPr>
        <p:txBody>
          <a:bodyPr wrap="square">
            <a:spAutoFit/>
          </a:bodyPr>
          <a:lstStyle/>
          <a:p>
            <a:pPr>
              <a:tabLst>
                <a:tab pos="914400" algn="l"/>
                <a:tab pos="1143000" algn="l"/>
                <a:tab pos="1371600" algn="l"/>
                <a:tab pos="1600200" algn="l"/>
                <a:tab pos="1828800" algn="l"/>
                <a:tab pos="2057400" algn="l"/>
                <a:tab pos="2286000" algn="l"/>
                <a:tab pos="2514600" algn="l"/>
                <a:tab pos="2743200" algn="l"/>
              </a:tabLst>
            </a:pPr>
            <a:r>
              <a:rPr lang="en-CA" sz="1600" kern="100" dirty="0">
                <a:latin typeface="Arial" panose="020B0604020202020204" pitchFamily="34" charset="0"/>
                <a:ea typeface="Aptos" panose="020B0004020202020204" pitchFamily="34" charset="0"/>
                <a:cs typeface="Times New Roman" panose="02020603050405020304" pitchFamily="18" charset="0"/>
              </a:rPr>
              <a:t>T</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he company should consider investigating licensing opportunities for complementing products such as fragrances and cosmetics. This could help to enhance the brand's lifestyle appeal further and generate additional sources of revenue.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3E38FE57-7A22-6621-7DA6-CA8092F34EA2}"/>
              </a:ext>
            </a:extLst>
          </p:cNvPr>
          <p:cNvSpPr txBox="1"/>
          <p:nvPr/>
        </p:nvSpPr>
        <p:spPr>
          <a:xfrm>
            <a:off x="144162" y="2335206"/>
            <a:ext cx="11903673" cy="1323439"/>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Pricing Strategy: Le Pliage needs to maintain competitive pricing that aligns with the perceived value of the product to keep its market position. The pricing should align with the brand's high-end stance while also being affordable for its intended demographic. It is important to thoroughly assess any changes to pricing to maintain alignment with the brand's perceived worth and the competitive market. Comparing prices between the Longchamp brand and other brands may not be meaningful due to the different positioning and target markets of each brand.</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838121E2-354B-7BFC-F250-30D7BF67D213}"/>
              </a:ext>
            </a:extLst>
          </p:cNvPr>
          <p:cNvSpPr txBox="1"/>
          <p:nvPr/>
        </p:nvSpPr>
        <p:spPr>
          <a:xfrm>
            <a:off x="144163" y="3792512"/>
            <a:ext cx="11903672" cy="338554"/>
          </a:xfrm>
          <a:prstGeom prst="rect">
            <a:avLst/>
          </a:prstGeom>
          <a:solidFill>
            <a:schemeClr val="tx2">
              <a:lumMod val="25000"/>
              <a:lumOff val="75000"/>
            </a:schemeClr>
          </a:solid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To effectively reach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target audience, it is crucial to have a varied combination of distribution venues.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5EB8E6FC-9AF8-E27B-05F5-40D03D9DFA6B}"/>
              </a:ext>
            </a:extLst>
          </p:cNvPr>
          <p:cNvSpPr txBox="1"/>
          <p:nvPr/>
        </p:nvSpPr>
        <p:spPr>
          <a:xfrm>
            <a:off x="2158314" y="4231166"/>
            <a:ext cx="8093675" cy="2554545"/>
          </a:xfrm>
          <a:prstGeom prst="rect">
            <a:avLst/>
          </a:prstGeom>
          <a:noFill/>
          <a:ln>
            <a:solidFill>
              <a:schemeClr val="accent1"/>
            </a:solidFill>
          </a:ln>
        </p:spPr>
        <p:txBody>
          <a:bodyPr wrap="square">
            <a:spAutoFit/>
          </a:bodyPr>
          <a:lstStyle/>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Maintain presence in Longchamp stores to enhance visibility and association with luxury.</a:t>
            </a:r>
            <a:endParaRPr lang="en-CA"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Collaborate with high-end retailers like Nordstrom, Saks, and Holt Renfrew to expand exposure to affluent consumers.</a:t>
            </a:r>
            <a:endParaRPr lang="en-CA"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Establish independent Le Pliage boutiques in key urban areas for heightened brand engagement and specialized retail experience.</a:t>
            </a:r>
            <a:endParaRPr lang="en-CA"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Utilize outlet stores to attract cost-conscious consumers without compromising brand reputation.</a:t>
            </a:r>
            <a:endParaRPr lang="en-CA"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kern="100" dirty="0">
                <a:effectLst/>
                <a:latin typeface="Arial" panose="020B0604020202020204" pitchFamily="34" charset="0"/>
                <a:ea typeface="Aptos" panose="020B0004020202020204" pitchFamily="34" charset="0"/>
                <a:cs typeface="Times New Roman" panose="02020603050405020304" pitchFamily="18" charset="0"/>
              </a:rPr>
              <a:t>Yes they should expand direct-to-consumer e-commerce channel to meet demands of modern consumers valuing convenience.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2700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5D514C-D447-C329-A1C4-DEBBB951FD14}"/>
              </a:ext>
            </a:extLst>
          </p:cNvPr>
          <p:cNvSpPr txBox="1"/>
          <p:nvPr/>
        </p:nvSpPr>
        <p:spPr>
          <a:xfrm>
            <a:off x="166816" y="48566"/>
            <a:ext cx="11858368" cy="646331"/>
          </a:xfrm>
          <a:prstGeom prst="rect">
            <a:avLst/>
          </a:prstGeom>
          <a:solidFill>
            <a:schemeClr val="tx2">
              <a:lumMod val="25000"/>
              <a:lumOff val="75000"/>
            </a:schemeClr>
          </a:solidFill>
          <a:ln>
            <a:solidFill>
              <a:schemeClr val="accent1"/>
            </a:solidFill>
          </a:ln>
        </p:spPr>
        <p:txBody>
          <a:bodyPr wrap="square">
            <a:spAutoFit/>
          </a:bodyPr>
          <a:lstStyle/>
          <a:p>
            <a:r>
              <a:rPr lang="en-CA" sz="1800" dirty="0">
                <a:effectLst/>
                <a:latin typeface="Arial" panose="020B0604020202020204" pitchFamily="34" charset="0"/>
                <a:ea typeface="Aptos" panose="020B0004020202020204" pitchFamily="34" charset="0"/>
              </a:rPr>
              <a:t>The choice to keep and maximize the present product selection in the current marketplace is supported by the brand's solid footing and reputation, which ensures loyal customers and market presence</a:t>
            </a:r>
            <a:r>
              <a:rPr lang="en-CA" dirty="0">
                <a:effectLst/>
              </a:rPr>
              <a:t> </a:t>
            </a:r>
            <a:endParaRPr lang="en-US" dirty="0"/>
          </a:p>
        </p:txBody>
      </p:sp>
      <p:pic>
        <p:nvPicPr>
          <p:cNvPr id="5" name="Picture 4" descr="A blue and black text on a white background&#10;&#10;Description automatically generated">
            <a:extLst>
              <a:ext uri="{FF2B5EF4-FFF2-40B4-BE49-F238E27FC236}">
                <a16:creationId xmlns:a16="http://schemas.microsoft.com/office/drawing/2014/main" id="{A64E39FD-20B3-57F7-E6ED-62A01BD6A9CC}"/>
              </a:ext>
            </a:extLst>
          </p:cNvPr>
          <p:cNvPicPr>
            <a:picLocks noChangeAspect="1"/>
          </p:cNvPicPr>
          <p:nvPr/>
        </p:nvPicPr>
        <p:blipFill>
          <a:blip r:embed="rId2"/>
          <a:stretch>
            <a:fillRect/>
          </a:stretch>
        </p:blipFill>
        <p:spPr>
          <a:xfrm>
            <a:off x="2008574" y="914109"/>
            <a:ext cx="7772400" cy="2846230"/>
          </a:xfrm>
          <a:prstGeom prst="rect">
            <a:avLst/>
          </a:prstGeom>
        </p:spPr>
      </p:pic>
      <p:sp>
        <p:nvSpPr>
          <p:cNvPr id="7" name="TextBox 6">
            <a:extLst>
              <a:ext uri="{FF2B5EF4-FFF2-40B4-BE49-F238E27FC236}">
                <a16:creationId xmlns:a16="http://schemas.microsoft.com/office/drawing/2014/main" id="{0739ED28-538A-4B02-7807-4C74DC43E47A}"/>
              </a:ext>
            </a:extLst>
          </p:cNvPr>
          <p:cNvSpPr txBox="1"/>
          <p:nvPr/>
        </p:nvSpPr>
        <p:spPr>
          <a:xfrm>
            <a:off x="1075039" y="3979551"/>
            <a:ext cx="9832889" cy="1815882"/>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Introducing new merchandise categories, such as ready-to-wear clothes and shoes, fits in with Le </a:t>
            </a:r>
            <a:r>
              <a:rPr lang="en-CA" sz="1600" kern="100" dirty="0" err="1">
                <a:effectLst/>
                <a:latin typeface="Arial" panose="020B0604020202020204" pitchFamily="34" charset="0"/>
                <a:ea typeface="Aptos" panose="020B0004020202020204" pitchFamily="34" charset="0"/>
                <a:cs typeface="Times New Roman" panose="02020603050405020304" pitchFamily="18" charset="0"/>
              </a:rPr>
              <a:t>Pliage's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brand identity of practical magnificence and provides prospects for increased market penetration and income. Investigating licensing options for complementary items leverages the brand's lifestyle appeal and can produce additional income streams without requiring important investment in product development. Growing the direct-to-consumer e-commerce channel to reach new market segments reacts to changing consumer preferences for online shopping convenience and allows access to previously untapped customer populations, resulting in market expansion and brand awareness.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69940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9B7AAD-2438-83B4-31B0-1F9BA9B64DA2}"/>
              </a:ext>
            </a:extLst>
          </p:cNvPr>
          <p:cNvSpPr txBox="1"/>
          <p:nvPr/>
        </p:nvSpPr>
        <p:spPr>
          <a:xfrm>
            <a:off x="152400" y="122706"/>
            <a:ext cx="11689492" cy="584775"/>
          </a:xfrm>
          <a:prstGeom prst="rect">
            <a:avLst/>
          </a:prstGeom>
          <a:solidFill>
            <a:schemeClr val="tx2">
              <a:lumMod val="25000"/>
              <a:lumOff val="75000"/>
            </a:schemeClr>
          </a:solid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In crafting an integrated marketing strategy for Le Pliage, several key decisions were made to ensure alignment with the </a:t>
            </a:r>
            <a:r>
              <a:rPr lang="en-CA" sz="1600" b="1" kern="100" dirty="0">
                <a:effectLst/>
                <a:latin typeface="Arial" panose="020B0604020202020204" pitchFamily="34" charset="0"/>
                <a:ea typeface="Aptos" panose="020B0004020202020204" pitchFamily="34" charset="0"/>
                <a:cs typeface="Times New Roman" panose="02020603050405020304" pitchFamily="18" charset="0"/>
              </a:rPr>
              <a:t>luxury plus premium target market</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and the brand's positioning. </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4B04271-74B5-A7A0-0964-0A7B8F9B2CF1}"/>
              </a:ext>
            </a:extLst>
          </p:cNvPr>
          <p:cNvSpPr txBox="1"/>
          <p:nvPr/>
        </p:nvSpPr>
        <p:spPr>
          <a:xfrm>
            <a:off x="209034" y="889685"/>
            <a:ext cx="3245708" cy="2308324"/>
          </a:xfrm>
          <a:prstGeom prst="rect">
            <a:avLst/>
          </a:prstGeom>
          <a:noFill/>
          <a:ln>
            <a:solidFill>
              <a:schemeClr val="accent1"/>
            </a:solidFill>
          </a:ln>
        </p:spPr>
        <p:txBody>
          <a:bodyPr wrap="square" rtlCol="0">
            <a:spAutoFit/>
          </a:bodyPr>
          <a:lstStyle/>
          <a:p>
            <a:r>
              <a:rPr lang="en-CA" sz="1600" dirty="0">
                <a:latin typeface="Arial" panose="020B0604020202020204" pitchFamily="34" charset="0"/>
                <a:ea typeface="Aptos" panose="020B0004020202020204" pitchFamily="34" charset="0"/>
              </a:rPr>
              <a:t>T</a:t>
            </a:r>
            <a:r>
              <a:rPr lang="en-CA" sz="1600" dirty="0">
                <a:effectLst/>
                <a:latin typeface="Arial" panose="020B0604020202020204" pitchFamily="34" charset="0"/>
                <a:ea typeface="Aptos" panose="020B0004020202020204" pitchFamily="34" charset="0"/>
              </a:rPr>
              <a:t>he selection of </a:t>
            </a:r>
            <a:r>
              <a:rPr lang="en-CA" sz="1600" b="1" dirty="0">
                <a:effectLst/>
                <a:latin typeface="Arial" panose="020B0604020202020204" pitchFamily="34" charset="0"/>
                <a:ea typeface="Aptos" panose="020B0004020202020204" pitchFamily="34" charset="0"/>
              </a:rPr>
              <a:t>psychographic segmentation</a:t>
            </a:r>
            <a:r>
              <a:rPr lang="en-CA" sz="1600" dirty="0">
                <a:effectLst/>
                <a:latin typeface="Arial" panose="020B0604020202020204" pitchFamily="34" charset="0"/>
                <a:ea typeface="Aptos" panose="020B0004020202020204" pitchFamily="34" charset="0"/>
              </a:rPr>
              <a:t> as the primary targeting approach allowed for a nuanced understanding of consumer preferences and lifestyles, ensuring Le Pliage resonates with the desired audience seeking both functionality and fashion</a:t>
            </a:r>
            <a:r>
              <a:rPr lang="en-CA" sz="1600" dirty="0">
                <a:effectLst/>
              </a:rPr>
              <a:t> </a:t>
            </a:r>
            <a:endParaRPr lang="en-US" sz="1600" dirty="0"/>
          </a:p>
        </p:txBody>
      </p:sp>
      <p:sp>
        <p:nvSpPr>
          <p:cNvPr id="6" name="TextBox 5">
            <a:extLst>
              <a:ext uri="{FF2B5EF4-FFF2-40B4-BE49-F238E27FC236}">
                <a16:creationId xmlns:a16="http://schemas.microsoft.com/office/drawing/2014/main" id="{3CCC4907-CC41-8131-9691-A29C111A43CB}"/>
              </a:ext>
            </a:extLst>
          </p:cNvPr>
          <p:cNvSpPr txBox="1"/>
          <p:nvPr/>
        </p:nvSpPr>
        <p:spPr>
          <a:xfrm>
            <a:off x="3742039" y="877327"/>
            <a:ext cx="4263081" cy="2308324"/>
          </a:xfrm>
          <a:prstGeom prst="rect">
            <a:avLst/>
          </a:prstGeom>
          <a:noFill/>
          <a:ln>
            <a:solidFill>
              <a:schemeClr val="accent1"/>
            </a:solidFill>
          </a:ln>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The chosen positioning, emphasizing the key benefit of </a:t>
            </a:r>
            <a:r>
              <a:rPr lang="en-CA" sz="1600" b="1" kern="100" dirty="0">
                <a:effectLst/>
                <a:latin typeface="Arial" panose="020B0604020202020204" pitchFamily="34" charset="0"/>
                <a:ea typeface="Aptos" panose="020B0004020202020204" pitchFamily="34" charset="0"/>
                <a:cs typeface="Times New Roman" panose="02020603050405020304" pitchFamily="18" charset="0"/>
              </a:rPr>
              <a:t>functionality and fashion</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positions Le Pliage as a versatile and stylish companion for individuals navigating various aspects of their lives with ease and elegance. This decision is supported by the brand's association with timeless elegance, practicality, and French luxury craftsmanship, enhancing its appeal to the target audience.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654F2184-A42F-536F-DB70-90B7963C8BBD}"/>
              </a:ext>
            </a:extLst>
          </p:cNvPr>
          <p:cNvSpPr txBox="1"/>
          <p:nvPr/>
        </p:nvSpPr>
        <p:spPr>
          <a:xfrm>
            <a:off x="8292417" y="855917"/>
            <a:ext cx="3046970" cy="2308324"/>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To further bolster brand image and market presence, Le Pliage will pursue a </a:t>
            </a:r>
            <a:r>
              <a:rPr lang="en-CA" sz="1600" b="1" kern="100" dirty="0">
                <a:effectLst/>
                <a:latin typeface="Arial" panose="020B0604020202020204" pitchFamily="34" charset="0"/>
                <a:ea typeface="Aptos" panose="020B0004020202020204" pitchFamily="34" charset="0"/>
                <a:cs typeface="Times New Roman" panose="02020603050405020304" pitchFamily="18" charset="0"/>
              </a:rPr>
              <a:t>house of brands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brand architecture strategy, providing the brand with independence and flexibility while maintaining consistency in brand values and customer perceptions.</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DF66082E-2CCA-F19A-6AB8-ED586C9F7539}"/>
              </a:ext>
            </a:extLst>
          </p:cNvPr>
          <p:cNvSpPr txBox="1"/>
          <p:nvPr/>
        </p:nvSpPr>
        <p:spPr>
          <a:xfrm>
            <a:off x="744494" y="3312677"/>
            <a:ext cx="3645246" cy="2062103"/>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Expanding distribution channels through collaborations with </a:t>
            </a:r>
            <a:r>
              <a:rPr lang="en-CA" sz="1600" b="1" kern="100" dirty="0">
                <a:effectLst/>
                <a:latin typeface="Arial" panose="020B0604020202020204" pitchFamily="34" charset="0"/>
                <a:ea typeface="Aptos" panose="020B0004020202020204" pitchFamily="34" charset="0"/>
                <a:cs typeface="Times New Roman" panose="02020603050405020304" pitchFamily="18" charset="0"/>
              </a:rPr>
              <a:t>high-end retailers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establishing independent boutiques, and strengthening the e-commerce channel ensures accessibility to the target market across various touchpoints, enhancing brand visibility and engagement.</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30447206-D2BD-AA4E-505C-7852FBB3E4B4}"/>
              </a:ext>
            </a:extLst>
          </p:cNvPr>
          <p:cNvSpPr txBox="1"/>
          <p:nvPr/>
        </p:nvSpPr>
        <p:spPr>
          <a:xfrm>
            <a:off x="4730580" y="3329603"/>
            <a:ext cx="3135523" cy="2062103"/>
          </a:xfrm>
          <a:prstGeom prst="rect">
            <a:avLst/>
          </a:prstGeom>
          <a:noFill/>
          <a:ln>
            <a:solidFill>
              <a:schemeClr val="accent1"/>
            </a:solidFill>
          </a:ln>
        </p:spPr>
        <p:txBody>
          <a:bodyPr wrap="square">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The decision to explore </a:t>
            </a:r>
            <a:r>
              <a:rPr lang="en-CA" sz="1600" b="1" kern="100" dirty="0">
                <a:effectLst/>
                <a:latin typeface="Arial" panose="020B0604020202020204" pitchFamily="34" charset="0"/>
                <a:ea typeface="Aptos" panose="020B0004020202020204" pitchFamily="34" charset="0"/>
                <a:cs typeface="Times New Roman" panose="02020603050405020304" pitchFamily="18" charset="0"/>
              </a:rPr>
              <a:t>new product categories</a:t>
            </a:r>
            <a:r>
              <a:rPr lang="en-CA" sz="1600" kern="100" dirty="0">
                <a:effectLst/>
                <a:latin typeface="Arial" panose="020B0604020202020204" pitchFamily="34" charset="0"/>
                <a:ea typeface="Aptos" panose="020B0004020202020204" pitchFamily="34" charset="0"/>
                <a:cs typeface="Times New Roman" panose="02020603050405020304" pitchFamily="18" charset="0"/>
              </a:rPr>
              <a:t> like ready-to-wear clothing and shoes under the Le Pliage brand extends the brand's offerings while staying true to its core values of practical elegance and quality craftsmanship.</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C6F5E2DB-F6FB-45F7-0861-3A40F0EB4E8E}"/>
              </a:ext>
            </a:extLst>
          </p:cNvPr>
          <p:cNvSpPr txBox="1"/>
          <p:nvPr/>
        </p:nvSpPr>
        <p:spPr>
          <a:xfrm>
            <a:off x="8034983" y="3326100"/>
            <a:ext cx="3304403" cy="2062103"/>
          </a:xfrm>
          <a:prstGeom prst="rect">
            <a:avLst/>
          </a:prstGeom>
          <a:noFill/>
          <a:ln>
            <a:solidFill>
              <a:schemeClr val="accent1"/>
            </a:solidFill>
          </a:ln>
        </p:spPr>
        <p:txBody>
          <a:bodyPr wrap="square">
            <a:spAutoFit/>
          </a:bodyPr>
          <a:lstStyle/>
          <a:p>
            <a:r>
              <a:rPr lang="en-CA" sz="1600" dirty="0">
                <a:effectLst/>
                <a:latin typeface="Arial" panose="020B0604020202020204" pitchFamily="34" charset="0"/>
                <a:ea typeface="Aptos" panose="020B0004020202020204" pitchFamily="34" charset="0"/>
              </a:rPr>
              <a:t>leveraging licensing opportunities for complementary products and </a:t>
            </a:r>
            <a:r>
              <a:rPr lang="en-CA" sz="1600" b="1" dirty="0">
                <a:effectLst/>
                <a:latin typeface="Arial" panose="020B0604020202020204" pitchFamily="34" charset="0"/>
                <a:ea typeface="Aptos" panose="020B0004020202020204" pitchFamily="34" charset="0"/>
              </a:rPr>
              <a:t>expanding the direct-to-consumer e-commerce </a:t>
            </a:r>
            <a:r>
              <a:rPr lang="en-CA" sz="1600" dirty="0">
                <a:effectLst/>
                <a:latin typeface="Arial" panose="020B0604020202020204" pitchFamily="34" charset="0"/>
                <a:ea typeface="Aptos" panose="020B0004020202020204" pitchFamily="34" charset="0"/>
              </a:rPr>
              <a:t>channel cater to evolving consumer preferences and provide avenues for revenue growth and market expansion.</a:t>
            </a:r>
            <a:r>
              <a:rPr lang="en-CA" sz="1600" dirty="0">
                <a:effectLst/>
              </a:rPr>
              <a:t> </a:t>
            </a:r>
            <a:endParaRPr lang="en-US" sz="1600" dirty="0"/>
          </a:p>
        </p:txBody>
      </p:sp>
      <p:sp>
        <p:nvSpPr>
          <p:cNvPr id="17" name="TextBox 16">
            <a:extLst>
              <a:ext uri="{FF2B5EF4-FFF2-40B4-BE49-F238E27FC236}">
                <a16:creationId xmlns:a16="http://schemas.microsoft.com/office/drawing/2014/main" id="{15D3B2BE-A88B-9D3C-014B-81D44B96EA3A}"/>
              </a:ext>
            </a:extLst>
          </p:cNvPr>
          <p:cNvSpPr txBox="1"/>
          <p:nvPr/>
        </p:nvSpPr>
        <p:spPr>
          <a:xfrm>
            <a:off x="152400" y="6034697"/>
            <a:ext cx="11863517" cy="584775"/>
          </a:xfrm>
          <a:prstGeom prst="rect">
            <a:avLst/>
          </a:prstGeom>
          <a:solidFill>
            <a:schemeClr val="tx2">
              <a:lumMod val="25000"/>
              <a:lumOff val="75000"/>
            </a:schemeClr>
          </a:solidFill>
          <a:ln>
            <a:solidFill>
              <a:schemeClr val="accent1"/>
            </a:solidFill>
          </a:ln>
        </p:spPr>
        <p:txBody>
          <a:bodyPr wrap="square" rtlCol="0">
            <a:spAutoFit/>
          </a:bodyPr>
          <a:lstStyle/>
          <a:p>
            <a:r>
              <a:rPr lang="en-CA" sz="1600" kern="100" dirty="0">
                <a:effectLst/>
                <a:latin typeface="Arial" panose="020B0604020202020204" pitchFamily="34" charset="0"/>
                <a:ea typeface="Aptos" panose="020B0004020202020204" pitchFamily="34" charset="0"/>
                <a:cs typeface="Times New Roman" panose="02020603050405020304" pitchFamily="18" charset="0"/>
              </a:rPr>
              <a:t>Collectively, these decisions form a cohesive and integrated marketing strategy for Le Pliage, aligning with its target market, positioning, and brand values to drive growth and strengthen brand equity in the luxury fashion landscape.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68007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rectangular grid with black text&#10;&#10;Description automatically generated">
            <a:extLst>
              <a:ext uri="{FF2B5EF4-FFF2-40B4-BE49-F238E27FC236}">
                <a16:creationId xmlns:a16="http://schemas.microsoft.com/office/drawing/2014/main" id="{882D5783-EBB5-D4B0-3FB0-675182704509}"/>
              </a:ext>
            </a:extLst>
          </p:cNvPr>
          <p:cNvPicPr>
            <a:picLocks noChangeAspect="1"/>
          </p:cNvPicPr>
          <p:nvPr/>
        </p:nvPicPr>
        <p:blipFill>
          <a:blip r:embed="rId2"/>
          <a:stretch>
            <a:fillRect/>
          </a:stretch>
        </p:blipFill>
        <p:spPr>
          <a:xfrm>
            <a:off x="986416" y="483796"/>
            <a:ext cx="10035811" cy="5082685"/>
          </a:xfrm>
          <a:prstGeom prst="rect">
            <a:avLst/>
          </a:prstGeom>
        </p:spPr>
      </p:pic>
      <p:sp>
        <p:nvSpPr>
          <p:cNvPr id="5" name="TextBox 4">
            <a:extLst>
              <a:ext uri="{FF2B5EF4-FFF2-40B4-BE49-F238E27FC236}">
                <a16:creationId xmlns:a16="http://schemas.microsoft.com/office/drawing/2014/main" id="{5A729C5B-D558-9B59-3F9D-96FB5F873DFC}"/>
              </a:ext>
            </a:extLst>
          </p:cNvPr>
          <p:cNvSpPr txBox="1"/>
          <p:nvPr/>
        </p:nvSpPr>
        <p:spPr>
          <a:xfrm>
            <a:off x="127685" y="5566481"/>
            <a:ext cx="11936627" cy="1200329"/>
          </a:xfrm>
          <a:prstGeom prst="rect">
            <a:avLst/>
          </a:prstGeom>
          <a:solidFill>
            <a:schemeClr val="tx2">
              <a:lumMod val="25000"/>
              <a:lumOff val="75000"/>
            </a:schemeClr>
          </a:solidFill>
          <a:ln>
            <a:solidFill>
              <a:schemeClr val="accent1"/>
            </a:solidFill>
          </a:ln>
        </p:spPr>
        <p:txBody>
          <a:bodyPr wrap="square">
            <a:spAutoFit/>
          </a:bodyPr>
          <a:lstStyle/>
          <a:p>
            <a:r>
              <a:rPr lang="en-CA" sz="1200" dirty="0">
                <a:effectLst/>
              </a:rPr>
              <a:t>The assessment using the VRIO framework indicates that Longchamp possesses several valuable and rare resources and capabilities, providing a foundation for competitive advantage. Brand reputation, product design and innovation, distribution network, and brand loyalty are all identified as valuable and rare assets that contribute to Longchamp's market position and profitability. These resources are difficult to imitate, given the organization's investment, expertise, and established systems in place to maintain and enhance them. Longchamp is organized to exploit these resources effectively, evident in its commitment to research and development, strategic partnerships, and customer-centric practices. While product quality is valuable, it is not rare, posing a challenge to sustain a competitive advantage solely based on this criterion. Overall, Longchamp's strengths in brand reputation, innovation, distribution, and customer loyalty position it well in the market and support its continued success and growth.</a:t>
            </a:r>
          </a:p>
        </p:txBody>
      </p:sp>
      <p:sp>
        <p:nvSpPr>
          <p:cNvPr id="6" name="TextBox 5">
            <a:extLst>
              <a:ext uri="{FF2B5EF4-FFF2-40B4-BE49-F238E27FC236}">
                <a16:creationId xmlns:a16="http://schemas.microsoft.com/office/drawing/2014/main" id="{23BB3FDB-9561-049F-42A4-B0B42C636234}"/>
              </a:ext>
            </a:extLst>
          </p:cNvPr>
          <p:cNvSpPr txBox="1"/>
          <p:nvPr/>
        </p:nvSpPr>
        <p:spPr>
          <a:xfrm>
            <a:off x="3150972" y="91190"/>
            <a:ext cx="5066271" cy="369332"/>
          </a:xfrm>
          <a:prstGeom prst="rect">
            <a:avLst/>
          </a:prstGeom>
          <a:solidFill>
            <a:schemeClr val="tx2">
              <a:lumMod val="25000"/>
              <a:lumOff val="75000"/>
            </a:schemeClr>
          </a:solidFill>
          <a:ln>
            <a:solidFill>
              <a:schemeClr val="accent1"/>
            </a:solidFill>
          </a:ln>
        </p:spPr>
        <p:txBody>
          <a:bodyPr wrap="square" rtlCol="0">
            <a:spAutoFit/>
          </a:bodyPr>
          <a:lstStyle/>
          <a:p>
            <a:pPr algn="ctr"/>
            <a:r>
              <a:rPr lang="en-US" dirty="0"/>
              <a:t>APPENDIX I: VIRO ANALYSIS</a:t>
            </a:r>
          </a:p>
        </p:txBody>
      </p:sp>
    </p:spTree>
    <p:extLst>
      <p:ext uri="{BB962C8B-B14F-4D97-AF65-F5344CB8AC3E}">
        <p14:creationId xmlns:p14="http://schemas.microsoft.com/office/powerpoint/2010/main" val="1301455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7FB4BD-BA97-CDF6-A115-3FE1FE39FE64}"/>
              </a:ext>
            </a:extLst>
          </p:cNvPr>
          <p:cNvSpPr txBox="1"/>
          <p:nvPr/>
        </p:nvSpPr>
        <p:spPr>
          <a:xfrm>
            <a:off x="208005" y="5358877"/>
            <a:ext cx="11775990" cy="1323439"/>
          </a:xfrm>
          <a:prstGeom prst="rect">
            <a:avLst/>
          </a:prstGeom>
          <a:solidFill>
            <a:schemeClr val="tx2">
              <a:lumMod val="25000"/>
              <a:lumOff val="75000"/>
            </a:schemeClr>
          </a:solidFill>
          <a:ln>
            <a:solidFill>
              <a:schemeClr val="accent1"/>
            </a:solidFill>
          </a:ln>
        </p:spPr>
        <p:txBody>
          <a:bodyPr wrap="square">
            <a:spAutoFit/>
          </a:bodyPr>
          <a:lstStyle/>
          <a:p>
            <a:r>
              <a:rPr lang="en-US" sz="1600" dirty="0"/>
              <a:t>Yes, based on the analysis provided, the market appears to be moderately attractive. While there are some challenges such as intense competitive rivalry, moderate bargaining power of buyers (both consumers and retailers), and threats from substitutes and new entrants, there are also positive factors such as low bargaining power of suppliers and Le Pliage's unique design and iconic status, which mitigate some of the negative impacts. Overall, the market's attractiveness is influenced by a balance of both positive and negative factors, making it moderately attractive.</a:t>
            </a:r>
          </a:p>
        </p:txBody>
      </p:sp>
      <p:pic>
        <p:nvPicPr>
          <p:cNvPr id="5" name="Picture 4" descr="A table of strength and strength&#10;&#10;Description automatically generated">
            <a:extLst>
              <a:ext uri="{FF2B5EF4-FFF2-40B4-BE49-F238E27FC236}">
                <a16:creationId xmlns:a16="http://schemas.microsoft.com/office/drawing/2014/main" id="{92CA6728-29AE-9D8F-24A6-79598CC85226}"/>
              </a:ext>
            </a:extLst>
          </p:cNvPr>
          <p:cNvPicPr>
            <a:picLocks noChangeAspect="1"/>
          </p:cNvPicPr>
          <p:nvPr/>
        </p:nvPicPr>
        <p:blipFill>
          <a:blip r:embed="rId2"/>
          <a:stretch>
            <a:fillRect/>
          </a:stretch>
        </p:blipFill>
        <p:spPr>
          <a:xfrm>
            <a:off x="208005" y="658663"/>
            <a:ext cx="11599501" cy="4700214"/>
          </a:xfrm>
          <a:prstGeom prst="rect">
            <a:avLst/>
          </a:prstGeom>
        </p:spPr>
      </p:pic>
      <p:sp>
        <p:nvSpPr>
          <p:cNvPr id="6" name="TextBox 5">
            <a:extLst>
              <a:ext uri="{FF2B5EF4-FFF2-40B4-BE49-F238E27FC236}">
                <a16:creationId xmlns:a16="http://schemas.microsoft.com/office/drawing/2014/main" id="{82D40211-5D1C-8EC0-3FB1-3F2DE5B639DF}"/>
              </a:ext>
            </a:extLst>
          </p:cNvPr>
          <p:cNvSpPr txBox="1"/>
          <p:nvPr/>
        </p:nvSpPr>
        <p:spPr>
          <a:xfrm>
            <a:off x="3150972" y="289331"/>
            <a:ext cx="5066271" cy="369332"/>
          </a:xfrm>
          <a:prstGeom prst="rect">
            <a:avLst/>
          </a:prstGeom>
          <a:solidFill>
            <a:schemeClr val="tx2">
              <a:lumMod val="25000"/>
              <a:lumOff val="75000"/>
            </a:schemeClr>
          </a:solidFill>
          <a:ln>
            <a:solidFill>
              <a:schemeClr val="accent1"/>
            </a:solidFill>
          </a:ln>
        </p:spPr>
        <p:txBody>
          <a:bodyPr wrap="square" rtlCol="0">
            <a:spAutoFit/>
          </a:bodyPr>
          <a:lstStyle/>
          <a:p>
            <a:pPr algn="ctr"/>
            <a:r>
              <a:rPr lang="en-US" dirty="0"/>
              <a:t>APPENDIX II: PORTER’S 6 FORCES ANALYSIS</a:t>
            </a:r>
          </a:p>
        </p:txBody>
      </p:sp>
    </p:spTree>
    <p:extLst>
      <p:ext uri="{BB962C8B-B14F-4D97-AF65-F5344CB8AC3E}">
        <p14:creationId xmlns:p14="http://schemas.microsoft.com/office/powerpoint/2010/main" val="28346007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601</TotalTime>
  <Words>5456</Words>
  <Application>Microsoft Macintosh PowerPoint</Application>
  <PresentationFormat>Widescreen</PresentationFormat>
  <Paragraphs>153</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Aptos Display</vt:lpstr>
      <vt:lpstr>Arial</vt:lpstr>
      <vt:lpstr>Calibri</vt:lpstr>
      <vt:lpstr>Google Sans</vt:lpstr>
      <vt:lpstr>Söhne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Shreya Punj</dc:creator>
  <cp:lastModifiedBy>shreya Punj</cp:lastModifiedBy>
  <cp:revision>4</cp:revision>
  <dcterms:created xsi:type="dcterms:W3CDTF">2024-04-15T15:57:10Z</dcterms:created>
  <dcterms:modified xsi:type="dcterms:W3CDTF">2025-12-10T20:50:13Z</dcterms:modified>
</cp:coreProperties>
</file>