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Darker Grotesque Medium"/>
      <p:regular r:id="rId38"/>
      <p:bold r:id="rId39"/>
    </p:embeddedFont>
    <p:embeddedFont>
      <p:font typeface="Akatab"/>
      <p:regular r:id="rId40"/>
      <p:bold r:id="rId41"/>
    </p:embeddedFont>
    <p:embeddedFont>
      <p:font typeface="Urbanist"/>
      <p:regular r:id="rId42"/>
      <p:bold r:id="rId43"/>
      <p:italic r:id="rId44"/>
      <p:boldItalic r:id="rId45"/>
    </p:embeddedFont>
    <p:embeddedFont>
      <p:font typeface="Noto Serif Ethiopic"/>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11376D4-CDA5-4171-808B-EA74BF3B8EAD}">
  <a:tblStyle styleId="{911376D4-CDA5-4171-808B-EA74BF3B8EA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katab-regular.fntdata"/><Relationship Id="rId20" Type="http://schemas.openxmlformats.org/officeDocument/2006/relationships/slide" Target="slides/slide14.xml"/><Relationship Id="rId42" Type="http://schemas.openxmlformats.org/officeDocument/2006/relationships/font" Target="fonts/Urbanist-regular.fntdata"/><Relationship Id="rId41" Type="http://schemas.openxmlformats.org/officeDocument/2006/relationships/font" Target="fonts/Akatab-bold.fntdata"/><Relationship Id="rId22" Type="http://schemas.openxmlformats.org/officeDocument/2006/relationships/slide" Target="slides/slide16.xml"/><Relationship Id="rId44" Type="http://schemas.openxmlformats.org/officeDocument/2006/relationships/font" Target="fonts/Urbanist-italic.fntdata"/><Relationship Id="rId21" Type="http://schemas.openxmlformats.org/officeDocument/2006/relationships/slide" Target="slides/slide15.xml"/><Relationship Id="rId43" Type="http://schemas.openxmlformats.org/officeDocument/2006/relationships/font" Target="fonts/Urbanist-bold.fntdata"/><Relationship Id="rId24" Type="http://schemas.openxmlformats.org/officeDocument/2006/relationships/slide" Target="slides/slide18.xml"/><Relationship Id="rId46" Type="http://schemas.openxmlformats.org/officeDocument/2006/relationships/font" Target="fonts/NotoSerifEthiopic-regular.fntdata"/><Relationship Id="rId23" Type="http://schemas.openxmlformats.org/officeDocument/2006/relationships/slide" Target="slides/slide17.xml"/><Relationship Id="rId45" Type="http://schemas.openxmlformats.org/officeDocument/2006/relationships/font" Target="fonts/Urbanis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font" Target="fonts/NotoSerifEthiopic-bold.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DarkerGrotesqueMedium-bold.fntdata"/><Relationship Id="rId16" Type="http://schemas.openxmlformats.org/officeDocument/2006/relationships/slide" Target="slides/slide10.xml"/><Relationship Id="rId38" Type="http://schemas.openxmlformats.org/officeDocument/2006/relationships/font" Target="fonts/DarkerGrotesqueMedium-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5a5b4480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5a5b44800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8bd1fb5de5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8bd1fb5de5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8bd1fb5de5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8bd1fb5de5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249e4902c1d5ee5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249e4902c1d5ee5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8bd1fb5de5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8bd1fb5de5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8c050641fa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8c050641f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cda9adccbb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cda9adccb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cda9adccb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cda9adccb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8c050641fa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8c050641fa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8c050641f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8c050641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8d02203d7c_0_1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8d02203d7c_0_1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cd813bc6a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cd813bc6a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cd813bc6a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cd813bc6a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8c050641fa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8c050641fa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8d02203d7c_0_1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8d02203d7c_0_1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8c050641fa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8c050641fa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cdc044284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cdc044284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cd813bc6a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cd813bc6a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8c050641fa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8c050641fa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cd813bc6a3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2cd813bc6a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8cbb03f6cb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28cbb03f6c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8cbb03f6c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8cbb03f6c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7e0428b6f960c4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7e0428b6f960c4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d6a49094477b16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d6a49094477b16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28d02203d7c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28d02203d7c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8d02203d7c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28d02203d7c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cdc044284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cdc044284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cdc044284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2cdc044284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8d2747529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28d2747529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28d27475291_0_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28d27475291_0_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617049bb33bb4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617049bb33bb4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171450" y="145800"/>
            <a:ext cx="8801100" cy="4851900"/>
          </a:xfrm>
          <a:prstGeom prst="rect">
            <a:avLst/>
          </a:pr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txBox="1"/>
          <p:nvPr>
            <p:ph type="ctrTitle"/>
          </p:nvPr>
        </p:nvSpPr>
        <p:spPr>
          <a:xfrm>
            <a:off x="2472675" y="1450325"/>
            <a:ext cx="5619000" cy="1983900"/>
          </a:xfrm>
          <a:prstGeom prst="rect">
            <a:avLst/>
          </a:prstGeom>
        </p:spPr>
        <p:txBody>
          <a:bodyPr anchorCtr="0" anchor="b" bIns="91425" lIns="91425" spcFirstLastPara="1" rIns="91425" wrap="square" tIns="91425">
            <a:noAutofit/>
          </a:bodyPr>
          <a:lstStyle>
            <a:lvl1pPr lvl="0" rtl="0" algn="r">
              <a:lnSpc>
                <a:spcPct val="90000"/>
              </a:lnSpc>
              <a:spcBef>
                <a:spcPts val="0"/>
              </a:spcBef>
              <a:spcAft>
                <a:spcPts val="0"/>
              </a:spcAft>
              <a:buSzPts val="5200"/>
              <a:buNone/>
              <a:defRPr sz="43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2472625" y="3434100"/>
            <a:ext cx="5619000" cy="4095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200"/>
              <a:buNone/>
              <a:defRPr sz="14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sp>
        <p:nvSpPr>
          <p:cNvPr id="13" name="Google Shape;13;p3"/>
          <p:cNvSpPr/>
          <p:nvPr/>
        </p:nvSpPr>
        <p:spPr>
          <a:xfrm>
            <a:off x="171450" y="145800"/>
            <a:ext cx="8801100" cy="4851900"/>
          </a:xfrm>
          <a:prstGeom prst="rect">
            <a:avLst/>
          </a:prstGeom>
          <a:solidFill>
            <a:schemeClr val="accent2"/>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3"/>
          <p:cNvSpPr txBox="1"/>
          <p:nvPr>
            <p:ph type="title"/>
          </p:nvPr>
        </p:nvSpPr>
        <p:spPr>
          <a:xfrm>
            <a:off x="1393550" y="2502950"/>
            <a:ext cx="4360200" cy="12825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600"/>
              <a:buNone/>
              <a:defRPr sz="38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hasCustomPrompt="1" idx="2" type="title"/>
          </p:nvPr>
        </p:nvSpPr>
        <p:spPr>
          <a:xfrm>
            <a:off x="1393550" y="1713902"/>
            <a:ext cx="1200000" cy="8418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lt2"/>
              </a:buClr>
              <a:buSzPts val="6000"/>
              <a:buNone/>
              <a:defRPr sz="6000">
                <a:solidFill>
                  <a:schemeClr val="dk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6" name="Google Shape;16;p3"/>
          <p:cNvSpPr txBox="1"/>
          <p:nvPr>
            <p:ph idx="1" type="subTitle"/>
          </p:nvPr>
        </p:nvSpPr>
        <p:spPr>
          <a:xfrm>
            <a:off x="1393550" y="3743512"/>
            <a:ext cx="4360200" cy="403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solidFill>
                  <a:schemeClr val="lt1"/>
                </a:solidFill>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p:nvPr/>
        </p:nvSpPr>
        <p:spPr>
          <a:xfrm>
            <a:off x="171450" y="145800"/>
            <a:ext cx="8801100" cy="4851900"/>
          </a:xfrm>
          <a:prstGeom prst="rect">
            <a:avLst/>
          </a:pr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txBox="1"/>
          <p:nvPr>
            <p:ph type="title"/>
          </p:nvPr>
        </p:nvSpPr>
        <p:spPr>
          <a:xfrm>
            <a:off x="720000" y="445025"/>
            <a:ext cx="7704000" cy="11955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 name="Google Shape;20;p4"/>
          <p:cNvSpPr txBox="1"/>
          <p:nvPr>
            <p:ph idx="1" type="body"/>
          </p:nvPr>
        </p:nvSpPr>
        <p:spPr>
          <a:xfrm>
            <a:off x="720000" y="1976700"/>
            <a:ext cx="7419300" cy="2112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Anaheim"/>
              <a:buChar char="●"/>
              <a:defRPr/>
            </a:lvl1pPr>
            <a:lvl2pPr indent="-317500" lvl="1" marL="914400" rtl="0">
              <a:spcBef>
                <a:spcPts val="0"/>
              </a:spcBef>
              <a:spcAft>
                <a:spcPts val="0"/>
              </a:spcAft>
              <a:buSzPts val="1400"/>
              <a:buFont typeface="Roboto Condensed Light"/>
              <a:buChar char="○"/>
              <a:defRPr/>
            </a:lvl2pPr>
            <a:lvl3pPr indent="-317500" lvl="2" marL="1371600" rtl="0">
              <a:lnSpc>
                <a:spcPct val="115000"/>
              </a:lnSpc>
              <a:spcBef>
                <a:spcPts val="0"/>
              </a:spcBef>
              <a:spcAft>
                <a:spcPts val="0"/>
              </a:spcAft>
              <a:buSzPts val="1400"/>
              <a:buFont typeface="Roboto Condensed Light"/>
              <a:buChar char="■"/>
              <a:defRPr/>
            </a:lvl3pPr>
            <a:lvl4pPr indent="-317500" lvl="3" marL="1828800" rtl="0">
              <a:lnSpc>
                <a:spcPct val="115000"/>
              </a:lnSpc>
              <a:spcBef>
                <a:spcPts val="0"/>
              </a:spcBef>
              <a:spcAft>
                <a:spcPts val="0"/>
              </a:spcAft>
              <a:buSzPts val="1400"/>
              <a:buFont typeface="Roboto Condensed Light"/>
              <a:buChar char="●"/>
              <a:defRPr/>
            </a:lvl4pPr>
            <a:lvl5pPr indent="-317500" lvl="4" marL="2286000" rtl="0">
              <a:lnSpc>
                <a:spcPct val="115000"/>
              </a:lnSpc>
              <a:spcBef>
                <a:spcPts val="0"/>
              </a:spcBef>
              <a:spcAft>
                <a:spcPts val="0"/>
              </a:spcAft>
              <a:buSzPts val="1400"/>
              <a:buFont typeface="Roboto Condensed Light"/>
              <a:buChar char="○"/>
              <a:defRPr/>
            </a:lvl5pPr>
            <a:lvl6pPr indent="-317500" lvl="5" marL="2743200" rtl="0">
              <a:lnSpc>
                <a:spcPct val="115000"/>
              </a:lnSpc>
              <a:spcBef>
                <a:spcPts val="0"/>
              </a:spcBef>
              <a:spcAft>
                <a:spcPts val="0"/>
              </a:spcAft>
              <a:buSzPts val="1400"/>
              <a:buFont typeface="Roboto Condensed Light"/>
              <a:buChar char="■"/>
              <a:defRPr/>
            </a:lvl6pPr>
            <a:lvl7pPr indent="-317500" lvl="6" marL="3200400" rtl="0">
              <a:lnSpc>
                <a:spcPct val="115000"/>
              </a:lnSpc>
              <a:spcBef>
                <a:spcPts val="0"/>
              </a:spcBef>
              <a:spcAft>
                <a:spcPts val="0"/>
              </a:spcAft>
              <a:buSzPts val="1400"/>
              <a:buFont typeface="Roboto Condensed Light"/>
              <a:buChar char="●"/>
              <a:defRPr/>
            </a:lvl7pPr>
            <a:lvl8pPr indent="-317500" lvl="7" marL="3657600" rtl="0">
              <a:lnSpc>
                <a:spcPct val="115000"/>
              </a:lnSpc>
              <a:spcBef>
                <a:spcPts val="0"/>
              </a:spcBef>
              <a:spcAft>
                <a:spcPts val="0"/>
              </a:spcAft>
              <a:buSzPts val="1400"/>
              <a:buFont typeface="Roboto Condensed Light"/>
              <a:buChar char="○"/>
              <a:defRPr/>
            </a:lvl8pPr>
            <a:lvl9pPr indent="-317500" lvl="8" marL="4114800" rtl="0">
              <a:lnSpc>
                <a:spcPct val="115000"/>
              </a:lnSpc>
              <a:spcBef>
                <a:spcPts val="0"/>
              </a:spcBef>
              <a:spcAft>
                <a:spcPts val="0"/>
              </a:spcAft>
              <a:buSzPts val="1400"/>
              <a:buFont typeface="Roboto Condensed Light"/>
              <a:buChar char="■"/>
              <a:defRPr/>
            </a:lvl9pPr>
          </a:lstStyle>
          <a:p/>
        </p:txBody>
      </p:sp>
      <p:grpSp>
        <p:nvGrpSpPr>
          <p:cNvPr id="21" name="Google Shape;21;p4"/>
          <p:cNvGrpSpPr/>
          <p:nvPr/>
        </p:nvGrpSpPr>
        <p:grpSpPr>
          <a:xfrm>
            <a:off x="435875" y="97275"/>
            <a:ext cx="8272250" cy="4900925"/>
            <a:chOff x="435875" y="97275"/>
            <a:chExt cx="8272250" cy="4900925"/>
          </a:xfrm>
        </p:grpSpPr>
        <p:grpSp>
          <p:nvGrpSpPr>
            <p:cNvPr id="22" name="Google Shape;22;p4"/>
            <p:cNvGrpSpPr/>
            <p:nvPr/>
          </p:nvGrpSpPr>
          <p:grpSpPr>
            <a:xfrm flipH="1">
              <a:off x="435875" y="1292300"/>
              <a:ext cx="90900" cy="3705900"/>
              <a:chOff x="7952125" y="1292300"/>
              <a:chExt cx="90900" cy="3705900"/>
            </a:xfrm>
          </p:grpSpPr>
          <p:sp>
            <p:nvSpPr>
              <p:cNvPr id="23" name="Google Shape;23;p4"/>
              <p:cNvSpPr/>
              <p:nvPr/>
            </p:nvSpPr>
            <p:spPr>
              <a:xfrm rot="5400000">
                <a:off x="7744975" y="1499450"/>
                <a:ext cx="505200" cy="9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 name="Google Shape;24;p4"/>
              <p:cNvCxnSpPr/>
              <p:nvPr/>
            </p:nvCxnSpPr>
            <p:spPr>
              <a:xfrm>
                <a:off x="8043025" y="1292300"/>
                <a:ext cx="0" cy="3705900"/>
              </a:xfrm>
              <a:prstGeom prst="straightConnector1">
                <a:avLst/>
              </a:prstGeom>
              <a:noFill/>
              <a:ln cap="flat" cmpd="sng" w="9525">
                <a:solidFill>
                  <a:schemeClr val="dk1"/>
                </a:solidFill>
                <a:prstDash val="solid"/>
                <a:round/>
                <a:headEnd len="med" w="med" type="none"/>
                <a:tailEnd len="med" w="med" type="none"/>
              </a:ln>
            </p:spPr>
          </p:cxnSp>
        </p:grpSp>
        <p:grpSp>
          <p:nvGrpSpPr>
            <p:cNvPr id="25" name="Google Shape;25;p4"/>
            <p:cNvGrpSpPr/>
            <p:nvPr/>
          </p:nvGrpSpPr>
          <p:grpSpPr>
            <a:xfrm rot="10800000">
              <a:off x="8617225" y="97275"/>
              <a:ext cx="90900" cy="3705900"/>
              <a:chOff x="7952125" y="1292300"/>
              <a:chExt cx="90900" cy="3705900"/>
            </a:xfrm>
          </p:grpSpPr>
          <p:sp>
            <p:nvSpPr>
              <p:cNvPr id="26" name="Google Shape;26;p4"/>
              <p:cNvSpPr/>
              <p:nvPr/>
            </p:nvSpPr>
            <p:spPr>
              <a:xfrm rot="5400000">
                <a:off x="7744975" y="1499450"/>
                <a:ext cx="505200" cy="9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 name="Google Shape;27;p4"/>
              <p:cNvCxnSpPr/>
              <p:nvPr/>
            </p:nvCxnSpPr>
            <p:spPr>
              <a:xfrm>
                <a:off x="8043025" y="1292300"/>
                <a:ext cx="0" cy="370590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
          <p:cNvSpPr/>
          <p:nvPr/>
        </p:nvSpPr>
        <p:spPr>
          <a:xfrm>
            <a:off x="171450" y="145800"/>
            <a:ext cx="8801100" cy="4851900"/>
          </a:xfrm>
          <a:prstGeom prst="rect">
            <a:avLst/>
          </a:pr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5"/>
          <p:cNvSpPr txBox="1"/>
          <p:nvPr>
            <p:ph idx="1" type="subTitle"/>
          </p:nvPr>
        </p:nvSpPr>
        <p:spPr>
          <a:xfrm>
            <a:off x="1938000" y="1571850"/>
            <a:ext cx="5268000" cy="1233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1" name="Google Shape;31;p5"/>
          <p:cNvSpPr txBox="1"/>
          <p:nvPr>
            <p:ph idx="2" type="subTitle"/>
          </p:nvPr>
        </p:nvSpPr>
        <p:spPr>
          <a:xfrm>
            <a:off x="1938000" y="3033474"/>
            <a:ext cx="5268000" cy="1233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2" name="Google Shape;32;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33" name="Google Shape;33;p5"/>
          <p:cNvGrpSpPr/>
          <p:nvPr/>
        </p:nvGrpSpPr>
        <p:grpSpPr>
          <a:xfrm>
            <a:off x="165700" y="1292300"/>
            <a:ext cx="8349200" cy="3705900"/>
            <a:chOff x="165700" y="1292300"/>
            <a:chExt cx="8349200" cy="3705900"/>
          </a:xfrm>
        </p:grpSpPr>
        <p:grpSp>
          <p:nvGrpSpPr>
            <p:cNvPr id="34" name="Google Shape;34;p5"/>
            <p:cNvGrpSpPr/>
            <p:nvPr/>
          </p:nvGrpSpPr>
          <p:grpSpPr>
            <a:xfrm rot="10800000">
              <a:off x="165700" y="4608500"/>
              <a:ext cx="7941000" cy="90900"/>
              <a:chOff x="1239825" y="571500"/>
              <a:chExt cx="7941000" cy="90900"/>
            </a:xfrm>
          </p:grpSpPr>
          <p:cxnSp>
            <p:nvCxnSpPr>
              <p:cNvPr id="35" name="Google Shape;35;p5"/>
              <p:cNvCxnSpPr/>
              <p:nvPr/>
            </p:nvCxnSpPr>
            <p:spPr>
              <a:xfrm>
                <a:off x="1239825" y="571500"/>
                <a:ext cx="7941000" cy="0"/>
              </a:xfrm>
              <a:prstGeom prst="straightConnector1">
                <a:avLst/>
              </a:prstGeom>
              <a:noFill/>
              <a:ln cap="flat" cmpd="sng" w="9525">
                <a:solidFill>
                  <a:schemeClr val="dk1"/>
                </a:solidFill>
                <a:prstDash val="solid"/>
                <a:round/>
                <a:headEnd len="med" w="med" type="none"/>
                <a:tailEnd len="med" w="med" type="none"/>
              </a:ln>
            </p:spPr>
          </p:cxnSp>
          <p:sp>
            <p:nvSpPr>
              <p:cNvPr id="36" name="Google Shape;36;p5"/>
              <p:cNvSpPr/>
              <p:nvPr/>
            </p:nvSpPr>
            <p:spPr>
              <a:xfrm>
                <a:off x="1239825" y="571500"/>
                <a:ext cx="505200" cy="9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 name="Google Shape;37;p5"/>
            <p:cNvGrpSpPr/>
            <p:nvPr/>
          </p:nvGrpSpPr>
          <p:grpSpPr>
            <a:xfrm flipH="1">
              <a:off x="8424000" y="1292300"/>
              <a:ext cx="90900" cy="3705900"/>
              <a:chOff x="7952125" y="1292300"/>
              <a:chExt cx="90900" cy="3705900"/>
            </a:xfrm>
          </p:grpSpPr>
          <p:sp>
            <p:nvSpPr>
              <p:cNvPr id="38" name="Google Shape;38;p5"/>
              <p:cNvSpPr/>
              <p:nvPr/>
            </p:nvSpPr>
            <p:spPr>
              <a:xfrm rot="5400000">
                <a:off x="7744975" y="1499450"/>
                <a:ext cx="505200" cy="9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5"/>
              <p:cNvCxnSpPr/>
              <p:nvPr/>
            </p:nvCxnSpPr>
            <p:spPr>
              <a:xfrm>
                <a:off x="8043025" y="1292300"/>
                <a:ext cx="0" cy="370590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171450" y="145800"/>
            <a:ext cx="8801100" cy="4851900"/>
          </a:xfrm>
          <a:prstGeom prst="rect">
            <a:avLst/>
          </a:pr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Font typeface="Noto Serif Ethiopic"/>
              <a:buNone/>
              <a:defRPr>
                <a:latin typeface="Noto Serif Ethiopic"/>
                <a:ea typeface="Noto Serif Ethiopic"/>
                <a:cs typeface="Noto Serif Ethiopic"/>
                <a:sym typeface="Noto Serif Ethiopic"/>
              </a:defRPr>
            </a:lvl2pPr>
            <a:lvl3pPr lvl="2" rtl="0">
              <a:spcBef>
                <a:spcPts val="0"/>
              </a:spcBef>
              <a:spcAft>
                <a:spcPts val="0"/>
              </a:spcAft>
              <a:buSzPts val="3500"/>
              <a:buFont typeface="Noto Serif Ethiopic"/>
              <a:buNone/>
              <a:defRPr>
                <a:latin typeface="Noto Serif Ethiopic"/>
                <a:ea typeface="Noto Serif Ethiopic"/>
                <a:cs typeface="Noto Serif Ethiopic"/>
                <a:sym typeface="Noto Serif Ethiopic"/>
              </a:defRPr>
            </a:lvl3pPr>
            <a:lvl4pPr lvl="3" rtl="0">
              <a:spcBef>
                <a:spcPts val="0"/>
              </a:spcBef>
              <a:spcAft>
                <a:spcPts val="0"/>
              </a:spcAft>
              <a:buSzPts val="3500"/>
              <a:buFont typeface="Noto Serif Ethiopic"/>
              <a:buNone/>
              <a:defRPr>
                <a:latin typeface="Noto Serif Ethiopic"/>
                <a:ea typeface="Noto Serif Ethiopic"/>
                <a:cs typeface="Noto Serif Ethiopic"/>
                <a:sym typeface="Noto Serif Ethiopic"/>
              </a:defRPr>
            </a:lvl4pPr>
            <a:lvl5pPr lvl="4" rtl="0">
              <a:spcBef>
                <a:spcPts val="0"/>
              </a:spcBef>
              <a:spcAft>
                <a:spcPts val="0"/>
              </a:spcAft>
              <a:buSzPts val="3500"/>
              <a:buFont typeface="Noto Serif Ethiopic"/>
              <a:buNone/>
              <a:defRPr>
                <a:latin typeface="Noto Serif Ethiopic"/>
                <a:ea typeface="Noto Serif Ethiopic"/>
                <a:cs typeface="Noto Serif Ethiopic"/>
                <a:sym typeface="Noto Serif Ethiopic"/>
              </a:defRPr>
            </a:lvl5pPr>
            <a:lvl6pPr lvl="5" rtl="0">
              <a:spcBef>
                <a:spcPts val="0"/>
              </a:spcBef>
              <a:spcAft>
                <a:spcPts val="0"/>
              </a:spcAft>
              <a:buSzPts val="3500"/>
              <a:buFont typeface="Noto Serif Ethiopic"/>
              <a:buNone/>
              <a:defRPr>
                <a:latin typeface="Noto Serif Ethiopic"/>
                <a:ea typeface="Noto Serif Ethiopic"/>
                <a:cs typeface="Noto Serif Ethiopic"/>
                <a:sym typeface="Noto Serif Ethiopic"/>
              </a:defRPr>
            </a:lvl6pPr>
            <a:lvl7pPr lvl="6" rtl="0">
              <a:spcBef>
                <a:spcPts val="0"/>
              </a:spcBef>
              <a:spcAft>
                <a:spcPts val="0"/>
              </a:spcAft>
              <a:buSzPts val="3500"/>
              <a:buFont typeface="Noto Serif Ethiopic"/>
              <a:buNone/>
              <a:defRPr>
                <a:latin typeface="Noto Serif Ethiopic"/>
                <a:ea typeface="Noto Serif Ethiopic"/>
                <a:cs typeface="Noto Serif Ethiopic"/>
                <a:sym typeface="Noto Serif Ethiopic"/>
              </a:defRPr>
            </a:lvl7pPr>
            <a:lvl8pPr lvl="7" rtl="0">
              <a:spcBef>
                <a:spcPts val="0"/>
              </a:spcBef>
              <a:spcAft>
                <a:spcPts val="0"/>
              </a:spcAft>
              <a:buSzPts val="3500"/>
              <a:buFont typeface="Noto Serif Ethiopic"/>
              <a:buNone/>
              <a:defRPr>
                <a:latin typeface="Noto Serif Ethiopic"/>
                <a:ea typeface="Noto Serif Ethiopic"/>
                <a:cs typeface="Noto Serif Ethiopic"/>
                <a:sym typeface="Noto Serif Ethiopic"/>
              </a:defRPr>
            </a:lvl8pPr>
            <a:lvl9pPr lvl="8" rtl="0">
              <a:spcBef>
                <a:spcPts val="0"/>
              </a:spcBef>
              <a:spcAft>
                <a:spcPts val="0"/>
              </a:spcAft>
              <a:buSzPts val="3500"/>
              <a:buFont typeface="Noto Serif Ethiopic"/>
              <a:buNone/>
              <a:defRPr>
                <a:latin typeface="Noto Serif Ethiopic"/>
                <a:ea typeface="Noto Serif Ethiopic"/>
                <a:cs typeface="Noto Serif Ethiopic"/>
                <a:sym typeface="Noto Serif Ethiopic"/>
              </a:defRPr>
            </a:lvl9pPr>
          </a:lstStyle>
          <a:p/>
        </p:txBody>
      </p:sp>
      <p:grpSp>
        <p:nvGrpSpPr>
          <p:cNvPr id="43" name="Google Shape;43;p6"/>
          <p:cNvGrpSpPr/>
          <p:nvPr/>
        </p:nvGrpSpPr>
        <p:grpSpPr>
          <a:xfrm rot="10800000">
            <a:off x="165700" y="4608500"/>
            <a:ext cx="7941000" cy="90900"/>
            <a:chOff x="1239825" y="571500"/>
            <a:chExt cx="7941000" cy="90900"/>
          </a:xfrm>
        </p:grpSpPr>
        <p:cxnSp>
          <p:nvCxnSpPr>
            <p:cNvPr id="44" name="Google Shape;44;p6"/>
            <p:cNvCxnSpPr/>
            <p:nvPr/>
          </p:nvCxnSpPr>
          <p:spPr>
            <a:xfrm>
              <a:off x="1239825" y="571500"/>
              <a:ext cx="7941000" cy="0"/>
            </a:xfrm>
            <a:prstGeom prst="straightConnector1">
              <a:avLst/>
            </a:prstGeom>
            <a:noFill/>
            <a:ln cap="flat" cmpd="sng" w="9525">
              <a:solidFill>
                <a:schemeClr val="dk1"/>
              </a:solidFill>
              <a:prstDash val="solid"/>
              <a:round/>
              <a:headEnd len="med" w="med" type="none"/>
              <a:tailEnd len="med" w="med" type="none"/>
            </a:ln>
          </p:spPr>
        </p:cxnSp>
        <p:sp>
          <p:nvSpPr>
            <p:cNvPr id="45" name="Google Shape;45;p6"/>
            <p:cNvSpPr/>
            <p:nvPr/>
          </p:nvSpPr>
          <p:spPr>
            <a:xfrm>
              <a:off x="1239825" y="571500"/>
              <a:ext cx="505200" cy="9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p:nvPr/>
        </p:nvSpPr>
        <p:spPr>
          <a:xfrm>
            <a:off x="171450" y="145800"/>
            <a:ext cx="8801100" cy="4851900"/>
          </a:xfrm>
          <a:prstGeom prst="rect">
            <a:avLst/>
          </a:pr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9" name="Google Shape;49;p7"/>
          <p:cNvSpPr txBox="1"/>
          <p:nvPr>
            <p:ph idx="1" type="body"/>
          </p:nvPr>
        </p:nvSpPr>
        <p:spPr>
          <a:xfrm>
            <a:off x="720000" y="1152475"/>
            <a:ext cx="7704000" cy="19113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Char char="●"/>
              <a:defRPr/>
            </a:lvl1pPr>
            <a:lvl2pPr indent="-304800" lvl="1" marL="914400" rtl="0">
              <a:lnSpc>
                <a:spcPct val="115000"/>
              </a:lnSpc>
              <a:spcBef>
                <a:spcPts val="0"/>
              </a:spcBef>
              <a:spcAft>
                <a:spcPts val="0"/>
              </a:spcAft>
              <a:buSzPts val="1200"/>
              <a:buChar char="○"/>
              <a:defRPr/>
            </a:lvl2pPr>
            <a:lvl3pPr indent="-304800" lvl="2" marL="1371600" rtl="0">
              <a:lnSpc>
                <a:spcPct val="115000"/>
              </a:lnSpc>
              <a:spcBef>
                <a:spcPts val="0"/>
              </a:spcBef>
              <a:spcAft>
                <a:spcPts val="0"/>
              </a:spcAft>
              <a:buSzPts val="1200"/>
              <a:buChar char="■"/>
              <a:defRPr/>
            </a:lvl3pPr>
            <a:lvl4pPr indent="-304800" lvl="3" marL="1828800" rtl="0">
              <a:lnSpc>
                <a:spcPct val="115000"/>
              </a:lnSpc>
              <a:spcBef>
                <a:spcPts val="0"/>
              </a:spcBef>
              <a:spcAft>
                <a:spcPts val="0"/>
              </a:spcAft>
              <a:buSzPts val="1200"/>
              <a:buChar char="●"/>
              <a:defRPr/>
            </a:lvl4pPr>
            <a:lvl5pPr indent="-304800" lvl="4" marL="2286000" rtl="0">
              <a:lnSpc>
                <a:spcPct val="115000"/>
              </a:lnSpc>
              <a:spcBef>
                <a:spcPts val="0"/>
              </a:spcBef>
              <a:spcAft>
                <a:spcPts val="0"/>
              </a:spcAft>
              <a:buSzPts val="1200"/>
              <a:buChar char="○"/>
              <a:defRPr/>
            </a:lvl5pPr>
            <a:lvl6pPr indent="-304800" lvl="5" marL="2743200" rtl="0">
              <a:lnSpc>
                <a:spcPct val="115000"/>
              </a:lnSpc>
              <a:spcBef>
                <a:spcPts val="0"/>
              </a:spcBef>
              <a:spcAft>
                <a:spcPts val="0"/>
              </a:spcAft>
              <a:buSzPts val="1200"/>
              <a:buChar char="■"/>
              <a:defRPr/>
            </a:lvl6pPr>
            <a:lvl7pPr indent="-304800" lvl="6" marL="3200400" rtl="0">
              <a:lnSpc>
                <a:spcPct val="115000"/>
              </a:lnSpc>
              <a:spcBef>
                <a:spcPts val="0"/>
              </a:spcBef>
              <a:spcAft>
                <a:spcPts val="0"/>
              </a:spcAft>
              <a:buSzPts val="1200"/>
              <a:buChar char="●"/>
              <a:defRPr/>
            </a:lvl7pPr>
            <a:lvl8pPr indent="-304800" lvl="7" marL="3657600" rtl="0">
              <a:lnSpc>
                <a:spcPct val="115000"/>
              </a:lnSpc>
              <a:spcBef>
                <a:spcPts val="0"/>
              </a:spcBef>
              <a:spcAft>
                <a:spcPts val="0"/>
              </a:spcAft>
              <a:buSzPts val="1200"/>
              <a:buChar char="○"/>
              <a:defRPr/>
            </a:lvl8pPr>
            <a:lvl9pPr indent="-304800" lvl="8" marL="4114800" rtl="0">
              <a:lnSpc>
                <a:spcPct val="115000"/>
              </a:lnSpc>
              <a:spcBef>
                <a:spcPts val="0"/>
              </a:spcBef>
              <a:spcAft>
                <a:spcPts val="0"/>
              </a:spcAft>
              <a:buSzPts val="1200"/>
              <a:buChar char="■"/>
              <a:defRPr/>
            </a:lvl9pPr>
          </a:lstStyle>
          <a:p/>
        </p:txBody>
      </p:sp>
      <p:grpSp>
        <p:nvGrpSpPr>
          <p:cNvPr id="50" name="Google Shape;50;p7"/>
          <p:cNvGrpSpPr/>
          <p:nvPr/>
        </p:nvGrpSpPr>
        <p:grpSpPr>
          <a:xfrm flipH="1" rot="10800000">
            <a:off x="2502023" y="4741850"/>
            <a:ext cx="6506400" cy="90900"/>
            <a:chOff x="1239825" y="571500"/>
            <a:chExt cx="6506400" cy="90900"/>
          </a:xfrm>
        </p:grpSpPr>
        <p:cxnSp>
          <p:nvCxnSpPr>
            <p:cNvPr id="51" name="Google Shape;51;p7"/>
            <p:cNvCxnSpPr/>
            <p:nvPr/>
          </p:nvCxnSpPr>
          <p:spPr>
            <a:xfrm>
              <a:off x="1239825" y="571500"/>
              <a:ext cx="6506400" cy="0"/>
            </a:xfrm>
            <a:prstGeom prst="straightConnector1">
              <a:avLst/>
            </a:prstGeom>
            <a:noFill/>
            <a:ln cap="flat" cmpd="sng" w="9525">
              <a:solidFill>
                <a:schemeClr val="dk1"/>
              </a:solidFill>
              <a:prstDash val="solid"/>
              <a:round/>
              <a:headEnd len="med" w="med" type="none"/>
              <a:tailEnd len="med" w="med" type="none"/>
            </a:ln>
          </p:spPr>
        </p:cxnSp>
        <p:sp>
          <p:nvSpPr>
            <p:cNvPr id="52" name="Google Shape;52;p7"/>
            <p:cNvSpPr/>
            <p:nvPr/>
          </p:nvSpPr>
          <p:spPr>
            <a:xfrm>
              <a:off x="1239825" y="571500"/>
              <a:ext cx="505200" cy="9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3" name="Shape 53"/>
        <p:cNvGrpSpPr/>
        <p:nvPr/>
      </p:nvGrpSpPr>
      <p:grpSpPr>
        <a:xfrm>
          <a:off x="0" y="0"/>
          <a:ext cx="0" cy="0"/>
          <a:chOff x="0" y="0"/>
          <a:chExt cx="0" cy="0"/>
        </a:xfrm>
      </p:grpSpPr>
      <p:sp>
        <p:nvSpPr>
          <p:cNvPr id="54" name="Google Shape;54;p8"/>
          <p:cNvSpPr/>
          <p:nvPr/>
        </p:nvSpPr>
        <p:spPr>
          <a:xfrm>
            <a:off x="171450" y="145800"/>
            <a:ext cx="8801100" cy="4851900"/>
          </a:xfrm>
          <a:prstGeom prst="rect">
            <a:avLst/>
          </a:prstGeom>
          <a:solidFill>
            <a:schemeClr val="accent2"/>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txBox="1"/>
          <p:nvPr>
            <p:ph type="title"/>
          </p:nvPr>
        </p:nvSpPr>
        <p:spPr>
          <a:xfrm>
            <a:off x="2496300" y="1417500"/>
            <a:ext cx="4151400" cy="2308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p:txBody>
      </p:sp>
      <p:grpSp>
        <p:nvGrpSpPr>
          <p:cNvPr id="56" name="Google Shape;56;p8"/>
          <p:cNvGrpSpPr/>
          <p:nvPr/>
        </p:nvGrpSpPr>
        <p:grpSpPr>
          <a:xfrm>
            <a:off x="165548" y="298450"/>
            <a:ext cx="8808723" cy="4534300"/>
            <a:chOff x="165548" y="298450"/>
            <a:chExt cx="8808723" cy="4534300"/>
          </a:xfrm>
        </p:grpSpPr>
        <p:grpSp>
          <p:nvGrpSpPr>
            <p:cNvPr id="57" name="Google Shape;57;p8"/>
            <p:cNvGrpSpPr/>
            <p:nvPr/>
          </p:nvGrpSpPr>
          <p:grpSpPr>
            <a:xfrm rot="10800000">
              <a:off x="165548" y="4741850"/>
              <a:ext cx="6506400" cy="90900"/>
              <a:chOff x="1239825" y="571500"/>
              <a:chExt cx="6506400" cy="90900"/>
            </a:xfrm>
          </p:grpSpPr>
          <p:cxnSp>
            <p:nvCxnSpPr>
              <p:cNvPr id="58" name="Google Shape;58;p8"/>
              <p:cNvCxnSpPr/>
              <p:nvPr/>
            </p:nvCxnSpPr>
            <p:spPr>
              <a:xfrm>
                <a:off x="1239825" y="571500"/>
                <a:ext cx="6506400" cy="0"/>
              </a:xfrm>
              <a:prstGeom prst="straightConnector1">
                <a:avLst/>
              </a:prstGeom>
              <a:noFill/>
              <a:ln cap="flat" cmpd="sng" w="9525">
                <a:solidFill>
                  <a:schemeClr val="lt1"/>
                </a:solidFill>
                <a:prstDash val="solid"/>
                <a:round/>
                <a:headEnd len="med" w="med" type="none"/>
                <a:tailEnd len="med" w="med" type="none"/>
              </a:ln>
            </p:spPr>
          </p:cxnSp>
          <p:sp>
            <p:nvSpPr>
              <p:cNvPr id="59" name="Google Shape;59;p8"/>
              <p:cNvSpPr/>
              <p:nvPr/>
            </p:nvSpPr>
            <p:spPr>
              <a:xfrm>
                <a:off x="1239825" y="571500"/>
                <a:ext cx="505200" cy="9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 name="Google Shape;60;p8"/>
            <p:cNvGrpSpPr/>
            <p:nvPr/>
          </p:nvGrpSpPr>
          <p:grpSpPr>
            <a:xfrm flipH="1" rot="10800000">
              <a:off x="2467871" y="298450"/>
              <a:ext cx="6506400" cy="90900"/>
              <a:chOff x="1239825" y="571500"/>
              <a:chExt cx="6506400" cy="90900"/>
            </a:xfrm>
          </p:grpSpPr>
          <p:cxnSp>
            <p:nvCxnSpPr>
              <p:cNvPr id="61" name="Google Shape;61;p8"/>
              <p:cNvCxnSpPr/>
              <p:nvPr/>
            </p:nvCxnSpPr>
            <p:spPr>
              <a:xfrm>
                <a:off x="1239825" y="571500"/>
                <a:ext cx="6506400" cy="0"/>
              </a:xfrm>
              <a:prstGeom prst="straightConnector1">
                <a:avLst/>
              </a:prstGeom>
              <a:noFill/>
              <a:ln cap="flat" cmpd="sng" w="9525">
                <a:solidFill>
                  <a:schemeClr val="lt1"/>
                </a:solidFill>
                <a:prstDash val="solid"/>
                <a:round/>
                <a:headEnd len="med" w="med" type="none"/>
                <a:tailEnd len="med" w="med" type="none"/>
              </a:ln>
            </p:spPr>
          </p:cxnSp>
          <p:sp>
            <p:nvSpPr>
              <p:cNvPr id="62" name="Google Shape;62;p8"/>
              <p:cNvSpPr/>
              <p:nvPr/>
            </p:nvSpPr>
            <p:spPr>
              <a:xfrm>
                <a:off x="1239825" y="571500"/>
                <a:ext cx="505200" cy="9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3" name="Shape 63"/>
        <p:cNvGrpSpPr/>
        <p:nvPr/>
      </p:nvGrpSpPr>
      <p:grpSpPr>
        <a:xfrm>
          <a:off x="0" y="0"/>
          <a:ext cx="0" cy="0"/>
          <a:chOff x="0" y="0"/>
          <a:chExt cx="0" cy="0"/>
        </a:xfrm>
      </p:grpSpPr>
      <p:sp>
        <p:nvSpPr>
          <p:cNvPr id="64" name="Google Shape;64;p9"/>
          <p:cNvSpPr/>
          <p:nvPr/>
        </p:nvSpPr>
        <p:spPr>
          <a:xfrm>
            <a:off x="171450" y="145800"/>
            <a:ext cx="8801100" cy="4851900"/>
          </a:xfrm>
          <a:prstGeom prst="rect">
            <a:avLst/>
          </a:prstGeom>
          <a:solidFill>
            <a:schemeClr val="accent2"/>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txBox="1"/>
          <p:nvPr>
            <p:ph type="title"/>
          </p:nvPr>
        </p:nvSpPr>
        <p:spPr>
          <a:xfrm>
            <a:off x="3102200" y="2281338"/>
            <a:ext cx="4661100" cy="9813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600"/>
              <a:buNone/>
              <a:defRPr sz="6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6" name="Google Shape;66;p9"/>
          <p:cNvSpPr txBox="1"/>
          <p:nvPr>
            <p:ph idx="1" type="subTitle"/>
          </p:nvPr>
        </p:nvSpPr>
        <p:spPr>
          <a:xfrm>
            <a:off x="3102200" y="3262669"/>
            <a:ext cx="4661100" cy="6189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200"/>
              <a:buNone/>
              <a:defRPr sz="1400">
                <a:solidFill>
                  <a:schemeClr val="lt1"/>
                </a:solidFill>
              </a:defRPr>
            </a:lvl1pPr>
            <a:lvl2pPr lvl="1" rtl="0">
              <a:lnSpc>
                <a:spcPct val="100000"/>
              </a:lnSpc>
              <a:spcBef>
                <a:spcPts val="0"/>
              </a:spcBef>
              <a:spcAft>
                <a:spcPts val="0"/>
              </a:spcAft>
              <a:buSzPts val="1200"/>
              <a:buNone/>
              <a:defRPr/>
            </a:lvl2pPr>
            <a:lvl3pPr lvl="2" rtl="0">
              <a:lnSpc>
                <a:spcPct val="100000"/>
              </a:lnSpc>
              <a:spcBef>
                <a:spcPts val="1600"/>
              </a:spcBef>
              <a:spcAft>
                <a:spcPts val="0"/>
              </a:spcAft>
              <a:buSzPts val="1200"/>
              <a:buNone/>
              <a:defRPr/>
            </a:lvl3pPr>
            <a:lvl4pPr lvl="3" rtl="0">
              <a:lnSpc>
                <a:spcPct val="100000"/>
              </a:lnSpc>
              <a:spcBef>
                <a:spcPts val="1600"/>
              </a:spcBef>
              <a:spcAft>
                <a:spcPts val="0"/>
              </a:spcAft>
              <a:buSzPts val="1200"/>
              <a:buNone/>
              <a:defRPr/>
            </a:lvl4pPr>
            <a:lvl5pPr lvl="4" rtl="0">
              <a:lnSpc>
                <a:spcPct val="100000"/>
              </a:lnSpc>
              <a:spcBef>
                <a:spcPts val="1600"/>
              </a:spcBef>
              <a:spcAft>
                <a:spcPts val="0"/>
              </a:spcAft>
              <a:buSzPts val="1200"/>
              <a:buNone/>
              <a:defRPr/>
            </a:lvl5pPr>
            <a:lvl6pPr lvl="5" rtl="0">
              <a:lnSpc>
                <a:spcPct val="100000"/>
              </a:lnSpc>
              <a:spcBef>
                <a:spcPts val="1600"/>
              </a:spcBef>
              <a:spcAft>
                <a:spcPts val="0"/>
              </a:spcAft>
              <a:buSzPts val="1200"/>
              <a:buNone/>
              <a:defRPr/>
            </a:lvl6pPr>
            <a:lvl7pPr lvl="6" rtl="0">
              <a:lnSpc>
                <a:spcPct val="100000"/>
              </a:lnSpc>
              <a:spcBef>
                <a:spcPts val="1600"/>
              </a:spcBef>
              <a:spcAft>
                <a:spcPts val="0"/>
              </a:spcAft>
              <a:buSzPts val="1200"/>
              <a:buNone/>
              <a:defRPr/>
            </a:lvl7pPr>
            <a:lvl8pPr lvl="7" rtl="0">
              <a:lnSpc>
                <a:spcPct val="100000"/>
              </a:lnSpc>
              <a:spcBef>
                <a:spcPts val="1600"/>
              </a:spcBef>
              <a:spcAft>
                <a:spcPts val="0"/>
              </a:spcAft>
              <a:buSzPts val="1200"/>
              <a:buNone/>
              <a:defRPr/>
            </a:lvl8pPr>
            <a:lvl9pPr lvl="8" rtl="0">
              <a:lnSpc>
                <a:spcPct val="100000"/>
              </a:lnSpc>
              <a:spcBef>
                <a:spcPts val="1600"/>
              </a:spcBef>
              <a:spcAft>
                <a:spcPts val="160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7" name="Shape 67"/>
        <p:cNvGrpSpPr/>
        <p:nvPr/>
      </p:nvGrpSpPr>
      <p:grpSpPr>
        <a:xfrm>
          <a:off x="0" y="0"/>
          <a:ext cx="0" cy="0"/>
          <a:chOff x="0" y="0"/>
          <a:chExt cx="0" cy="0"/>
        </a:xfrm>
      </p:grpSpPr>
      <p:sp>
        <p:nvSpPr>
          <p:cNvPr id="68" name="Google Shape;68;p10"/>
          <p:cNvSpPr/>
          <p:nvPr>
            <p:ph idx="2" type="pic"/>
          </p:nvPr>
        </p:nvSpPr>
        <p:spPr>
          <a:xfrm>
            <a:off x="-11825" y="-11825"/>
            <a:ext cx="9155700" cy="5155200"/>
          </a:xfrm>
          <a:prstGeom prst="rect">
            <a:avLst/>
          </a:prstGeom>
          <a:noFill/>
          <a:ln>
            <a:noFill/>
          </a:ln>
        </p:spPr>
      </p:sp>
      <p:sp>
        <p:nvSpPr>
          <p:cNvPr id="69" name="Google Shape;69;p10"/>
          <p:cNvSpPr txBox="1"/>
          <p:nvPr>
            <p:ph type="title"/>
          </p:nvPr>
        </p:nvSpPr>
        <p:spPr>
          <a:xfrm>
            <a:off x="1522200" y="3961375"/>
            <a:ext cx="6099600" cy="5727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3500"/>
              <a:buNone/>
              <a:defRPr sz="24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0" name="Shape 70"/>
        <p:cNvGrpSpPr/>
        <p:nvPr/>
      </p:nvGrpSpPr>
      <p:grpSpPr>
        <a:xfrm>
          <a:off x="0" y="0"/>
          <a:ext cx="0" cy="0"/>
          <a:chOff x="0" y="0"/>
          <a:chExt cx="0" cy="0"/>
        </a:xfrm>
      </p:grpSpPr>
      <p:sp>
        <p:nvSpPr>
          <p:cNvPr id="71" name="Google Shape;71;p11"/>
          <p:cNvSpPr/>
          <p:nvPr/>
        </p:nvSpPr>
        <p:spPr>
          <a:xfrm>
            <a:off x="171450" y="145800"/>
            <a:ext cx="8801100" cy="4851900"/>
          </a:xfrm>
          <a:prstGeom prst="rect">
            <a:avLst/>
          </a:prstGeom>
          <a:solidFill>
            <a:schemeClr val="lt1"/>
          </a:solidFill>
          <a:ln>
            <a:noFill/>
          </a:ln>
          <a:effectLst>
            <a:outerShdw blurRad="57150" rotWithShape="0" algn="bl" dir="5400000" dist="19050">
              <a:schemeClr val="dk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txBox="1"/>
          <p:nvPr>
            <p:ph hasCustomPrompt="1" type="title"/>
          </p:nvPr>
        </p:nvSpPr>
        <p:spPr>
          <a:xfrm>
            <a:off x="1740000" y="1788150"/>
            <a:ext cx="5664000" cy="1169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2"/>
              </a:buClr>
              <a:buSzPts val="6000"/>
              <a:buNone/>
              <a:defRPr sz="6000">
                <a:solidFill>
                  <a:schemeClr val="accent2"/>
                </a:solidFill>
              </a:defRPr>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73" name="Google Shape;73;p11"/>
          <p:cNvSpPr txBox="1"/>
          <p:nvPr>
            <p:ph idx="1" type="subTitle"/>
          </p:nvPr>
        </p:nvSpPr>
        <p:spPr>
          <a:xfrm>
            <a:off x="1740000" y="2957550"/>
            <a:ext cx="5664000" cy="397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74" name="Google Shape;74;p11"/>
          <p:cNvGrpSpPr/>
          <p:nvPr/>
        </p:nvGrpSpPr>
        <p:grpSpPr>
          <a:xfrm>
            <a:off x="165548" y="298450"/>
            <a:ext cx="8808723" cy="4534300"/>
            <a:chOff x="165548" y="298450"/>
            <a:chExt cx="8808723" cy="4534300"/>
          </a:xfrm>
        </p:grpSpPr>
        <p:grpSp>
          <p:nvGrpSpPr>
            <p:cNvPr id="75" name="Google Shape;75;p11"/>
            <p:cNvGrpSpPr/>
            <p:nvPr/>
          </p:nvGrpSpPr>
          <p:grpSpPr>
            <a:xfrm rot="10800000">
              <a:off x="165548" y="4741850"/>
              <a:ext cx="6506400" cy="90900"/>
              <a:chOff x="1239825" y="571500"/>
              <a:chExt cx="6506400" cy="90900"/>
            </a:xfrm>
          </p:grpSpPr>
          <p:cxnSp>
            <p:nvCxnSpPr>
              <p:cNvPr id="76" name="Google Shape;76;p11"/>
              <p:cNvCxnSpPr/>
              <p:nvPr/>
            </p:nvCxnSpPr>
            <p:spPr>
              <a:xfrm>
                <a:off x="1239825" y="571500"/>
                <a:ext cx="6506400" cy="0"/>
              </a:xfrm>
              <a:prstGeom prst="straightConnector1">
                <a:avLst/>
              </a:prstGeom>
              <a:noFill/>
              <a:ln cap="flat" cmpd="sng" w="9525">
                <a:solidFill>
                  <a:schemeClr val="dk1"/>
                </a:solidFill>
                <a:prstDash val="solid"/>
                <a:round/>
                <a:headEnd len="med" w="med" type="none"/>
                <a:tailEnd len="med" w="med" type="none"/>
              </a:ln>
            </p:spPr>
          </p:cxnSp>
          <p:sp>
            <p:nvSpPr>
              <p:cNvPr id="77" name="Google Shape;77;p11"/>
              <p:cNvSpPr/>
              <p:nvPr/>
            </p:nvSpPr>
            <p:spPr>
              <a:xfrm>
                <a:off x="1239825" y="571500"/>
                <a:ext cx="505200" cy="9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 name="Google Shape;78;p11"/>
            <p:cNvGrpSpPr/>
            <p:nvPr/>
          </p:nvGrpSpPr>
          <p:grpSpPr>
            <a:xfrm flipH="1" rot="10800000">
              <a:off x="2467871" y="298450"/>
              <a:ext cx="6506400" cy="90900"/>
              <a:chOff x="1239825" y="571500"/>
              <a:chExt cx="6506400" cy="90900"/>
            </a:xfrm>
          </p:grpSpPr>
          <p:cxnSp>
            <p:nvCxnSpPr>
              <p:cNvPr id="79" name="Google Shape;79;p11"/>
              <p:cNvCxnSpPr/>
              <p:nvPr/>
            </p:nvCxnSpPr>
            <p:spPr>
              <a:xfrm>
                <a:off x="1239825" y="571500"/>
                <a:ext cx="6506400" cy="0"/>
              </a:xfrm>
              <a:prstGeom prst="straightConnector1">
                <a:avLst/>
              </a:prstGeom>
              <a:noFill/>
              <a:ln cap="flat" cmpd="sng" w="9525">
                <a:solidFill>
                  <a:schemeClr val="dk1"/>
                </a:solidFill>
                <a:prstDash val="solid"/>
                <a:round/>
                <a:headEnd len="med" w="med" type="none"/>
                <a:tailEnd len="med" w="med" type="none"/>
              </a:ln>
            </p:spPr>
          </p:cxnSp>
          <p:sp>
            <p:nvSpPr>
              <p:cNvPr id="80" name="Google Shape;80;p11"/>
              <p:cNvSpPr/>
              <p:nvPr/>
            </p:nvSpPr>
            <p:spPr>
              <a:xfrm>
                <a:off x="1239825" y="571500"/>
                <a:ext cx="505200" cy="9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3"/>
        </a:solidFill>
      </p:bgPr>
    </p:bg>
    <p:spTree>
      <p:nvGrpSpPr>
        <p:cNvPr id="81" name="Shape 8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Font typeface="Akatab"/>
              <a:buChar char="●"/>
              <a:defRPr sz="1200">
                <a:solidFill>
                  <a:schemeClr val="dk1"/>
                </a:solidFill>
                <a:latin typeface="Akatab"/>
                <a:ea typeface="Akatab"/>
                <a:cs typeface="Akatab"/>
                <a:sym typeface="Akatab"/>
              </a:defRPr>
            </a:lvl1pPr>
            <a:lvl2pPr indent="-304800" lvl="1" marL="9144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2pPr>
            <a:lvl3pPr indent="-304800" lvl="2" marL="13716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3pPr>
            <a:lvl4pPr indent="-304800" lvl="3" marL="18288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4pPr>
            <a:lvl5pPr indent="-304800" lvl="4" marL="22860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5pPr>
            <a:lvl6pPr indent="-304800" lvl="5" marL="27432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6pPr>
            <a:lvl7pPr indent="-304800" lvl="6" marL="32004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7pPr>
            <a:lvl8pPr indent="-304800" lvl="7" marL="36576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8pPr>
            <a:lvl9pPr indent="-304800" lvl="8" marL="4114800" rtl="0">
              <a:lnSpc>
                <a:spcPct val="100000"/>
              </a:lnSpc>
              <a:spcBef>
                <a:spcPts val="1600"/>
              </a:spcBef>
              <a:spcAft>
                <a:spcPts val="1600"/>
              </a:spcAft>
              <a:buClr>
                <a:schemeClr val="dk1"/>
              </a:buClr>
              <a:buSzPts val="1200"/>
              <a:buFont typeface="Akatab"/>
              <a:buChar char="■"/>
              <a:defRPr sz="1200">
                <a:solidFill>
                  <a:schemeClr val="dk1"/>
                </a:solidFill>
                <a:latin typeface="Akatab"/>
                <a:ea typeface="Akatab"/>
                <a:cs typeface="Akatab"/>
                <a:sym typeface="Akatab"/>
              </a:defRPr>
            </a:lvl9pPr>
          </a:lstStyle>
          <a:p/>
        </p:txBody>
      </p:sp>
      <p:sp>
        <p:nvSpPr>
          <p:cNvPr id="7" name="Google Shape;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500"/>
              <a:buFont typeface="Noto Serif Ethiopic"/>
              <a:buNone/>
              <a:defRPr sz="3500">
                <a:solidFill>
                  <a:schemeClr val="dk1"/>
                </a:solidFill>
                <a:latin typeface="Noto Serif Ethiopic"/>
                <a:ea typeface="Noto Serif Ethiopic"/>
                <a:cs typeface="Noto Serif Ethiopic"/>
                <a:sym typeface="Noto Serif Ethiopic"/>
              </a:defRPr>
            </a:lvl1pPr>
            <a:lvl2pPr lvl="1" rtl="0">
              <a:spcBef>
                <a:spcPts val="0"/>
              </a:spcBef>
              <a:spcAft>
                <a:spcPts val="0"/>
              </a:spcAft>
              <a:buClr>
                <a:schemeClr val="dk1"/>
              </a:buClr>
              <a:buSzPts val="3500"/>
              <a:buFont typeface="Noto Serif Ethiopic"/>
              <a:buNone/>
              <a:defRPr sz="3500">
                <a:solidFill>
                  <a:schemeClr val="dk1"/>
                </a:solidFill>
                <a:latin typeface="Noto Serif Ethiopic"/>
                <a:ea typeface="Noto Serif Ethiopic"/>
                <a:cs typeface="Noto Serif Ethiopic"/>
                <a:sym typeface="Noto Serif Ethiopic"/>
              </a:defRPr>
            </a:lvl2pPr>
            <a:lvl3pPr lvl="2" rtl="0">
              <a:spcBef>
                <a:spcPts val="0"/>
              </a:spcBef>
              <a:spcAft>
                <a:spcPts val="0"/>
              </a:spcAft>
              <a:buClr>
                <a:schemeClr val="dk1"/>
              </a:buClr>
              <a:buSzPts val="3500"/>
              <a:buFont typeface="Noto Serif Ethiopic"/>
              <a:buNone/>
              <a:defRPr sz="3500">
                <a:solidFill>
                  <a:schemeClr val="dk1"/>
                </a:solidFill>
                <a:latin typeface="Noto Serif Ethiopic"/>
                <a:ea typeface="Noto Serif Ethiopic"/>
                <a:cs typeface="Noto Serif Ethiopic"/>
                <a:sym typeface="Noto Serif Ethiopic"/>
              </a:defRPr>
            </a:lvl3pPr>
            <a:lvl4pPr lvl="3" rtl="0">
              <a:spcBef>
                <a:spcPts val="0"/>
              </a:spcBef>
              <a:spcAft>
                <a:spcPts val="0"/>
              </a:spcAft>
              <a:buClr>
                <a:schemeClr val="dk1"/>
              </a:buClr>
              <a:buSzPts val="3500"/>
              <a:buFont typeface="Noto Serif Ethiopic"/>
              <a:buNone/>
              <a:defRPr sz="3500">
                <a:solidFill>
                  <a:schemeClr val="dk1"/>
                </a:solidFill>
                <a:latin typeface="Noto Serif Ethiopic"/>
                <a:ea typeface="Noto Serif Ethiopic"/>
                <a:cs typeface="Noto Serif Ethiopic"/>
                <a:sym typeface="Noto Serif Ethiopic"/>
              </a:defRPr>
            </a:lvl4pPr>
            <a:lvl5pPr lvl="4" rtl="0">
              <a:spcBef>
                <a:spcPts val="0"/>
              </a:spcBef>
              <a:spcAft>
                <a:spcPts val="0"/>
              </a:spcAft>
              <a:buClr>
                <a:schemeClr val="dk1"/>
              </a:buClr>
              <a:buSzPts val="3500"/>
              <a:buFont typeface="Noto Serif Ethiopic"/>
              <a:buNone/>
              <a:defRPr sz="3500">
                <a:solidFill>
                  <a:schemeClr val="dk1"/>
                </a:solidFill>
                <a:latin typeface="Noto Serif Ethiopic"/>
                <a:ea typeface="Noto Serif Ethiopic"/>
                <a:cs typeface="Noto Serif Ethiopic"/>
                <a:sym typeface="Noto Serif Ethiopic"/>
              </a:defRPr>
            </a:lvl5pPr>
            <a:lvl6pPr lvl="5" rtl="0">
              <a:spcBef>
                <a:spcPts val="0"/>
              </a:spcBef>
              <a:spcAft>
                <a:spcPts val="0"/>
              </a:spcAft>
              <a:buClr>
                <a:schemeClr val="dk1"/>
              </a:buClr>
              <a:buSzPts val="3500"/>
              <a:buFont typeface="Noto Serif Ethiopic"/>
              <a:buNone/>
              <a:defRPr sz="3500">
                <a:solidFill>
                  <a:schemeClr val="dk1"/>
                </a:solidFill>
                <a:latin typeface="Noto Serif Ethiopic"/>
                <a:ea typeface="Noto Serif Ethiopic"/>
                <a:cs typeface="Noto Serif Ethiopic"/>
                <a:sym typeface="Noto Serif Ethiopic"/>
              </a:defRPr>
            </a:lvl6pPr>
            <a:lvl7pPr lvl="6" rtl="0">
              <a:spcBef>
                <a:spcPts val="0"/>
              </a:spcBef>
              <a:spcAft>
                <a:spcPts val="0"/>
              </a:spcAft>
              <a:buClr>
                <a:schemeClr val="dk1"/>
              </a:buClr>
              <a:buSzPts val="3500"/>
              <a:buFont typeface="Noto Serif Ethiopic"/>
              <a:buNone/>
              <a:defRPr sz="3500">
                <a:solidFill>
                  <a:schemeClr val="dk1"/>
                </a:solidFill>
                <a:latin typeface="Noto Serif Ethiopic"/>
                <a:ea typeface="Noto Serif Ethiopic"/>
                <a:cs typeface="Noto Serif Ethiopic"/>
                <a:sym typeface="Noto Serif Ethiopic"/>
              </a:defRPr>
            </a:lvl7pPr>
            <a:lvl8pPr lvl="7" rtl="0">
              <a:spcBef>
                <a:spcPts val="0"/>
              </a:spcBef>
              <a:spcAft>
                <a:spcPts val="0"/>
              </a:spcAft>
              <a:buClr>
                <a:schemeClr val="dk1"/>
              </a:buClr>
              <a:buSzPts val="3500"/>
              <a:buFont typeface="Noto Serif Ethiopic"/>
              <a:buNone/>
              <a:defRPr sz="3500">
                <a:solidFill>
                  <a:schemeClr val="dk1"/>
                </a:solidFill>
                <a:latin typeface="Noto Serif Ethiopic"/>
                <a:ea typeface="Noto Serif Ethiopic"/>
                <a:cs typeface="Noto Serif Ethiopic"/>
                <a:sym typeface="Noto Serif Ethiopic"/>
              </a:defRPr>
            </a:lvl8pPr>
            <a:lvl9pPr lvl="8" rtl="0">
              <a:spcBef>
                <a:spcPts val="0"/>
              </a:spcBef>
              <a:spcAft>
                <a:spcPts val="0"/>
              </a:spcAft>
              <a:buClr>
                <a:schemeClr val="dk1"/>
              </a:buClr>
              <a:buSzPts val="3500"/>
              <a:buFont typeface="Noto Serif Ethiopic"/>
              <a:buNone/>
              <a:defRPr sz="3500">
                <a:solidFill>
                  <a:schemeClr val="dk1"/>
                </a:solidFill>
                <a:latin typeface="Noto Serif Ethiopic"/>
                <a:ea typeface="Noto Serif Ethiopic"/>
                <a:cs typeface="Noto Serif Ethiopic"/>
                <a:sym typeface="Noto Serif Ethiopic"/>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3.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3.png"/><Relationship Id="rId4" Type="http://schemas.openxmlformats.org/officeDocument/2006/relationships/hyperlink" Target="https://www.dollarama.com/en-CA/corp/about-us" TargetMode="External"/><Relationship Id="rId9" Type="http://schemas.openxmlformats.org/officeDocument/2006/relationships/hyperlink" Target="http://lexisnexis.com/" TargetMode="External"/><Relationship Id="rId5" Type="http://schemas.openxmlformats.org/officeDocument/2006/relationships/hyperlink" Target="http://www.dollartreecanada.com" TargetMode="External"/><Relationship Id="rId6" Type="http://schemas.openxmlformats.org/officeDocument/2006/relationships/hyperlink" Target="http://www.gianttiger.com/collections/brand-mystyle?gad_source=1&amp;gclid=CjwKCAjwnv-vBhBdEiwABCYQA_q7KzvNqUKjkrChxjsrekcT2TN-8OLu8VlbCcCIJm6ZaPudFecYJxoCLcAQAvD_BwE&amp;store_inventory=bopis&amp;online_inventory=sth" TargetMode="External"/><Relationship Id="rId7" Type="http://schemas.openxmlformats.org/officeDocument/2006/relationships/hyperlink" Target="http://www.loblaws.ca" TargetMode="External"/><Relationship Id="rId8" Type="http://schemas.openxmlformats.org/officeDocument/2006/relationships/hyperlink" Target="http://wipo.int/"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861750" y="1742792"/>
            <a:ext cx="7420500" cy="1805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700"/>
              <a:t>Final Overview of the New Product Launch for </a:t>
            </a:r>
            <a:r>
              <a:rPr b="1" lang="en" sz="3700">
                <a:solidFill>
                  <a:srgbClr val="38761D"/>
                </a:solidFill>
              </a:rPr>
              <a:t>Dollarama</a:t>
            </a:r>
            <a:r>
              <a:rPr lang="en" sz="3700"/>
              <a:t> for Incremental Sales Growth</a:t>
            </a:r>
            <a:endParaRPr sz="3700"/>
          </a:p>
        </p:txBody>
      </p:sp>
      <p:sp>
        <p:nvSpPr>
          <p:cNvPr id="87" name="Google Shape;87;p13"/>
          <p:cNvSpPr txBox="1"/>
          <p:nvPr>
            <p:ph idx="1" type="subTitle"/>
          </p:nvPr>
        </p:nvSpPr>
        <p:spPr>
          <a:xfrm>
            <a:off x="2382288" y="3548212"/>
            <a:ext cx="4379400" cy="123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00"/>
              <a:t>Group #3: Yujia Dong, Cem Sonmez, Hleb Klymenko, Jahangir Riyaz Mohamed H M Virji, Shreya Punj</a:t>
            </a:r>
            <a:endParaRPr sz="1300"/>
          </a:p>
          <a:p>
            <a:pPr indent="0" lvl="0" marL="0" rtl="0" algn="ctr">
              <a:spcBef>
                <a:spcPts val="0"/>
              </a:spcBef>
              <a:spcAft>
                <a:spcPts val="0"/>
              </a:spcAft>
              <a:buNone/>
            </a:pPr>
            <a:r>
              <a:rPr lang="en" sz="1300"/>
              <a:t>Professor: Elizabeth Henry Walford</a:t>
            </a:r>
            <a:endParaRPr sz="1300"/>
          </a:p>
          <a:p>
            <a:pPr indent="0" lvl="0" marL="0" rtl="0" algn="ctr">
              <a:spcBef>
                <a:spcPts val="0"/>
              </a:spcBef>
              <a:spcAft>
                <a:spcPts val="0"/>
              </a:spcAft>
              <a:buNone/>
            </a:pPr>
            <a:r>
              <a:rPr lang="en" sz="1300"/>
              <a:t>MRK662SBB New Product Launch</a:t>
            </a:r>
            <a:endParaRPr sz="1300"/>
          </a:p>
          <a:p>
            <a:pPr indent="0" lvl="0" marL="0" rtl="0" algn="ctr">
              <a:spcBef>
                <a:spcPts val="0"/>
              </a:spcBef>
              <a:spcAft>
                <a:spcPts val="0"/>
              </a:spcAft>
              <a:buNone/>
            </a:pPr>
            <a:r>
              <a:rPr lang="en" sz="1300"/>
              <a:t>2024/04/19</a:t>
            </a:r>
            <a:endParaRPr sz="1300"/>
          </a:p>
        </p:txBody>
      </p:sp>
      <p:pic>
        <p:nvPicPr>
          <p:cNvPr id="88" name="Google Shape;88;p13"/>
          <p:cNvPicPr preferRelativeResize="0"/>
          <p:nvPr/>
        </p:nvPicPr>
        <p:blipFill>
          <a:blip r:embed="rId3">
            <a:alphaModFix/>
          </a:blip>
          <a:stretch>
            <a:fillRect/>
          </a:stretch>
        </p:blipFill>
        <p:spPr>
          <a:xfrm>
            <a:off x="3284975" y="250075"/>
            <a:ext cx="2574049" cy="1418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720000" y="169629"/>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Table of Content</a:t>
            </a:r>
            <a:endParaRPr sz="2200"/>
          </a:p>
        </p:txBody>
      </p:sp>
      <p:sp>
        <p:nvSpPr>
          <p:cNvPr id="94" name="Google Shape;94;p14"/>
          <p:cNvSpPr txBox="1"/>
          <p:nvPr/>
        </p:nvSpPr>
        <p:spPr>
          <a:xfrm>
            <a:off x="720000" y="650555"/>
            <a:ext cx="768000" cy="52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Noto Serif Ethiopic"/>
                <a:ea typeface="Noto Serif Ethiopic"/>
                <a:cs typeface="Noto Serif Ethiopic"/>
                <a:sym typeface="Noto Serif Ethiopic"/>
              </a:rPr>
              <a:t>01</a:t>
            </a:r>
            <a:endParaRPr sz="2000">
              <a:solidFill>
                <a:schemeClr val="accent1"/>
              </a:solidFill>
              <a:latin typeface="Noto Serif Ethiopic"/>
              <a:ea typeface="Noto Serif Ethiopic"/>
              <a:cs typeface="Noto Serif Ethiopic"/>
              <a:sym typeface="Noto Serif Ethiopic"/>
            </a:endParaRPr>
          </a:p>
        </p:txBody>
      </p:sp>
      <p:sp>
        <p:nvSpPr>
          <p:cNvPr id="95" name="Google Shape;95;p14"/>
          <p:cNvSpPr txBox="1"/>
          <p:nvPr/>
        </p:nvSpPr>
        <p:spPr>
          <a:xfrm>
            <a:off x="1367400" y="837975"/>
            <a:ext cx="17664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Company Description</a:t>
            </a:r>
            <a:endParaRPr sz="1200">
              <a:solidFill>
                <a:schemeClr val="dk1"/>
              </a:solidFill>
              <a:latin typeface="Noto Serif Ethiopic"/>
              <a:ea typeface="Noto Serif Ethiopic"/>
              <a:cs typeface="Noto Serif Ethiopic"/>
              <a:sym typeface="Noto Serif Ethiopic"/>
            </a:endParaRPr>
          </a:p>
        </p:txBody>
      </p:sp>
      <p:sp>
        <p:nvSpPr>
          <p:cNvPr id="96" name="Google Shape;96;p14"/>
          <p:cNvSpPr/>
          <p:nvPr/>
        </p:nvSpPr>
        <p:spPr>
          <a:xfrm>
            <a:off x="840600" y="1079875"/>
            <a:ext cx="526800" cy="59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p>
        </p:txBody>
      </p:sp>
      <p:sp>
        <p:nvSpPr>
          <p:cNvPr id="97" name="Google Shape;97;p14"/>
          <p:cNvSpPr txBox="1"/>
          <p:nvPr/>
        </p:nvSpPr>
        <p:spPr>
          <a:xfrm>
            <a:off x="720000" y="1381480"/>
            <a:ext cx="768000" cy="52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Noto Serif Ethiopic"/>
                <a:ea typeface="Noto Serif Ethiopic"/>
                <a:cs typeface="Noto Serif Ethiopic"/>
                <a:sym typeface="Noto Serif Ethiopic"/>
              </a:rPr>
              <a:t>02</a:t>
            </a:r>
            <a:endParaRPr sz="2000">
              <a:solidFill>
                <a:schemeClr val="accent1"/>
              </a:solidFill>
              <a:latin typeface="Noto Serif Ethiopic"/>
              <a:ea typeface="Noto Serif Ethiopic"/>
              <a:cs typeface="Noto Serif Ethiopic"/>
              <a:sym typeface="Noto Serif Ethiopic"/>
            </a:endParaRPr>
          </a:p>
        </p:txBody>
      </p:sp>
      <p:sp>
        <p:nvSpPr>
          <p:cNvPr id="98" name="Google Shape;98;p14"/>
          <p:cNvSpPr txBox="1"/>
          <p:nvPr/>
        </p:nvSpPr>
        <p:spPr>
          <a:xfrm>
            <a:off x="1367400" y="1568900"/>
            <a:ext cx="17664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Current Product Offering</a:t>
            </a:r>
            <a:endParaRPr sz="1200">
              <a:solidFill>
                <a:schemeClr val="dk1"/>
              </a:solidFill>
              <a:latin typeface="Noto Serif Ethiopic"/>
              <a:ea typeface="Noto Serif Ethiopic"/>
              <a:cs typeface="Noto Serif Ethiopic"/>
              <a:sym typeface="Noto Serif Ethiopic"/>
            </a:endParaRPr>
          </a:p>
        </p:txBody>
      </p:sp>
      <p:sp>
        <p:nvSpPr>
          <p:cNvPr id="99" name="Google Shape;99;p14"/>
          <p:cNvSpPr/>
          <p:nvPr/>
        </p:nvSpPr>
        <p:spPr>
          <a:xfrm>
            <a:off x="840600" y="1810800"/>
            <a:ext cx="526800" cy="59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p>
        </p:txBody>
      </p:sp>
      <p:sp>
        <p:nvSpPr>
          <p:cNvPr id="100" name="Google Shape;100;p14"/>
          <p:cNvSpPr txBox="1"/>
          <p:nvPr/>
        </p:nvSpPr>
        <p:spPr>
          <a:xfrm>
            <a:off x="720000" y="2112405"/>
            <a:ext cx="768000" cy="52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Noto Serif Ethiopic"/>
                <a:ea typeface="Noto Serif Ethiopic"/>
                <a:cs typeface="Noto Serif Ethiopic"/>
                <a:sym typeface="Noto Serif Ethiopic"/>
              </a:rPr>
              <a:t>03</a:t>
            </a:r>
            <a:endParaRPr sz="2000">
              <a:solidFill>
                <a:schemeClr val="accent1"/>
              </a:solidFill>
              <a:latin typeface="Noto Serif Ethiopic"/>
              <a:ea typeface="Noto Serif Ethiopic"/>
              <a:cs typeface="Noto Serif Ethiopic"/>
              <a:sym typeface="Noto Serif Ethiopic"/>
            </a:endParaRPr>
          </a:p>
        </p:txBody>
      </p:sp>
      <p:sp>
        <p:nvSpPr>
          <p:cNvPr id="101" name="Google Shape;101;p14"/>
          <p:cNvSpPr txBox="1"/>
          <p:nvPr/>
        </p:nvSpPr>
        <p:spPr>
          <a:xfrm>
            <a:off x="1367400" y="2299825"/>
            <a:ext cx="18774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Concept Test/Design</a:t>
            </a:r>
            <a:endParaRPr sz="1200">
              <a:solidFill>
                <a:schemeClr val="dk1"/>
              </a:solidFill>
              <a:latin typeface="Noto Serif Ethiopic"/>
              <a:ea typeface="Noto Serif Ethiopic"/>
              <a:cs typeface="Noto Serif Ethiopic"/>
              <a:sym typeface="Noto Serif Ethiopic"/>
            </a:endParaRPr>
          </a:p>
        </p:txBody>
      </p:sp>
      <p:sp>
        <p:nvSpPr>
          <p:cNvPr id="102" name="Google Shape;102;p14"/>
          <p:cNvSpPr/>
          <p:nvPr/>
        </p:nvSpPr>
        <p:spPr>
          <a:xfrm>
            <a:off x="840600" y="2541725"/>
            <a:ext cx="526800" cy="59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p>
        </p:txBody>
      </p:sp>
      <p:sp>
        <p:nvSpPr>
          <p:cNvPr id="103" name="Google Shape;103;p14"/>
          <p:cNvSpPr txBox="1"/>
          <p:nvPr/>
        </p:nvSpPr>
        <p:spPr>
          <a:xfrm>
            <a:off x="720000" y="2843330"/>
            <a:ext cx="768000" cy="52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Noto Serif Ethiopic"/>
                <a:ea typeface="Noto Serif Ethiopic"/>
                <a:cs typeface="Noto Serif Ethiopic"/>
                <a:sym typeface="Noto Serif Ethiopic"/>
              </a:rPr>
              <a:t>04</a:t>
            </a:r>
            <a:endParaRPr sz="2000">
              <a:solidFill>
                <a:schemeClr val="accent1"/>
              </a:solidFill>
              <a:latin typeface="Noto Serif Ethiopic"/>
              <a:ea typeface="Noto Serif Ethiopic"/>
              <a:cs typeface="Noto Serif Ethiopic"/>
              <a:sym typeface="Noto Serif Ethiopic"/>
            </a:endParaRPr>
          </a:p>
        </p:txBody>
      </p:sp>
      <p:sp>
        <p:nvSpPr>
          <p:cNvPr id="104" name="Google Shape;104;p14"/>
          <p:cNvSpPr txBox="1"/>
          <p:nvPr/>
        </p:nvSpPr>
        <p:spPr>
          <a:xfrm>
            <a:off x="1367400" y="3208500"/>
            <a:ext cx="1416300" cy="15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Internal Screen</a:t>
            </a:r>
            <a:endParaRPr sz="1200">
              <a:solidFill>
                <a:schemeClr val="dk1"/>
              </a:solidFill>
              <a:latin typeface="Noto Serif Ethiopic"/>
              <a:ea typeface="Noto Serif Ethiopic"/>
              <a:cs typeface="Noto Serif Ethiopic"/>
              <a:sym typeface="Noto Serif Ethiopic"/>
            </a:endParaRPr>
          </a:p>
        </p:txBody>
      </p:sp>
      <p:sp>
        <p:nvSpPr>
          <p:cNvPr id="105" name="Google Shape;105;p14"/>
          <p:cNvSpPr/>
          <p:nvPr/>
        </p:nvSpPr>
        <p:spPr>
          <a:xfrm>
            <a:off x="840600" y="3272650"/>
            <a:ext cx="526800" cy="59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p>
        </p:txBody>
      </p:sp>
      <p:sp>
        <p:nvSpPr>
          <p:cNvPr id="106" name="Google Shape;106;p14"/>
          <p:cNvSpPr txBox="1"/>
          <p:nvPr/>
        </p:nvSpPr>
        <p:spPr>
          <a:xfrm>
            <a:off x="720000" y="3574256"/>
            <a:ext cx="768000" cy="52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Noto Serif Ethiopic"/>
                <a:ea typeface="Noto Serif Ethiopic"/>
                <a:cs typeface="Noto Serif Ethiopic"/>
                <a:sym typeface="Noto Serif Ethiopic"/>
              </a:rPr>
              <a:t>05</a:t>
            </a:r>
            <a:endParaRPr sz="2000">
              <a:solidFill>
                <a:schemeClr val="accent1"/>
              </a:solidFill>
              <a:latin typeface="Noto Serif Ethiopic"/>
              <a:ea typeface="Noto Serif Ethiopic"/>
              <a:cs typeface="Noto Serif Ethiopic"/>
              <a:sym typeface="Noto Serif Ethiopic"/>
            </a:endParaRPr>
          </a:p>
        </p:txBody>
      </p:sp>
      <p:sp>
        <p:nvSpPr>
          <p:cNvPr id="107" name="Google Shape;107;p14"/>
          <p:cNvSpPr txBox="1"/>
          <p:nvPr/>
        </p:nvSpPr>
        <p:spPr>
          <a:xfrm>
            <a:off x="1367400" y="3761675"/>
            <a:ext cx="13518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Internal Cull</a:t>
            </a:r>
            <a:endParaRPr sz="1200">
              <a:solidFill>
                <a:schemeClr val="dk1"/>
              </a:solidFill>
              <a:latin typeface="Noto Serif Ethiopic"/>
              <a:ea typeface="Noto Serif Ethiopic"/>
              <a:cs typeface="Noto Serif Ethiopic"/>
              <a:sym typeface="Noto Serif Ethiopic"/>
            </a:endParaRPr>
          </a:p>
        </p:txBody>
      </p:sp>
      <p:sp>
        <p:nvSpPr>
          <p:cNvPr id="108" name="Google Shape;108;p14"/>
          <p:cNvSpPr/>
          <p:nvPr/>
        </p:nvSpPr>
        <p:spPr>
          <a:xfrm>
            <a:off x="840600" y="4003577"/>
            <a:ext cx="526800" cy="59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p>
        </p:txBody>
      </p:sp>
      <p:sp>
        <p:nvSpPr>
          <p:cNvPr id="109" name="Google Shape;109;p14"/>
          <p:cNvSpPr txBox="1"/>
          <p:nvPr/>
        </p:nvSpPr>
        <p:spPr>
          <a:xfrm>
            <a:off x="3611389" y="1397519"/>
            <a:ext cx="768000" cy="52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Noto Serif Ethiopic"/>
                <a:ea typeface="Noto Serif Ethiopic"/>
                <a:cs typeface="Noto Serif Ethiopic"/>
                <a:sym typeface="Noto Serif Ethiopic"/>
              </a:rPr>
              <a:t>07</a:t>
            </a:r>
            <a:endParaRPr sz="2000">
              <a:solidFill>
                <a:schemeClr val="accent1"/>
              </a:solidFill>
              <a:latin typeface="Noto Serif Ethiopic"/>
              <a:ea typeface="Noto Serif Ethiopic"/>
              <a:cs typeface="Noto Serif Ethiopic"/>
              <a:sym typeface="Noto Serif Ethiopic"/>
            </a:endParaRPr>
          </a:p>
        </p:txBody>
      </p:sp>
      <p:sp>
        <p:nvSpPr>
          <p:cNvPr id="110" name="Google Shape;110;p14"/>
          <p:cNvSpPr txBox="1"/>
          <p:nvPr/>
        </p:nvSpPr>
        <p:spPr>
          <a:xfrm>
            <a:off x="4258809" y="1584938"/>
            <a:ext cx="17664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Concept Recommendation </a:t>
            </a:r>
            <a:endParaRPr sz="1200">
              <a:solidFill>
                <a:schemeClr val="dk1"/>
              </a:solidFill>
              <a:latin typeface="Noto Serif Ethiopic"/>
              <a:ea typeface="Noto Serif Ethiopic"/>
              <a:cs typeface="Noto Serif Ethiopic"/>
              <a:sym typeface="Noto Serif Ethiopic"/>
            </a:endParaRPr>
          </a:p>
        </p:txBody>
      </p:sp>
      <p:sp>
        <p:nvSpPr>
          <p:cNvPr id="111" name="Google Shape;111;p14"/>
          <p:cNvSpPr/>
          <p:nvPr/>
        </p:nvSpPr>
        <p:spPr>
          <a:xfrm>
            <a:off x="3731989" y="1826839"/>
            <a:ext cx="526800" cy="59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p>
        </p:txBody>
      </p:sp>
      <p:sp>
        <p:nvSpPr>
          <p:cNvPr id="112" name="Google Shape;112;p14"/>
          <p:cNvSpPr txBox="1"/>
          <p:nvPr/>
        </p:nvSpPr>
        <p:spPr>
          <a:xfrm>
            <a:off x="3611389" y="2128444"/>
            <a:ext cx="768000" cy="52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Noto Serif Ethiopic"/>
                <a:ea typeface="Noto Serif Ethiopic"/>
                <a:cs typeface="Noto Serif Ethiopic"/>
                <a:sym typeface="Noto Serif Ethiopic"/>
              </a:rPr>
              <a:t>08</a:t>
            </a:r>
            <a:endParaRPr sz="2000">
              <a:solidFill>
                <a:schemeClr val="accent1"/>
              </a:solidFill>
              <a:latin typeface="Noto Serif Ethiopic"/>
              <a:ea typeface="Noto Serif Ethiopic"/>
              <a:cs typeface="Noto Serif Ethiopic"/>
              <a:sym typeface="Noto Serif Ethiopic"/>
            </a:endParaRPr>
          </a:p>
        </p:txBody>
      </p:sp>
      <p:sp>
        <p:nvSpPr>
          <p:cNvPr id="113" name="Google Shape;113;p14"/>
          <p:cNvSpPr txBox="1"/>
          <p:nvPr/>
        </p:nvSpPr>
        <p:spPr>
          <a:xfrm>
            <a:off x="4258807" y="2315863"/>
            <a:ext cx="15921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Development Justification</a:t>
            </a:r>
            <a:endParaRPr sz="1200">
              <a:solidFill>
                <a:schemeClr val="dk1"/>
              </a:solidFill>
              <a:latin typeface="Noto Serif Ethiopic"/>
              <a:ea typeface="Noto Serif Ethiopic"/>
              <a:cs typeface="Noto Serif Ethiopic"/>
              <a:sym typeface="Noto Serif Ethiopic"/>
            </a:endParaRPr>
          </a:p>
        </p:txBody>
      </p:sp>
      <p:sp>
        <p:nvSpPr>
          <p:cNvPr id="114" name="Google Shape;114;p14"/>
          <p:cNvSpPr/>
          <p:nvPr/>
        </p:nvSpPr>
        <p:spPr>
          <a:xfrm>
            <a:off x="3731989" y="2557764"/>
            <a:ext cx="526800" cy="59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p>
        </p:txBody>
      </p:sp>
      <p:sp>
        <p:nvSpPr>
          <p:cNvPr id="115" name="Google Shape;115;p14"/>
          <p:cNvSpPr txBox="1"/>
          <p:nvPr/>
        </p:nvSpPr>
        <p:spPr>
          <a:xfrm>
            <a:off x="3611389" y="666594"/>
            <a:ext cx="768000" cy="52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Noto Serif Ethiopic"/>
                <a:ea typeface="Noto Serif Ethiopic"/>
                <a:cs typeface="Noto Serif Ethiopic"/>
                <a:sym typeface="Noto Serif Ethiopic"/>
              </a:rPr>
              <a:t>06</a:t>
            </a:r>
            <a:endParaRPr sz="2000">
              <a:solidFill>
                <a:schemeClr val="accent1"/>
              </a:solidFill>
              <a:latin typeface="Noto Serif Ethiopic"/>
              <a:ea typeface="Noto Serif Ethiopic"/>
              <a:cs typeface="Noto Serif Ethiopic"/>
              <a:sym typeface="Noto Serif Ethiopic"/>
            </a:endParaRPr>
          </a:p>
        </p:txBody>
      </p:sp>
      <p:sp>
        <p:nvSpPr>
          <p:cNvPr id="116" name="Google Shape;116;p14"/>
          <p:cNvSpPr txBox="1"/>
          <p:nvPr/>
        </p:nvSpPr>
        <p:spPr>
          <a:xfrm>
            <a:off x="4258800" y="708263"/>
            <a:ext cx="2158800" cy="511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Competitors</a:t>
            </a:r>
            <a:r>
              <a:rPr lang="en" sz="1200">
                <a:solidFill>
                  <a:schemeClr val="dk1"/>
                </a:solidFill>
                <a:latin typeface="Noto Serif Ethiopic"/>
                <a:ea typeface="Noto Serif Ethiopic"/>
                <a:cs typeface="Noto Serif Ethiopic"/>
                <a:sym typeface="Noto Serif Ethiopic"/>
              </a:rPr>
              <a:t>, Positioning Map, Target &amp; External Screen </a:t>
            </a:r>
            <a:endParaRPr sz="1200">
              <a:solidFill>
                <a:schemeClr val="dk1"/>
              </a:solidFill>
              <a:latin typeface="Noto Serif Ethiopic"/>
              <a:ea typeface="Noto Serif Ethiopic"/>
              <a:cs typeface="Noto Serif Ethiopic"/>
              <a:sym typeface="Noto Serif Ethiopic"/>
            </a:endParaRPr>
          </a:p>
        </p:txBody>
      </p:sp>
      <p:sp>
        <p:nvSpPr>
          <p:cNvPr id="117" name="Google Shape;117;p14"/>
          <p:cNvSpPr/>
          <p:nvPr/>
        </p:nvSpPr>
        <p:spPr>
          <a:xfrm>
            <a:off x="3731989" y="1095914"/>
            <a:ext cx="526800" cy="59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p>
        </p:txBody>
      </p:sp>
      <p:sp>
        <p:nvSpPr>
          <p:cNvPr id="118" name="Google Shape;118;p14"/>
          <p:cNvSpPr txBox="1"/>
          <p:nvPr/>
        </p:nvSpPr>
        <p:spPr>
          <a:xfrm>
            <a:off x="3611389" y="2859369"/>
            <a:ext cx="768000" cy="52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Noto Serif Ethiopic"/>
                <a:ea typeface="Noto Serif Ethiopic"/>
                <a:cs typeface="Noto Serif Ethiopic"/>
                <a:sym typeface="Noto Serif Ethiopic"/>
              </a:rPr>
              <a:t>09</a:t>
            </a:r>
            <a:endParaRPr sz="2000">
              <a:solidFill>
                <a:schemeClr val="accent1"/>
              </a:solidFill>
              <a:latin typeface="Noto Serif Ethiopic"/>
              <a:ea typeface="Noto Serif Ethiopic"/>
              <a:cs typeface="Noto Serif Ethiopic"/>
              <a:sym typeface="Noto Serif Ethiopic"/>
            </a:endParaRPr>
          </a:p>
        </p:txBody>
      </p:sp>
      <p:sp>
        <p:nvSpPr>
          <p:cNvPr id="119" name="Google Shape;119;p14"/>
          <p:cNvSpPr txBox="1"/>
          <p:nvPr/>
        </p:nvSpPr>
        <p:spPr>
          <a:xfrm>
            <a:off x="4258808" y="3046788"/>
            <a:ext cx="16887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New Product Contribution to Growth</a:t>
            </a:r>
            <a:endParaRPr sz="1200">
              <a:solidFill>
                <a:schemeClr val="dk1"/>
              </a:solidFill>
              <a:latin typeface="Noto Serif Ethiopic"/>
              <a:ea typeface="Noto Serif Ethiopic"/>
              <a:cs typeface="Noto Serif Ethiopic"/>
              <a:sym typeface="Noto Serif Ethiopic"/>
            </a:endParaRPr>
          </a:p>
        </p:txBody>
      </p:sp>
      <p:sp>
        <p:nvSpPr>
          <p:cNvPr id="120" name="Google Shape;120;p14"/>
          <p:cNvSpPr/>
          <p:nvPr/>
        </p:nvSpPr>
        <p:spPr>
          <a:xfrm>
            <a:off x="3731989" y="3288689"/>
            <a:ext cx="526800" cy="59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p>
        </p:txBody>
      </p:sp>
      <p:sp>
        <p:nvSpPr>
          <p:cNvPr id="121" name="Google Shape;121;p14"/>
          <p:cNvSpPr txBox="1"/>
          <p:nvPr/>
        </p:nvSpPr>
        <p:spPr>
          <a:xfrm>
            <a:off x="3611389" y="3558219"/>
            <a:ext cx="768000" cy="52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Noto Serif Ethiopic"/>
                <a:ea typeface="Noto Serif Ethiopic"/>
                <a:cs typeface="Noto Serif Ethiopic"/>
                <a:sym typeface="Noto Serif Ethiopic"/>
              </a:rPr>
              <a:t>10</a:t>
            </a:r>
            <a:endParaRPr sz="2000">
              <a:solidFill>
                <a:schemeClr val="accent1"/>
              </a:solidFill>
              <a:latin typeface="Noto Serif Ethiopic"/>
              <a:ea typeface="Noto Serif Ethiopic"/>
              <a:cs typeface="Noto Serif Ethiopic"/>
              <a:sym typeface="Noto Serif Ethiopic"/>
            </a:endParaRPr>
          </a:p>
        </p:txBody>
      </p:sp>
      <p:sp>
        <p:nvSpPr>
          <p:cNvPr id="122" name="Google Shape;122;p14"/>
          <p:cNvSpPr txBox="1"/>
          <p:nvPr/>
        </p:nvSpPr>
        <p:spPr>
          <a:xfrm>
            <a:off x="4258807" y="3745638"/>
            <a:ext cx="16887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Financial </a:t>
            </a:r>
            <a:r>
              <a:rPr lang="en" sz="1200">
                <a:solidFill>
                  <a:schemeClr val="dk1"/>
                </a:solidFill>
                <a:latin typeface="Noto Serif Ethiopic"/>
                <a:ea typeface="Noto Serif Ethiopic"/>
                <a:cs typeface="Noto Serif Ethiopic"/>
                <a:sym typeface="Noto Serif Ethiopic"/>
              </a:rPr>
              <a:t>Forecast</a:t>
            </a:r>
            <a:endParaRPr sz="1200">
              <a:solidFill>
                <a:schemeClr val="dk1"/>
              </a:solidFill>
              <a:latin typeface="Noto Serif Ethiopic"/>
              <a:ea typeface="Noto Serif Ethiopic"/>
              <a:cs typeface="Noto Serif Ethiopic"/>
              <a:sym typeface="Noto Serif Ethiopic"/>
            </a:endParaRPr>
          </a:p>
        </p:txBody>
      </p:sp>
      <p:sp>
        <p:nvSpPr>
          <p:cNvPr id="123" name="Google Shape;123;p14"/>
          <p:cNvSpPr/>
          <p:nvPr/>
        </p:nvSpPr>
        <p:spPr>
          <a:xfrm>
            <a:off x="3731989" y="3987539"/>
            <a:ext cx="526800" cy="59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p>
        </p:txBody>
      </p:sp>
      <p:sp>
        <p:nvSpPr>
          <p:cNvPr id="124" name="Google Shape;124;p14"/>
          <p:cNvSpPr txBox="1"/>
          <p:nvPr/>
        </p:nvSpPr>
        <p:spPr>
          <a:xfrm>
            <a:off x="6502789" y="682644"/>
            <a:ext cx="768000" cy="52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Noto Serif Ethiopic"/>
                <a:ea typeface="Noto Serif Ethiopic"/>
                <a:cs typeface="Noto Serif Ethiopic"/>
                <a:sym typeface="Noto Serif Ethiopic"/>
              </a:rPr>
              <a:t>1</a:t>
            </a:r>
            <a:r>
              <a:rPr lang="en" sz="2000">
                <a:solidFill>
                  <a:schemeClr val="accent1"/>
                </a:solidFill>
                <a:latin typeface="Noto Serif Ethiopic"/>
                <a:ea typeface="Noto Serif Ethiopic"/>
                <a:cs typeface="Noto Serif Ethiopic"/>
                <a:sym typeface="Noto Serif Ethiopic"/>
              </a:rPr>
              <a:t>1</a:t>
            </a:r>
            <a:endParaRPr sz="2000">
              <a:solidFill>
                <a:schemeClr val="accent1"/>
              </a:solidFill>
              <a:latin typeface="Noto Serif Ethiopic"/>
              <a:ea typeface="Noto Serif Ethiopic"/>
              <a:cs typeface="Noto Serif Ethiopic"/>
              <a:sym typeface="Noto Serif Ethiopic"/>
            </a:endParaRPr>
          </a:p>
        </p:txBody>
      </p:sp>
      <p:sp>
        <p:nvSpPr>
          <p:cNvPr id="125" name="Google Shape;125;p14"/>
          <p:cNvSpPr txBox="1"/>
          <p:nvPr/>
        </p:nvSpPr>
        <p:spPr>
          <a:xfrm>
            <a:off x="7150205" y="870063"/>
            <a:ext cx="14163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Launch</a:t>
            </a:r>
            <a:r>
              <a:rPr lang="en" sz="1200">
                <a:solidFill>
                  <a:schemeClr val="dk1"/>
                </a:solidFill>
                <a:latin typeface="Noto Serif Ethiopic"/>
                <a:ea typeface="Noto Serif Ethiopic"/>
                <a:cs typeface="Noto Serif Ethiopic"/>
                <a:sym typeface="Noto Serif Ethiopic"/>
              </a:rPr>
              <a:t> Details</a:t>
            </a:r>
            <a:endParaRPr sz="1200">
              <a:solidFill>
                <a:schemeClr val="dk1"/>
              </a:solidFill>
              <a:latin typeface="Noto Serif Ethiopic"/>
              <a:ea typeface="Noto Serif Ethiopic"/>
              <a:cs typeface="Noto Serif Ethiopic"/>
              <a:sym typeface="Noto Serif Ethiopic"/>
            </a:endParaRPr>
          </a:p>
        </p:txBody>
      </p:sp>
      <p:sp>
        <p:nvSpPr>
          <p:cNvPr id="126" name="Google Shape;126;p14"/>
          <p:cNvSpPr/>
          <p:nvPr/>
        </p:nvSpPr>
        <p:spPr>
          <a:xfrm>
            <a:off x="6623389" y="1111964"/>
            <a:ext cx="526800" cy="59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p>
        </p:txBody>
      </p:sp>
      <p:sp>
        <p:nvSpPr>
          <p:cNvPr id="127" name="Google Shape;127;p14"/>
          <p:cNvSpPr txBox="1"/>
          <p:nvPr/>
        </p:nvSpPr>
        <p:spPr>
          <a:xfrm>
            <a:off x="6502789" y="1381494"/>
            <a:ext cx="768000" cy="52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Noto Serif Ethiopic"/>
                <a:ea typeface="Noto Serif Ethiopic"/>
                <a:cs typeface="Noto Serif Ethiopic"/>
                <a:sym typeface="Noto Serif Ethiopic"/>
              </a:rPr>
              <a:t>12</a:t>
            </a:r>
            <a:endParaRPr sz="2000">
              <a:solidFill>
                <a:schemeClr val="accent1"/>
              </a:solidFill>
              <a:latin typeface="Noto Serif Ethiopic"/>
              <a:ea typeface="Noto Serif Ethiopic"/>
              <a:cs typeface="Noto Serif Ethiopic"/>
              <a:sym typeface="Noto Serif Ethiopic"/>
            </a:endParaRPr>
          </a:p>
        </p:txBody>
      </p:sp>
      <p:sp>
        <p:nvSpPr>
          <p:cNvPr id="128" name="Google Shape;128;p14"/>
          <p:cNvSpPr txBox="1"/>
          <p:nvPr/>
        </p:nvSpPr>
        <p:spPr>
          <a:xfrm>
            <a:off x="7150200" y="1418375"/>
            <a:ext cx="1766400" cy="511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Financial Intellectual Property/</a:t>
            </a:r>
            <a:r>
              <a:rPr lang="en" sz="1200">
                <a:solidFill>
                  <a:schemeClr val="dk1"/>
                </a:solidFill>
                <a:latin typeface="Noto Serif Ethiopic"/>
                <a:ea typeface="Noto Serif Ethiopic"/>
                <a:cs typeface="Noto Serif Ethiopic"/>
                <a:sym typeface="Noto Serif Ethiopic"/>
              </a:rPr>
              <a:t>Trademark List</a:t>
            </a:r>
            <a:endParaRPr sz="1200">
              <a:solidFill>
                <a:schemeClr val="dk1"/>
              </a:solidFill>
              <a:latin typeface="Noto Serif Ethiopic"/>
              <a:ea typeface="Noto Serif Ethiopic"/>
              <a:cs typeface="Noto Serif Ethiopic"/>
              <a:sym typeface="Noto Serif Ethiopic"/>
            </a:endParaRPr>
          </a:p>
        </p:txBody>
      </p:sp>
      <p:sp>
        <p:nvSpPr>
          <p:cNvPr id="129" name="Google Shape;129;p14"/>
          <p:cNvSpPr/>
          <p:nvPr/>
        </p:nvSpPr>
        <p:spPr>
          <a:xfrm>
            <a:off x="6623389" y="1810814"/>
            <a:ext cx="526800" cy="59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p>
        </p:txBody>
      </p:sp>
      <p:sp>
        <p:nvSpPr>
          <p:cNvPr id="130" name="Google Shape;130;p14"/>
          <p:cNvSpPr txBox="1"/>
          <p:nvPr/>
        </p:nvSpPr>
        <p:spPr>
          <a:xfrm>
            <a:off x="6502789" y="2144494"/>
            <a:ext cx="768000" cy="52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Noto Serif Ethiopic"/>
                <a:ea typeface="Noto Serif Ethiopic"/>
                <a:cs typeface="Noto Serif Ethiopic"/>
                <a:sym typeface="Noto Serif Ethiopic"/>
              </a:rPr>
              <a:t>13</a:t>
            </a:r>
            <a:endParaRPr sz="2000">
              <a:solidFill>
                <a:schemeClr val="accent1"/>
              </a:solidFill>
              <a:latin typeface="Noto Serif Ethiopic"/>
              <a:ea typeface="Noto Serif Ethiopic"/>
              <a:cs typeface="Noto Serif Ethiopic"/>
              <a:sym typeface="Noto Serif Ethiopic"/>
            </a:endParaRPr>
          </a:p>
        </p:txBody>
      </p:sp>
      <p:sp>
        <p:nvSpPr>
          <p:cNvPr id="131" name="Google Shape;131;p14"/>
          <p:cNvSpPr txBox="1"/>
          <p:nvPr/>
        </p:nvSpPr>
        <p:spPr>
          <a:xfrm>
            <a:off x="7150200" y="2331913"/>
            <a:ext cx="15921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Brand Identity &amp; Digital Identity</a:t>
            </a:r>
            <a:endParaRPr sz="1200">
              <a:solidFill>
                <a:schemeClr val="dk1"/>
              </a:solidFill>
              <a:latin typeface="Noto Serif Ethiopic"/>
              <a:ea typeface="Noto Serif Ethiopic"/>
              <a:cs typeface="Noto Serif Ethiopic"/>
              <a:sym typeface="Noto Serif Ethiopic"/>
            </a:endParaRPr>
          </a:p>
        </p:txBody>
      </p:sp>
      <p:sp>
        <p:nvSpPr>
          <p:cNvPr id="132" name="Google Shape;132;p14"/>
          <p:cNvSpPr/>
          <p:nvPr/>
        </p:nvSpPr>
        <p:spPr>
          <a:xfrm>
            <a:off x="6623389" y="2573814"/>
            <a:ext cx="526800" cy="59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p>
        </p:txBody>
      </p:sp>
      <p:sp>
        <p:nvSpPr>
          <p:cNvPr id="133" name="Google Shape;133;p14"/>
          <p:cNvSpPr txBox="1"/>
          <p:nvPr/>
        </p:nvSpPr>
        <p:spPr>
          <a:xfrm>
            <a:off x="6502789" y="2811269"/>
            <a:ext cx="768000" cy="52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Noto Serif Ethiopic"/>
                <a:ea typeface="Noto Serif Ethiopic"/>
                <a:cs typeface="Noto Serif Ethiopic"/>
                <a:sym typeface="Noto Serif Ethiopic"/>
              </a:rPr>
              <a:t>14</a:t>
            </a:r>
            <a:endParaRPr sz="2000">
              <a:solidFill>
                <a:schemeClr val="accent1"/>
              </a:solidFill>
              <a:latin typeface="Noto Serif Ethiopic"/>
              <a:ea typeface="Noto Serif Ethiopic"/>
              <a:cs typeface="Noto Serif Ethiopic"/>
              <a:sym typeface="Noto Serif Ethiopic"/>
            </a:endParaRPr>
          </a:p>
        </p:txBody>
      </p:sp>
      <p:sp>
        <p:nvSpPr>
          <p:cNvPr id="134" name="Google Shape;134;p14"/>
          <p:cNvSpPr txBox="1"/>
          <p:nvPr/>
        </p:nvSpPr>
        <p:spPr>
          <a:xfrm>
            <a:off x="7150204" y="2998688"/>
            <a:ext cx="14163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Trade Tools</a:t>
            </a:r>
            <a:endParaRPr sz="1200">
              <a:solidFill>
                <a:schemeClr val="dk1"/>
              </a:solidFill>
              <a:latin typeface="Noto Serif Ethiopic"/>
              <a:ea typeface="Noto Serif Ethiopic"/>
              <a:cs typeface="Noto Serif Ethiopic"/>
              <a:sym typeface="Noto Serif Ethiopic"/>
            </a:endParaRPr>
          </a:p>
        </p:txBody>
      </p:sp>
      <p:sp>
        <p:nvSpPr>
          <p:cNvPr id="135" name="Google Shape;135;p14"/>
          <p:cNvSpPr/>
          <p:nvPr/>
        </p:nvSpPr>
        <p:spPr>
          <a:xfrm>
            <a:off x="6623389" y="3240589"/>
            <a:ext cx="526800" cy="59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p>
        </p:txBody>
      </p:sp>
      <p:sp>
        <p:nvSpPr>
          <p:cNvPr id="136" name="Google Shape;136;p14"/>
          <p:cNvSpPr txBox="1"/>
          <p:nvPr/>
        </p:nvSpPr>
        <p:spPr>
          <a:xfrm>
            <a:off x="6502789" y="3574269"/>
            <a:ext cx="768000" cy="52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1"/>
                </a:solidFill>
                <a:latin typeface="Noto Serif Ethiopic"/>
                <a:ea typeface="Noto Serif Ethiopic"/>
                <a:cs typeface="Noto Serif Ethiopic"/>
                <a:sym typeface="Noto Serif Ethiopic"/>
              </a:rPr>
              <a:t>15</a:t>
            </a:r>
            <a:endParaRPr sz="2000">
              <a:solidFill>
                <a:schemeClr val="accent1"/>
              </a:solidFill>
              <a:latin typeface="Noto Serif Ethiopic"/>
              <a:ea typeface="Noto Serif Ethiopic"/>
              <a:cs typeface="Noto Serif Ethiopic"/>
              <a:sym typeface="Noto Serif Ethiopic"/>
            </a:endParaRPr>
          </a:p>
        </p:txBody>
      </p:sp>
      <p:sp>
        <p:nvSpPr>
          <p:cNvPr id="137" name="Google Shape;137;p14"/>
          <p:cNvSpPr txBox="1"/>
          <p:nvPr/>
        </p:nvSpPr>
        <p:spPr>
          <a:xfrm>
            <a:off x="7150189" y="3761689"/>
            <a:ext cx="9924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References</a:t>
            </a:r>
            <a:endParaRPr sz="1200">
              <a:solidFill>
                <a:schemeClr val="dk1"/>
              </a:solidFill>
              <a:latin typeface="Noto Serif Ethiopic"/>
              <a:ea typeface="Noto Serif Ethiopic"/>
              <a:cs typeface="Noto Serif Ethiopic"/>
              <a:sym typeface="Noto Serif Ethiopic"/>
            </a:endParaRPr>
          </a:p>
        </p:txBody>
      </p:sp>
      <p:sp>
        <p:nvSpPr>
          <p:cNvPr id="138" name="Google Shape;138;p14"/>
          <p:cNvSpPr/>
          <p:nvPr/>
        </p:nvSpPr>
        <p:spPr>
          <a:xfrm>
            <a:off x="6623389" y="4003589"/>
            <a:ext cx="526800" cy="59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p>
        </p:txBody>
      </p:sp>
      <p:sp>
        <p:nvSpPr>
          <p:cNvPr id="139" name="Google Shape;139;p14"/>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1</a:t>
            </a:r>
            <a:endParaRPr sz="1200">
              <a:solidFill>
                <a:schemeClr val="dk1"/>
              </a:solidFill>
              <a:latin typeface="Noto Serif Ethiopic"/>
              <a:ea typeface="Noto Serif Ethiopic"/>
              <a:cs typeface="Noto Serif Ethiopic"/>
              <a:sym typeface="Noto Serif Ethiopic"/>
            </a:endParaRPr>
          </a:p>
        </p:txBody>
      </p:sp>
      <p:sp>
        <p:nvSpPr>
          <p:cNvPr id="140" name="Google Shape;140;p14"/>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5"/>
          <p:cNvSpPr txBox="1"/>
          <p:nvPr>
            <p:ph type="title"/>
          </p:nvPr>
        </p:nvSpPr>
        <p:spPr>
          <a:xfrm>
            <a:off x="72030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01 Company Description</a:t>
            </a:r>
            <a:endParaRPr sz="1800"/>
          </a:p>
        </p:txBody>
      </p:sp>
      <p:sp>
        <p:nvSpPr>
          <p:cNvPr id="146" name="Google Shape;146;p15"/>
          <p:cNvSpPr txBox="1"/>
          <p:nvPr/>
        </p:nvSpPr>
        <p:spPr>
          <a:xfrm>
            <a:off x="573747" y="590550"/>
            <a:ext cx="7996500" cy="39624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Akatab"/>
              <a:buChar char="●"/>
            </a:pPr>
            <a:r>
              <a:rPr b="1" lang="en" sz="1200">
                <a:solidFill>
                  <a:schemeClr val="dk1"/>
                </a:solidFill>
                <a:latin typeface="Akatab"/>
                <a:ea typeface="Akatab"/>
                <a:cs typeface="Akatab"/>
                <a:sym typeface="Akatab"/>
              </a:rPr>
              <a:t>Sales</a:t>
            </a:r>
            <a:r>
              <a:rPr lang="en" sz="1200">
                <a:solidFill>
                  <a:schemeClr val="dk1"/>
                </a:solidFill>
                <a:latin typeface="Akatab"/>
                <a:ea typeface="Akatab"/>
                <a:cs typeface="Akatab"/>
                <a:sym typeface="Akatab"/>
              </a:rPr>
              <a:t>: Dollarama's growth in sales is a reflection of its strategic vision and strong financial management. Founded in </a:t>
            </a:r>
            <a:r>
              <a:rPr b="1" lang="en" sz="1200">
                <a:solidFill>
                  <a:schemeClr val="dk1"/>
                </a:solidFill>
                <a:latin typeface="Akatab"/>
                <a:ea typeface="Akatab"/>
                <a:cs typeface="Akatab"/>
                <a:sym typeface="Akatab"/>
              </a:rPr>
              <a:t>1992</a:t>
            </a:r>
            <a:r>
              <a:rPr lang="en" sz="1200">
                <a:solidFill>
                  <a:schemeClr val="dk1"/>
                </a:solidFill>
                <a:latin typeface="Akatab"/>
                <a:ea typeface="Akatab"/>
                <a:cs typeface="Akatab"/>
                <a:sym typeface="Akatab"/>
              </a:rPr>
              <a:t> by </a:t>
            </a:r>
            <a:r>
              <a:rPr b="1" lang="en" sz="1200">
                <a:solidFill>
                  <a:schemeClr val="dk1"/>
                </a:solidFill>
                <a:latin typeface="Akatab"/>
                <a:ea typeface="Akatab"/>
                <a:cs typeface="Akatab"/>
                <a:sym typeface="Akatab"/>
              </a:rPr>
              <a:t>Larry Rossy</a:t>
            </a:r>
            <a:r>
              <a:rPr lang="en" sz="1200">
                <a:solidFill>
                  <a:schemeClr val="dk1"/>
                </a:solidFill>
                <a:latin typeface="Akatab"/>
                <a:ea typeface="Akatab"/>
                <a:cs typeface="Akatab"/>
                <a:sym typeface="Akatab"/>
              </a:rPr>
              <a:t> as a </a:t>
            </a:r>
            <a:r>
              <a:rPr b="1" lang="en" sz="1200">
                <a:solidFill>
                  <a:schemeClr val="dk1"/>
                </a:solidFill>
                <a:latin typeface="Akatab"/>
                <a:ea typeface="Akatab"/>
                <a:cs typeface="Akatab"/>
                <a:sym typeface="Akatab"/>
              </a:rPr>
              <a:t>single-price point retail chain</a:t>
            </a:r>
            <a:r>
              <a:rPr lang="en" sz="1200">
                <a:solidFill>
                  <a:schemeClr val="dk1"/>
                </a:solidFill>
                <a:latin typeface="Akatab"/>
                <a:ea typeface="Akatab"/>
                <a:cs typeface="Akatab"/>
                <a:sym typeface="Akatab"/>
              </a:rPr>
              <a:t>, the company went public in </a:t>
            </a:r>
            <a:r>
              <a:rPr b="1" lang="en" sz="1200">
                <a:solidFill>
                  <a:schemeClr val="dk1"/>
                </a:solidFill>
                <a:latin typeface="Akatab"/>
                <a:ea typeface="Akatab"/>
                <a:cs typeface="Akatab"/>
                <a:sym typeface="Akatab"/>
              </a:rPr>
              <a:t>2009</a:t>
            </a:r>
            <a:r>
              <a:rPr lang="en" sz="1200">
                <a:solidFill>
                  <a:schemeClr val="dk1"/>
                </a:solidFill>
                <a:latin typeface="Akatab"/>
                <a:ea typeface="Akatab"/>
                <a:cs typeface="Akatab"/>
                <a:sym typeface="Akatab"/>
              </a:rPr>
              <a:t> and underwent a major transformation, </a:t>
            </a:r>
            <a:r>
              <a:rPr b="1" lang="en" sz="1200">
                <a:solidFill>
                  <a:schemeClr val="dk1"/>
                </a:solidFill>
                <a:latin typeface="Akatab"/>
                <a:ea typeface="Akatab"/>
                <a:cs typeface="Akatab"/>
                <a:sym typeface="Akatab"/>
              </a:rPr>
              <a:t>transitioning to a multi-price point  strategy</a:t>
            </a:r>
            <a:r>
              <a:rPr lang="en" sz="1200">
                <a:solidFill>
                  <a:schemeClr val="dk1"/>
                </a:solidFill>
                <a:latin typeface="Akatab"/>
                <a:ea typeface="Akatab"/>
                <a:cs typeface="Akatab"/>
                <a:sym typeface="Akatab"/>
              </a:rPr>
              <a:t>. Funded by </a:t>
            </a:r>
            <a:r>
              <a:rPr b="1" lang="en" sz="1200">
                <a:solidFill>
                  <a:schemeClr val="dk1"/>
                </a:solidFill>
                <a:latin typeface="Akatab"/>
                <a:ea typeface="Akatab"/>
                <a:cs typeface="Akatab"/>
                <a:sym typeface="Akatab"/>
              </a:rPr>
              <a:t>Bain Capital</a:t>
            </a:r>
            <a:r>
              <a:rPr lang="en" sz="1200">
                <a:solidFill>
                  <a:schemeClr val="dk1"/>
                </a:solidFill>
                <a:latin typeface="Akatab"/>
                <a:ea typeface="Akatab"/>
                <a:cs typeface="Akatab"/>
                <a:sym typeface="Akatab"/>
              </a:rPr>
              <a:t>, Dollarama grew exponentially, opening </a:t>
            </a:r>
            <a:r>
              <a:rPr b="1" lang="en" sz="1200">
                <a:solidFill>
                  <a:schemeClr val="dk1"/>
                </a:solidFill>
                <a:latin typeface="Akatab"/>
                <a:ea typeface="Akatab"/>
                <a:cs typeface="Akatab"/>
                <a:sym typeface="Akatab"/>
              </a:rPr>
              <a:t>585</a:t>
            </a:r>
            <a:r>
              <a:rPr lang="en" sz="1200">
                <a:solidFill>
                  <a:schemeClr val="dk1"/>
                </a:solidFill>
                <a:latin typeface="Akatab"/>
                <a:ea typeface="Akatab"/>
                <a:cs typeface="Akatab"/>
                <a:sym typeface="Akatab"/>
              </a:rPr>
              <a:t> </a:t>
            </a:r>
            <a:r>
              <a:rPr b="1" lang="en" sz="1200">
                <a:solidFill>
                  <a:schemeClr val="dk1"/>
                </a:solidFill>
                <a:latin typeface="Akatab"/>
                <a:ea typeface="Akatab"/>
                <a:cs typeface="Akatab"/>
                <a:sym typeface="Akatab"/>
              </a:rPr>
              <a:t>stores</a:t>
            </a:r>
            <a:r>
              <a:rPr lang="en" sz="1200">
                <a:solidFill>
                  <a:schemeClr val="dk1"/>
                </a:solidFill>
                <a:latin typeface="Akatab"/>
                <a:ea typeface="Akatab"/>
                <a:cs typeface="Akatab"/>
                <a:sym typeface="Akatab"/>
              </a:rPr>
              <a:t> in </a:t>
            </a:r>
            <a:r>
              <a:rPr b="1" lang="en" sz="1200">
                <a:solidFill>
                  <a:schemeClr val="dk1"/>
                </a:solidFill>
                <a:latin typeface="Akatab"/>
                <a:ea typeface="Akatab"/>
                <a:cs typeface="Akatab"/>
                <a:sym typeface="Akatab"/>
              </a:rPr>
              <a:t>10</a:t>
            </a:r>
            <a:r>
              <a:rPr lang="en" sz="1200">
                <a:solidFill>
                  <a:schemeClr val="dk1"/>
                </a:solidFill>
                <a:latin typeface="Akatab"/>
                <a:ea typeface="Akatab"/>
                <a:cs typeface="Akatab"/>
                <a:sym typeface="Akatab"/>
              </a:rPr>
              <a:t> </a:t>
            </a:r>
            <a:r>
              <a:rPr b="1" lang="en" sz="1200">
                <a:solidFill>
                  <a:schemeClr val="dk1"/>
                </a:solidFill>
                <a:latin typeface="Akatab"/>
                <a:ea typeface="Akatab"/>
                <a:cs typeface="Akatab"/>
                <a:sym typeface="Akatab"/>
              </a:rPr>
              <a:t>provinces</a:t>
            </a:r>
            <a:r>
              <a:rPr lang="en" sz="1200">
                <a:solidFill>
                  <a:schemeClr val="dk1"/>
                </a:solidFill>
                <a:latin typeface="Akatab"/>
                <a:ea typeface="Akatab"/>
                <a:cs typeface="Akatab"/>
                <a:sym typeface="Akatab"/>
              </a:rPr>
              <a:t> that same year. This expansion drove the company's market capitalization and strengthened its position as Canada's retail leader.</a:t>
            </a:r>
            <a:endParaRPr sz="1200">
              <a:solidFill>
                <a:schemeClr val="dk1"/>
              </a:solidFill>
              <a:latin typeface="Akatab"/>
              <a:ea typeface="Akatab"/>
              <a:cs typeface="Akatab"/>
              <a:sym typeface="Akatab"/>
            </a:endParaRPr>
          </a:p>
          <a:p>
            <a:pPr indent="0" lvl="0" marL="0" rtl="0" algn="l">
              <a:spcBef>
                <a:spcPts val="0"/>
              </a:spcBef>
              <a:spcAft>
                <a:spcPts val="0"/>
              </a:spcAft>
              <a:buNone/>
            </a:pPr>
            <a:r>
              <a:t/>
            </a:r>
            <a:endParaRPr sz="1200">
              <a:solidFill>
                <a:schemeClr val="dk1"/>
              </a:solidFill>
              <a:latin typeface="Akatab"/>
              <a:ea typeface="Akatab"/>
              <a:cs typeface="Akatab"/>
              <a:sym typeface="Akatab"/>
            </a:endParaRPr>
          </a:p>
          <a:p>
            <a:pPr indent="-304800" lvl="0" marL="457200" rtl="0" algn="l">
              <a:spcBef>
                <a:spcPts val="0"/>
              </a:spcBef>
              <a:spcAft>
                <a:spcPts val="0"/>
              </a:spcAft>
              <a:buClr>
                <a:schemeClr val="dk1"/>
              </a:buClr>
              <a:buSzPts val="1200"/>
              <a:buFont typeface="Akatab"/>
              <a:buChar char="●"/>
            </a:pPr>
            <a:r>
              <a:rPr b="1" lang="en" sz="1200">
                <a:solidFill>
                  <a:schemeClr val="dk1"/>
                </a:solidFill>
                <a:latin typeface="Akatab"/>
                <a:ea typeface="Akatab"/>
                <a:cs typeface="Akatab"/>
                <a:sym typeface="Akatab"/>
              </a:rPr>
              <a:t>Location Scope</a:t>
            </a:r>
            <a:r>
              <a:rPr lang="en" sz="1200">
                <a:solidFill>
                  <a:schemeClr val="dk1"/>
                </a:solidFill>
                <a:latin typeface="Akatab"/>
                <a:ea typeface="Akatab"/>
                <a:cs typeface="Akatab"/>
                <a:sym typeface="Akatab"/>
              </a:rPr>
              <a:t>: Dollarama's presence across Canada distinguishes itself as one of the retail leaders. With </a:t>
            </a:r>
            <a:r>
              <a:rPr b="1" lang="en" sz="1200">
                <a:solidFill>
                  <a:schemeClr val="dk1"/>
                </a:solidFill>
                <a:latin typeface="Akatab"/>
                <a:ea typeface="Akatab"/>
                <a:cs typeface="Akatab"/>
                <a:sym typeface="Akatab"/>
              </a:rPr>
              <a:t>1,486</a:t>
            </a:r>
            <a:r>
              <a:rPr lang="en" sz="1200">
                <a:solidFill>
                  <a:schemeClr val="dk1"/>
                </a:solidFill>
                <a:latin typeface="Akatab"/>
                <a:ea typeface="Akatab"/>
                <a:cs typeface="Akatab"/>
                <a:sym typeface="Akatab"/>
              </a:rPr>
              <a:t> </a:t>
            </a:r>
            <a:r>
              <a:rPr b="1" lang="en" sz="1200">
                <a:solidFill>
                  <a:schemeClr val="dk1"/>
                </a:solidFill>
                <a:latin typeface="Akatab"/>
                <a:ea typeface="Akatab"/>
                <a:cs typeface="Akatab"/>
                <a:sym typeface="Akatab"/>
              </a:rPr>
              <a:t>stores</a:t>
            </a:r>
            <a:r>
              <a:rPr lang="en" sz="1200">
                <a:solidFill>
                  <a:schemeClr val="dk1"/>
                </a:solidFill>
                <a:latin typeface="Akatab"/>
                <a:ea typeface="Akatab"/>
                <a:cs typeface="Akatab"/>
                <a:sym typeface="Akatab"/>
              </a:rPr>
              <a:t> and more than </a:t>
            </a:r>
            <a:r>
              <a:rPr b="1" lang="en" sz="1200">
                <a:solidFill>
                  <a:schemeClr val="dk1"/>
                </a:solidFill>
                <a:latin typeface="Akatab"/>
                <a:ea typeface="Akatab"/>
                <a:cs typeface="Akatab"/>
                <a:sym typeface="Akatab"/>
              </a:rPr>
              <a:t>25,000 employees</a:t>
            </a:r>
            <a:r>
              <a:rPr lang="en" sz="1200">
                <a:solidFill>
                  <a:schemeClr val="dk1"/>
                </a:solidFill>
                <a:latin typeface="Akatab"/>
                <a:ea typeface="Akatab"/>
                <a:cs typeface="Akatab"/>
                <a:sym typeface="Akatab"/>
              </a:rPr>
              <a:t> across the country, the company has established itself as the preferred alternative for consumers seeking </a:t>
            </a:r>
            <a:r>
              <a:rPr b="1" lang="en" sz="1200">
                <a:solidFill>
                  <a:schemeClr val="dk1"/>
                </a:solidFill>
                <a:latin typeface="Akatab"/>
                <a:ea typeface="Akatab"/>
                <a:cs typeface="Akatab"/>
                <a:sym typeface="Akatab"/>
              </a:rPr>
              <a:t>value and variety</a:t>
            </a:r>
            <a:r>
              <a:rPr lang="en" sz="1200">
                <a:solidFill>
                  <a:schemeClr val="dk1"/>
                </a:solidFill>
                <a:latin typeface="Akatab"/>
                <a:ea typeface="Akatab"/>
                <a:cs typeface="Akatab"/>
                <a:sym typeface="Akatab"/>
              </a:rPr>
              <a:t>. This extensive presence allows Dollarama to offer a comprehensive range of products to a diverse population and to be a leading Canadian retail force.</a:t>
            </a:r>
            <a:endParaRPr sz="1200">
              <a:solidFill>
                <a:schemeClr val="dk1"/>
              </a:solidFill>
              <a:latin typeface="Akatab"/>
              <a:ea typeface="Akatab"/>
              <a:cs typeface="Akatab"/>
              <a:sym typeface="Akatab"/>
            </a:endParaRPr>
          </a:p>
          <a:p>
            <a:pPr indent="0" lvl="0" marL="0" rtl="0" algn="l">
              <a:spcBef>
                <a:spcPts val="0"/>
              </a:spcBef>
              <a:spcAft>
                <a:spcPts val="0"/>
              </a:spcAft>
              <a:buNone/>
            </a:pPr>
            <a:r>
              <a:t/>
            </a:r>
            <a:endParaRPr sz="1200">
              <a:solidFill>
                <a:schemeClr val="dk1"/>
              </a:solidFill>
              <a:latin typeface="Akatab"/>
              <a:ea typeface="Akatab"/>
              <a:cs typeface="Akatab"/>
              <a:sym typeface="Akatab"/>
            </a:endParaRPr>
          </a:p>
          <a:p>
            <a:pPr indent="-304800" lvl="0" marL="457200" rtl="0" algn="l">
              <a:spcBef>
                <a:spcPts val="0"/>
              </a:spcBef>
              <a:spcAft>
                <a:spcPts val="0"/>
              </a:spcAft>
              <a:buClr>
                <a:schemeClr val="dk1"/>
              </a:buClr>
              <a:buSzPts val="1200"/>
              <a:buFont typeface="Akatab"/>
              <a:buChar char="●"/>
            </a:pPr>
            <a:r>
              <a:rPr b="1" lang="en" sz="1200">
                <a:solidFill>
                  <a:schemeClr val="dk1"/>
                </a:solidFill>
                <a:latin typeface="Akatab"/>
                <a:ea typeface="Akatab"/>
                <a:cs typeface="Akatab"/>
                <a:sym typeface="Akatab"/>
              </a:rPr>
              <a:t>Acquisitions</a:t>
            </a:r>
            <a:r>
              <a:rPr lang="en" sz="1200">
                <a:solidFill>
                  <a:schemeClr val="dk1"/>
                </a:solidFill>
                <a:latin typeface="Akatab"/>
                <a:ea typeface="Akatab"/>
                <a:cs typeface="Akatab"/>
                <a:sym typeface="Akatab"/>
              </a:rPr>
              <a:t>: Strategic acquisitions have played a major role in Dollarama's growth. Dollarama acquired some stakes in </a:t>
            </a:r>
            <a:r>
              <a:rPr b="1" lang="en" sz="1200">
                <a:solidFill>
                  <a:schemeClr val="dk1"/>
                </a:solidFill>
                <a:latin typeface="Akatab"/>
                <a:ea typeface="Akatab"/>
                <a:cs typeface="Akatab"/>
                <a:sym typeface="Akatab"/>
              </a:rPr>
              <a:t>Dollar City</a:t>
            </a:r>
            <a:r>
              <a:rPr lang="en" sz="1200">
                <a:solidFill>
                  <a:schemeClr val="dk1"/>
                </a:solidFill>
                <a:latin typeface="Akatab"/>
                <a:ea typeface="Akatab"/>
                <a:cs typeface="Akatab"/>
                <a:sym typeface="Akatab"/>
              </a:rPr>
              <a:t> in </a:t>
            </a:r>
            <a:r>
              <a:rPr b="1" lang="en" sz="1200">
                <a:solidFill>
                  <a:schemeClr val="dk1"/>
                </a:solidFill>
                <a:latin typeface="Akatab"/>
                <a:ea typeface="Akatab"/>
                <a:cs typeface="Akatab"/>
                <a:sym typeface="Akatab"/>
              </a:rPr>
              <a:t>2019</a:t>
            </a:r>
            <a:r>
              <a:rPr lang="en" sz="1200">
                <a:solidFill>
                  <a:schemeClr val="dk1"/>
                </a:solidFill>
                <a:latin typeface="Akatab"/>
                <a:ea typeface="Akatab"/>
                <a:cs typeface="Akatab"/>
                <a:sym typeface="Akatab"/>
              </a:rPr>
              <a:t>, which represents a significant benchmark in the company's expansion outside of Canada. The move facilitated Dollarama's entry into international markets such as </a:t>
            </a:r>
            <a:r>
              <a:rPr b="1" lang="en" sz="1200">
                <a:solidFill>
                  <a:schemeClr val="dk1"/>
                </a:solidFill>
                <a:latin typeface="Akatab"/>
                <a:ea typeface="Akatab"/>
                <a:cs typeface="Akatab"/>
                <a:sym typeface="Akatab"/>
              </a:rPr>
              <a:t>El Salvador, Guatemala, Colombia, and Peru</a:t>
            </a:r>
            <a:r>
              <a:rPr lang="en" sz="1200">
                <a:solidFill>
                  <a:schemeClr val="dk1"/>
                </a:solidFill>
                <a:latin typeface="Akatab"/>
                <a:ea typeface="Akatab"/>
                <a:cs typeface="Akatab"/>
                <a:sym typeface="Akatab"/>
              </a:rPr>
              <a:t>, thereby diversifying its geographic presence and contributing to a significant increase in sales, which totaled </a:t>
            </a:r>
            <a:r>
              <a:rPr b="1" lang="en" sz="1200">
                <a:solidFill>
                  <a:schemeClr val="dk1"/>
                </a:solidFill>
                <a:latin typeface="Akatab"/>
                <a:ea typeface="Akatab"/>
                <a:cs typeface="Akatab"/>
                <a:sym typeface="Akatab"/>
              </a:rPr>
              <a:t>$737.5 million</a:t>
            </a:r>
            <a:r>
              <a:rPr lang="en" sz="1200">
                <a:solidFill>
                  <a:schemeClr val="dk1"/>
                </a:solidFill>
                <a:latin typeface="Akatab"/>
                <a:ea typeface="Akatab"/>
                <a:cs typeface="Akatab"/>
                <a:sym typeface="Akatab"/>
              </a:rPr>
              <a:t>.</a:t>
            </a:r>
            <a:endParaRPr sz="1200">
              <a:solidFill>
                <a:schemeClr val="dk1"/>
              </a:solidFill>
              <a:latin typeface="Akatab"/>
              <a:ea typeface="Akatab"/>
              <a:cs typeface="Akatab"/>
              <a:sym typeface="Akatab"/>
            </a:endParaRPr>
          </a:p>
          <a:p>
            <a:pPr indent="0" lvl="0" marL="0" rtl="0" algn="l">
              <a:spcBef>
                <a:spcPts val="0"/>
              </a:spcBef>
              <a:spcAft>
                <a:spcPts val="0"/>
              </a:spcAft>
              <a:buNone/>
            </a:pPr>
            <a:r>
              <a:t/>
            </a:r>
            <a:endParaRPr sz="1200">
              <a:solidFill>
                <a:schemeClr val="dk1"/>
              </a:solidFill>
              <a:latin typeface="Akatab"/>
              <a:ea typeface="Akatab"/>
              <a:cs typeface="Akatab"/>
              <a:sym typeface="Akatab"/>
            </a:endParaRPr>
          </a:p>
          <a:p>
            <a:pPr indent="-304800" lvl="0" marL="457200" rtl="0" algn="l">
              <a:spcBef>
                <a:spcPts val="0"/>
              </a:spcBef>
              <a:spcAft>
                <a:spcPts val="0"/>
              </a:spcAft>
              <a:buClr>
                <a:schemeClr val="dk1"/>
              </a:buClr>
              <a:buSzPts val="1200"/>
              <a:buFont typeface="Akatab"/>
              <a:buChar char="●"/>
            </a:pPr>
            <a:r>
              <a:rPr b="1" lang="en" sz="1200">
                <a:solidFill>
                  <a:schemeClr val="dk1"/>
                </a:solidFill>
                <a:latin typeface="Akatab"/>
                <a:ea typeface="Akatab"/>
                <a:cs typeface="Akatab"/>
                <a:sym typeface="Akatab"/>
              </a:rPr>
              <a:t>Divestments</a:t>
            </a:r>
            <a:r>
              <a:rPr lang="en" sz="1200">
                <a:solidFill>
                  <a:schemeClr val="dk1"/>
                </a:solidFill>
                <a:latin typeface="Akatab"/>
                <a:ea typeface="Akatab"/>
                <a:cs typeface="Akatab"/>
                <a:sym typeface="Akatab"/>
              </a:rPr>
              <a:t>: Dollarama's evolving strategy also includes divestitures intended to maximize operations and take advantage of emerging opportunities. </a:t>
            </a:r>
            <a:r>
              <a:rPr b="1" lang="en" sz="1200">
                <a:solidFill>
                  <a:schemeClr val="dk1"/>
                </a:solidFill>
                <a:latin typeface="Akatab"/>
                <a:ea typeface="Akatab"/>
                <a:cs typeface="Akatab"/>
                <a:sym typeface="Akatab"/>
              </a:rPr>
              <a:t>Bain Capital's financial exit in 2011</a:t>
            </a:r>
            <a:r>
              <a:rPr lang="en" sz="1200">
                <a:solidFill>
                  <a:schemeClr val="dk1"/>
                </a:solidFill>
                <a:latin typeface="Akatab"/>
                <a:ea typeface="Akatab"/>
                <a:cs typeface="Akatab"/>
                <a:sym typeface="Akatab"/>
              </a:rPr>
              <a:t> marked a critical time for the company, allowing it to pursue an </a:t>
            </a:r>
            <a:r>
              <a:rPr b="1" lang="en" sz="1200">
                <a:solidFill>
                  <a:schemeClr val="dk1"/>
                </a:solidFill>
                <a:latin typeface="Akatab"/>
                <a:ea typeface="Akatab"/>
                <a:cs typeface="Akatab"/>
                <a:sym typeface="Akatab"/>
              </a:rPr>
              <a:t>independent growth</a:t>
            </a:r>
            <a:r>
              <a:rPr lang="en" sz="1200">
                <a:solidFill>
                  <a:schemeClr val="dk1"/>
                </a:solidFill>
                <a:latin typeface="Akatab"/>
                <a:ea typeface="Akatab"/>
                <a:cs typeface="Akatab"/>
                <a:sym typeface="Akatab"/>
              </a:rPr>
              <a:t> strategy. Subsequent initiatives, such as the introduction of </a:t>
            </a:r>
            <a:r>
              <a:rPr b="1" lang="en" sz="1200">
                <a:solidFill>
                  <a:schemeClr val="dk1"/>
                </a:solidFill>
                <a:latin typeface="Akatab"/>
                <a:ea typeface="Akatab"/>
                <a:cs typeface="Akatab"/>
                <a:sym typeface="Akatab"/>
              </a:rPr>
              <a:t>new price points</a:t>
            </a:r>
            <a:r>
              <a:rPr lang="en" sz="1200">
                <a:solidFill>
                  <a:schemeClr val="dk1"/>
                </a:solidFill>
                <a:latin typeface="Akatab"/>
                <a:ea typeface="Akatab"/>
                <a:cs typeface="Akatab"/>
                <a:sym typeface="Akatab"/>
              </a:rPr>
              <a:t> and a move into </a:t>
            </a:r>
            <a:r>
              <a:rPr b="1" lang="en" sz="1200">
                <a:solidFill>
                  <a:schemeClr val="dk1"/>
                </a:solidFill>
                <a:latin typeface="Akatab"/>
                <a:ea typeface="Akatab"/>
                <a:cs typeface="Akatab"/>
                <a:sym typeface="Akatab"/>
              </a:rPr>
              <a:t>online retail in 2019</a:t>
            </a:r>
            <a:r>
              <a:rPr lang="en" sz="1200">
                <a:solidFill>
                  <a:schemeClr val="dk1"/>
                </a:solidFill>
                <a:latin typeface="Akatab"/>
                <a:ea typeface="Akatab"/>
                <a:cs typeface="Akatab"/>
                <a:sym typeface="Akatab"/>
              </a:rPr>
              <a:t>, showcase Dollarama's commitment to innovation and market responsiveness.</a:t>
            </a:r>
            <a:endParaRPr sz="1200">
              <a:solidFill>
                <a:schemeClr val="dk1"/>
              </a:solidFill>
              <a:latin typeface="Akatab"/>
              <a:ea typeface="Akatab"/>
              <a:cs typeface="Akatab"/>
              <a:sym typeface="Akatab"/>
            </a:endParaRPr>
          </a:p>
        </p:txBody>
      </p:sp>
      <p:pic>
        <p:nvPicPr>
          <p:cNvPr id="147" name="Google Shape;147;p15"/>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148" name="Google Shape;148;p15"/>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2</a:t>
            </a:r>
            <a:endParaRPr sz="1200">
              <a:solidFill>
                <a:schemeClr val="dk1"/>
              </a:solidFill>
              <a:latin typeface="Noto Serif Ethiopic"/>
              <a:ea typeface="Noto Serif Ethiopic"/>
              <a:cs typeface="Noto Serif Ethiopic"/>
              <a:sym typeface="Noto Serif Ethiopic"/>
            </a:endParaRPr>
          </a:p>
        </p:txBody>
      </p:sp>
      <p:sp>
        <p:nvSpPr>
          <p:cNvPr id="149" name="Google Shape;149;p15"/>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6"/>
          <p:cNvSpPr txBox="1"/>
          <p:nvPr>
            <p:ph type="title"/>
          </p:nvPr>
        </p:nvSpPr>
        <p:spPr>
          <a:xfrm>
            <a:off x="72030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01 Company Description</a:t>
            </a:r>
            <a:endParaRPr sz="1800"/>
          </a:p>
        </p:txBody>
      </p:sp>
      <p:sp>
        <p:nvSpPr>
          <p:cNvPr id="155" name="Google Shape;155;p16"/>
          <p:cNvSpPr txBox="1"/>
          <p:nvPr/>
        </p:nvSpPr>
        <p:spPr>
          <a:xfrm>
            <a:off x="499050" y="590550"/>
            <a:ext cx="8105700" cy="39624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Akatab"/>
              <a:buChar char="●"/>
            </a:pPr>
            <a:r>
              <a:rPr b="1" lang="en" sz="1200">
                <a:solidFill>
                  <a:schemeClr val="dk1"/>
                </a:solidFill>
                <a:latin typeface="Akatab"/>
                <a:ea typeface="Akatab"/>
                <a:cs typeface="Akatab"/>
                <a:sym typeface="Akatab"/>
              </a:rPr>
              <a:t>Timing of Past Launches</a:t>
            </a:r>
            <a:r>
              <a:rPr lang="en" sz="1200">
                <a:solidFill>
                  <a:schemeClr val="dk1"/>
                </a:solidFill>
                <a:latin typeface="Akatab"/>
                <a:ea typeface="Akatab"/>
                <a:cs typeface="Akatab"/>
                <a:sym typeface="Akatab"/>
              </a:rPr>
              <a:t>: Dollarama's ability to be flexible and responsive to market dynamics is evidenced by the timing of its past product launches, as the company quickly </a:t>
            </a:r>
            <a:r>
              <a:rPr b="1" lang="en" sz="1200">
                <a:solidFill>
                  <a:schemeClr val="dk1"/>
                </a:solidFill>
                <a:latin typeface="Akatab"/>
                <a:ea typeface="Akatab"/>
                <a:cs typeface="Akatab"/>
                <a:sym typeface="Akatab"/>
              </a:rPr>
              <a:t>adapted to consumer needs </a:t>
            </a:r>
            <a:r>
              <a:rPr lang="en" sz="1200">
                <a:solidFill>
                  <a:schemeClr val="dk1"/>
                </a:solidFill>
                <a:latin typeface="Akatab"/>
                <a:ea typeface="Akatab"/>
                <a:cs typeface="Akatab"/>
                <a:sym typeface="Akatab"/>
              </a:rPr>
              <a:t>after its </a:t>
            </a:r>
            <a:r>
              <a:rPr b="1" lang="en" sz="1200">
                <a:solidFill>
                  <a:schemeClr val="dk1"/>
                </a:solidFill>
                <a:latin typeface="Akatab"/>
                <a:ea typeface="Akatab"/>
                <a:cs typeface="Akatab"/>
                <a:sym typeface="Akatab"/>
              </a:rPr>
              <a:t>2009</a:t>
            </a:r>
            <a:r>
              <a:rPr lang="en" sz="1200">
                <a:solidFill>
                  <a:schemeClr val="dk1"/>
                </a:solidFill>
                <a:latin typeface="Akatab"/>
                <a:ea typeface="Akatab"/>
                <a:cs typeface="Akatab"/>
                <a:sym typeface="Akatab"/>
              </a:rPr>
              <a:t> initial public offering, transitioning to </a:t>
            </a:r>
            <a:r>
              <a:rPr b="1" lang="en" sz="1200">
                <a:solidFill>
                  <a:schemeClr val="dk1"/>
                </a:solidFill>
                <a:latin typeface="Akatab"/>
                <a:ea typeface="Akatab"/>
                <a:cs typeface="Akatab"/>
                <a:sym typeface="Akatab"/>
              </a:rPr>
              <a:t>multiple-price points</a:t>
            </a:r>
            <a:r>
              <a:rPr lang="en" sz="1200">
                <a:solidFill>
                  <a:schemeClr val="dk1"/>
                </a:solidFill>
                <a:latin typeface="Akatab"/>
                <a:ea typeface="Akatab"/>
                <a:cs typeface="Akatab"/>
                <a:sym typeface="Akatab"/>
              </a:rPr>
              <a:t> within a year. Additionally, Dollarama demonstrated its proactive approach to </a:t>
            </a:r>
            <a:r>
              <a:rPr b="1" lang="en" sz="1200">
                <a:solidFill>
                  <a:schemeClr val="dk1"/>
                </a:solidFill>
                <a:latin typeface="Akatab"/>
                <a:ea typeface="Akatab"/>
                <a:cs typeface="Akatab"/>
                <a:sym typeface="Akatab"/>
              </a:rPr>
              <a:t>sustainability</a:t>
            </a:r>
            <a:r>
              <a:rPr lang="en" sz="1200">
                <a:solidFill>
                  <a:schemeClr val="dk1"/>
                </a:solidFill>
                <a:latin typeface="Akatab"/>
                <a:ea typeface="Akatab"/>
                <a:cs typeface="Akatab"/>
                <a:sym typeface="Akatab"/>
              </a:rPr>
              <a:t> by issuing its first sustainability statement in </a:t>
            </a:r>
            <a:r>
              <a:rPr b="1" lang="en" sz="1200">
                <a:solidFill>
                  <a:schemeClr val="dk1"/>
                </a:solidFill>
                <a:latin typeface="Akatab"/>
                <a:ea typeface="Akatab"/>
                <a:cs typeface="Akatab"/>
                <a:sym typeface="Akatab"/>
              </a:rPr>
              <a:t>2012</a:t>
            </a:r>
            <a:r>
              <a:rPr lang="en" sz="1200">
                <a:solidFill>
                  <a:schemeClr val="dk1"/>
                </a:solidFill>
                <a:latin typeface="Akatab"/>
                <a:ea typeface="Akatab"/>
                <a:cs typeface="Akatab"/>
                <a:sym typeface="Akatab"/>
              </a:rPr>
              <a:t>, which enhanced the company's reputation and market position.</a:t>
            </a:r>
            <a:endParaRPr sz="1200">
              <a:solidFill>
                <a:schemeClr val="dk1"/>
              </a:solidFill>
              <a:latin typeface="Akatab"/>
              <a:ea typeface="Akatab"/>
              <a:cs typeface="Akatab"/>
              <a:sym typeface="Akatab"/>
            </a:endParaRPr>
          </a:p>
          <a:p>
            <a:pPr indent="0" lvl="0" marL="0" rtl="0" algn="l">
              <a:spcBef>
                <a:spcPts val="0"/>
              </a:spcBef>
              <a:spcAft>
                <a:spcPts val="0"/>
              </a:spcAft>
              <a:buNone/>
            </a:pPr>
            <a:r>
              <a:t/>
            </a:r>
            <a:endParaRPr sz="1200">
              <a:solidFill>
                <a:schemeClr val="dk1"/>
              </a:solidFill>
              <a:latin typeface="Akatab"/>
              <a:ea typeface="Akatab"/>
              <a:cs typeface="Akatab"/>
              <a:sym typeface="Akatab"/>
            </a:endParaRPr>
          </a:p>
          <a:p>
            <a:pPr indent="-304800" lvl="0" marL="457200" rtl="0" algn="l">
              <a:spcBef>
                <a:spcPts val="0"/>
              </a:spcBef>
              <a:spcAft>
                <a:spcPts val="0"/>
              </a:spcAft>
              <a:buClr>
                <a:schemeClr val="dk1"/>
              </a:buClr>
              <a:buSzPts val="1200"/>
              <a:buFont typeface="Akatab"/>
              <a:buChar char="●"/>
            </a:pPr>
            <a:r>
              <a:rPr b="1" lang="en" sz="1200">
                <a:solidFill>
                  <a:schemeClr val="dk1"/>
                </a:solidFill>
                <a:latin typeface="Akatab"/>
                <a:ea typeface="Akatab"/>
                <a:cs typeface="Akatab"/>
                <a:sym typeface="Akatab"/>
              </a:rPr>
              <a:t>Market Share/Position In Key Markets</a:t>
            </a:r>
            <a:r>
              <a:rPr lang="en" sz="1200">
                <a:solidFill>
                  <a:schemeClr val="dk1"/>
                </a:solidFill>
                <a:latin typeface="Akatab"/>
                <a:ea typeface="Akatab"/>
                <a:cs typeface="Akatab"/>
                <a:sym typeface="Akatab"/>
              </a:rPr>
              <a:t>: Dollarama's strong financial performance reflects its strong market share and position in key markets. With sales of </a:t>
            </a:r>
            <a:r>
              <a:rPr b="1" lang="en" sz="1200">
                <a:solidFill>
                  <a:schemeClr val="dk1"/>
                </a:solidFill>
                <a:latin typeface="Akatab"/>
                <a:ea typeface="Akatab"/>
                <a:cs typeface="Akatab"/>
                <a:sym typeface="Akatab"/>
              </a:rPr>
              <a:t>$5,053 million</a:t>
            </a:r>
            <a:r>
              <a:rPr lang="en" sz="1200">
                <a:solidFill>
                  <a:schemeClr val="dk1"/>
                </a:solidFill>
                <a:latin typeface="Akatab"/>
                <a:ea typeface="Akatab"/>
                <a:cs typeface="Akatab"/>
                <a:sym typeface="Akatab"/>
              </a:rPr>
              <a:t> and </a:t>
            </a:r>
            <a:r>
              <a:rPr b="1" lang="en" sz="1200">
                <a:solidFill>
                  <a:schemeClr val="dk1"/>
                </a:solidFill>
                <a:latin typeface="Akatab"/>
                <a:ea typeface="Akatab"/>
                <a:cs typeface="Akatab"/>
                <a:sym typeface="Akatab"/>
              </a:rPr>
              <a:t>EBITDA of $1,523 million</a:t>
            </a:r>
            <a:r>
              <a:rPr lang="en" sz="1200">
                <a:solidFill>
                  <a:schemeClr val="dk1"/>
                </a:solidFill>
                <a:latin typeface="Akatab"/>
                <a:ea typeface="Akatab"/>
                <a:cs typeface="Akatab"/>
                <a:sym typeface="Akatab"/>
              </a:rPr>
              <a:t>, the company's success highlights its commitment to strategic expansion and financial stability. As a leader in the Canadian retail industry, Dollarama will continue to strengthen its position to drive growth and profitability. </a:t>
            </a:r>
            <a:endParaRPr sz="1200">
              <a:solidFill>
                <a:schemeClr val="dk1"/>
              </a:solidFill>
              <a:latin typeface="Akatab"/>
              <a:ea typeface="Akatab"/>
              <a:cs typeface="Akatab"/>
              <a:sym typeface="Akatab"/>
            </a:endParaRPr>
          </a:p>
          <a:p>
            <a:pPr indent="0" lvl="0" marL="0" rtl="0" algn="l">
              <a:spcBef>
                <a:spcPts val="0"/>
              </a:spcBef>
              <a:spcAft>
                <a:spcPts val="0"/>
              </a:spcAft>
              <a:buNone/>
            </a:pPr>
            <a:r>
              <a:t/>
            </a:r>
            <a:endParaRPr sz="1200">
              <a:solidFill>
                <a:schemeClr val="dk1"/>
              </a:solidFill>
              <a:latin typeface="Akatab"/>
              <a:ea typeface="Akatab"/>
              <a:cs typeface="Akatab"/>
              <a:sym typeface="Akatab"/>
            </a:endParaRPr>
          </a:p>
          <a:p>
            <a:pPr indent="-304800" lvl="0" marL="457200" rtl="0" algn="l">
              <a:spcBef>
                <a:spcPts val="0"/>
              </a:spcBef>
              <a:spcAft>
                <a:spcPts val="0"/>
              </a:spcAft>
              <a:buClr>
                <a:schemeClr val="dk1"/>
              </a:buClr>
              <a:buSzPts val="1200"/>
              <a:buFont typeface="Akatab"/>
              <a:buChar char="●"/>
            </a:pPr>
            <a:r>
              <a:rPr b="1" lang="en" sz="1200">
                <a:solidFill>
                  <a:schemeClr val="dk1"/>
                </a:solidFill>
                <a:latin typeface="Akatab"/>
                <a:ea typeface="Akatab"/>
                <a:cs typeface="Akatab"/>
                <a:sym typeface="Akatab"/>
              </a:rPr>
              <a:t>Vision</a:t>
            </a:r>
            <a:r>
              <a:rPr lang="en" sz="1200">
                <a:solidFill>
                  <a:schemeClr val="dk1"/>
                </a:solidFill>
                <a:latin typeface="Akatab"/>
                <a:ea typeface="Akatab"/>
                <a:cs typeface="Akatab"/>
                <a:sym typeface="Akatab"/>
              </a:rPr>
              <a:t>: Dollarama's vision is to provide </a:t>
            </a:r>
            <a:r>
              <a:rPr b="1" lang="en" sz="1200">
                <a:solidFill>
                  <a:schemeClr val="dk1"/>
                </a:solidFill>
                <a:latin typeface="Akatab"/>
                <a:ea typeface="Akatab"/>
                <a:cs typeface="Akatab"/>
                <a:sym typeface="Akatab"/>
              </a:rPr>
              <a:t>value and convenience</a:t>
            </a:r>
            <a:r>
              <a:rPr lang="en" sz="1200">
                <a:solidFill>
                  <a:schemeClr val="dk1"/>
                </a:solidFill>
                <a:latin typeface="Akatab"/>
                <a:ea typeface="Akatab"/>
                <a:cs typeface="Akatab"/>
                <a:sym typeface="Akatab"/>
              </a:rPr>
              <a:t> to its customers while maintaining exceptional </a:t>
            </a:r>
            <a:r>
              <a:rPr b="1" lang="en" sz="1200">
                <a:solidFill>
                  <a:schemeClr val="dk1"/>
                </a:solidFill>
                <a:latin typeface="Akatab"/>
                <a:ea typeface="Akatab"/>
                <a:cs typeface="Akatab"/>
                <a:sym typeface="Akatab"/>
              </a:rPr>
              <a:t>operational and financial strength</a:t>
            </a:r>
            <a:r>
              <a:rPr lang="en" sz="1200">
                <a:solidFill>
                  <a:schemeClr val="dk1"/>
                </a:solidFill>
                <a:latin typeface="Akatab"/>
                <a:ea typeface="Akatab"/>
                <a:cs typeface="Akatab"/>
                <a:sym typeface="Akatab"/>
              </a:rPr>
              <a:t>. With its forward thinking approach, the company remains committed to </a:t>
            </a:r>
            <a:r>
              <a:rPr b="1" lang="en" sz="1200">
                <a:solidFill>
                  <a:schemeClr val="dk1"/>
                </a:solidFill>
                <a:latin typeface="Akatab"/>
                <a:ea typeface="Akatab"/>
                <a:cs typeface="Akatab"/>
                <a:sym typeface="Akatab"/>
              </a:rPr>
              <a:t>innovation</a:t>
            </a:r>
            <a:r>
              <a:rPr lang="en" sz="1200">
                <a:solidFill>
                  <a:schemeClr val="dk1"/>
                </a:solidFill>
                <a:latin typeface="Akatab"/>
                <a:ea typeface="Akatab"/>
                <a:cs typeface="Akatab"/>
                <a:sym typeface="Akatab"/>
              </a:rPr>
              <a:t>, </a:t>
            </a:r>
            <a:r>
              <a:rPr b="1" lang="en" sz="1200">
                <a:solidFill>
                  <a:schemeClr val="dk1"/>
                </a:solidFill>
                <a:latin typeface="Akatab"/>
                <a:ea typeface="Akatab"/>
                <a:cs typeface="Akatab"/>
                <a:sym typeface="Akatab"/>
              </a:rPr>
              <a:t>expansion</a:t>
            </a:r>
            <a:r>
              <a:rPr lang="en" sz="1200">
                <a:solidFill>
                  <a:schemeClr val="dk1"/>
                </a:solidFill>
                <a:latin typeface="Akatab"/>
                <a:ea typeface="Akatab"/>
                <a:cs typeface="Akatab"/>
                <a:sym typeface="Akatab"/>
              </a:rPr>
              <a:t> and enhancing the overall </a:t>
            </a:r>
            <a:r>
              <a:rPr b="1" lang="en" sz="1200">
                <a:solidFill>
                  <a:schemeClr val="dk1"/>
                </a:solidFill>
                <a:latin typeface="Akatab"/>
                <a:ea typeface="Akatab"/>
                <a:cs typeface="Akatab"/>
                <a:sym typeface="Akatab"/>
              </a:rPr>
              <a:t>shopping experience </a:t>
            </a:r>
            <a:r>
              <a:rPr lang="en" sz="1200">
                <a:solidFill>
                  <a:schemeClr val="dk1"/>
                </a:solidFill>
                <a:latin typeface="Akatab"/>
                <a:ea typeface="Akatab"/>
                <a:cs typeface="Akatab"/>
                <a:sym typeface="Akatab"/>
              </a:rPr>
              <a:t>for its customers. </a:t>
            </a:r>
            <a:endParaRPr sz="1200">
              <a:solidFill>
                <a:schemeClr val="dk1"/>
              </a:solidFill>
              <a:latin typeface="Akatab"/>
              <a:ea typeface="Akatab"/>
              <a:cs typeface="Akatab"/>
              <a:sym typeface="Akatab"/>
            </a:endParaRPr>
          </a:p>
          <a:p>
            <a:pPr indent="0" lvl="0" marL="0" rtl="0" algn="l">
              <a:spcBef>
                <a:spcPts val="0"/>
              </a:spcBef>
              <a:spcAft>
                <a:spcPts val="0"/>
              </a:spcAft>
              <a:buNone/>
            </a:pPr>
            <a:r>
              <a:t/>
            </a:r>
            <a:endParaRPr sz="1200">
              <a:solidFill>
                <a:schemeClr val="dk1"/>
              </a:solidFill>
              <a:latin typeface="Akatab"/>
              <a:ea typeface="Akatab"/>
              <a:cs typeface="Akatab"/>
              <a:sym typeface="Akatab"/>
            </a:endParaRPr>
          </a:p>
          <a:p>
            <a:pPr indent="-304800" lvl="0" marL="457200" rtl="0" algn="l">
              <a:spcBef>
                <a:spcPts val="0"/>
              </a:spcBef>
              <a:spcAft>
                <a:spcPts val="0"/>
              </a:spcAft>
              <a:buClr>
                <a:schemeClr val="dk1"/>
              </a:buClr>
              <a:buSzPts val="1200"/>
              <a:buFont typeface="Akatab"/>
              <a:buChar char="●"/>
            </a:pPr>
            <a:r>
              <a:rPr b="1" lang="en" sz="1200">
                <a:solidFill>
                  <a:schemeClr val="dk1"/>
                </a:solidFill>
                <a:latin typeface="Akatab"/>
                <a:ea typeface="Akatab"/>
                <a:cs typeface="Akatab"/>
                <a:sym typeface="Akatab"/>
              </a:rPr>
              <a:t>Mission</a:t>
            </a:r>
            <a:r>
              <a:rPr lang="en" sz="1200">
                <a:solidFill>
                  <a:schemeClr val="dk1"/>
                </a:solidFill>
                <a:latin typeface="Akatab"/>
                <a:ea typeface="Akatab"/>
                <a:cs typeface="Akatab"/>
                <a:sym typeface="Akatab"/>
              </a:rPr>
              <a:t>: Dollarama's mission is to provide a </a:t>
            </a:r>
            <a:r>
              <a:rPr b="1" lang="en" sz="1200">
                <a:solidFill>
                  <a:schemeClr val="dk1"/>
                </a:solidFill>
                <a:latin typeface="Akatab"/>
                <a:ea typeface="Akatab"/>
                <a:cs typeface="Akatab"/>
                <a:sym typeface="Akatab"/>
              </a:rPr>
              <a:t>diverse range of quality products</a:t>
            </a:r>
            <a:r>
              <a:rPr lang="en" sz="1200">
                <a:solidFill>
                  <a:schemeClr val="dk1"/>
                </a:solidFill>
                <a:latin typeface="Akatab"/>
                <a:ea typeface="Akatab"/>
                <a:cs typeface="Akatab"/>
                <a:sym typeface="Akatab"/>
              </a:rPr>
              <a:t> at </a:t>
            </a:r>
            <a:r>
              <a:rPr b="1" lang="en" sz="1200">
                <a:solidFill>
                  <a:schemeClr val="dk1"/>
                </a:solidFill>
                <a:latin typeface="Akatab"/>
                <a:ea typeface="Akatab"/>
                <a:cs typeface="Akatab"/>
                <a:sym typeface="Akatab"/>
              </a:rPr>
              <a:t>affordable prices</a:t>
            </a:r>
            <a:r>
              <a:rPr lang="en" sz="1200">
                <a:solidFill>
                  <a:schemeClr val="dk1"/>
                </a:solidFill>
                <a:latin typeface="Akatab"/>
                <a:ea typeface="Akatab"/>
                <a:cs typeface="Akatab"/>
                <a:sym typeface="Akatab"/>
              </a:rPr>
              <a:t> to meet the needs of its customers from </a:t>
            </a:r>
            <a:r>
              <a:rPr b="1" lang="en" sz="1200">
                <a:solidFill>
                  <a:schemeClr val="dk1"/>
                </a:solidFill>
                <a:latin typeface="Akatab"/>
                <a:ea typeface="Akatab"/>
                <a:cs typeface="Akatab"/>
                <a:sym typeface="Akatab"/>
              </a:rPr>
              <a:t>every segment</a:t>
            </a:r>
            <a:r>
              <a:rPr lang="en" sz="1200">
                <a:solidFill>
                  <a:schemeClr val="dk1"/>
                </a:solidFill>
                <a:latin typeface="Akatab"/>
                <a:ea typeface="Akatab"/>
                <a:cs typeface="Akatab"/>
                <a:sym typeface="Akatab"/>
              </a:rPr>
              <a:t>. Through strategic initiatives and exceptional operations, the company aims to promote </a:t>
            </a:r>
            <a:r>
              <a:rPr b="1" lang="en" sz="1200">
                <a:solidFill>
                  <a:schemeClr val="dk1"/>
                </a:solidFill>
                <a:latin typeface="Akatab"/>
                <a:ea typeface="Akatab"/>
                <a:cs typeface="Akatab"/>
                <a:sym typeface="Akatab"/>
              </a:rPr>
              <a:t>sustainable growth</a:t>
            </a:r>
            <a:r>
              <a:rPr lang="en" sz="1200">
                <a:solidFill>
                  <a:schemeClr val="dk1"/>
                </a:solidFill>
                <a:latin typeface="Akatab"/>
                <a:ea typeface="Akatab"/>
                <a:cs typeface="Akatab"/>
                <a:sym typeface="Akatab"/>
              </a:rPr>
              <a:t>, create </a:t>
            </a:r>
            <a:r>
              <a:rPr b="1" lang="en" sz="1200">
                <a:solidFill>
                  <a:schemeClr val="dk1"/>
                </a:solidFill>
                <a:latin typeface="Akatab"/>
                <a:ea typeface="Akatab"/>
                <a:cs typeface="Akatab"/>
                <a:sym typeface="Akatab"/>
              </a:rPr>
              <a:t>value for its shareholders</a:t>
            </a:r>
            <a:r>
              <a:rPr lang="en" sz="1200">
                <a:solidFill>
                  <a:schemeClr val="dk1"/>
                </a:solidFill>
                <a:latin typeface="Akatab"/>
                <a:ea typeface="Akatab"/>
                <a:cs typeface="Akatab"/>
                <a:sym typeface="Akatab"/>
              </a:rPr>
              <a:t>, and make </a:t>
            </a:r>
            <a:r>
              <a:rPr b="1" lang="en" sz="1200">
                <a:solidFill>
                  <a:schemeClr val="dk1"/>
                </a:solidFill>
                <a:latin typeface="Akatab"/>
                <a:ea typeface="Akatab"/>
                <a:cs typeface="Akatab"/>
                <a:sym typeface="Akatab"/>
              </a:rPr>
              <a:t>positive contributions</a:t>
            </a:r>
            <a:r>
              <a:rPr lang="en" sz="1200">
                <a:solidFill>
                  <a:schemeClr val="dk1"/>
                </a:solidFill>
                <a:latin typeface="Akatab"/>
                <a:ea typeface="Akatab"/>
                <a:cs typeface="Akatab"/>
                <a:sym typeface="Akatab"/>
              </a:rPr>
              <a:t> to the communities it serves. </a:t>
            </a:r>
            <a:endParaRPr sz="1200">
              <a:solidFill>
                <a:schemeClr val="dk1"/>
              </a:solidFill>
              <a:latin typeface="Akatab"/>
              <a:ea typeface="Akatab"/>
              <a:cs typeface="Akatab"/>
              <a:sym typeface="Akatab"/>
            </a:endParaRPr>
          </a:p>
          <a:p>
            <a:pPr indent="0" lvl="0" marL="0" rtl="0" algn="l">
              <a:spcBef>
                <a:spcPts val="0"/>
              </a:spcBef>
              <a:spcAft>
                <a:spcPts val="0"/>
              </a:spcAft>
              <a:buNone/>
            </a:pPr>
            <a:r>
              <a:t/>
            </a:r>
            <a:endParaRPr sz="1200">
              <a:solidFill>
                <a:schemeClr val="dk1"/>
              </a:solidFill>
              <a:latin typeface="Akatab"/>
              <a:ea typeface="Akatab"/>
              <a:cs typeface="Akatab"/>
              <a:sym typeface="Akatab"/>
            </a:endParaRPr>
          </a:p>
          <a:p>
            <a:pPr indent="-304800" lvl="0" marL="457200" rtl="0" algn="l">
              <a:spcBef>
                <a:spcPts val="0"/>
              </a:spcBef>
              <a:spcAft>
                <a:spcPts val="0"/>
              </a:spcAft>
              <a:buClr>
                <a:schemeClr val="dk1"/>
              </a:buClr>
              <a:buSzPts val="1200"/>
              <a:buFont typeface="Akatab"/>
              <a:buChar char="●"/>
            </a:pPr>
            <a:r>
              <a:rPr b="1" lang="en" sz="1200">
                <a:solidFill>
                  <a:schemeClr val="dk1"/>
                </a:solidFill>
                <a:latin typeface="Akatab"/>
                <a:ea typeface="Akatab"/>
                <a:cs typeface="Akatab"/>
                <a:sym typeface="Akatab"/>
              </a:rPr>
              <a:t>Values</a:t>
            </a:r>
            <a:r>
              <a:rPr lang="en" sz="1200">
                <a:solidFill>
                  <a:schemeClr val="dk1"/>
                </a:solidFill>
                <a:latin typeface="Akatab"/>
                <a:ea typeface="Akatab"/>
                <a:cs typeface="Akatab"/>
                <a:sym typeface="Akatab"/>
              </a:rPr>
              <a:t>: Dollarama's values include </a:t>
            </a:r>
            <a:r>
              <a:rPr b="1" lang="en" sz="1200">
                <a:solidFill>
                  <a:schemeClr val="dk1"/>
                </a:solidFill>
                <a:latin typeface="Akatab"/>
                <a:ea typeface="Akatab"/>
                <a:cs typeface="Akatab"/>
                <a:sym typeface="Akatab"/>
              </a:rPr>
              <a:t>integrity</a:t>
            </a:r>
            <a:r>
              <a:rPr lang="en" sz="1200">
                <a:solidFill>
                  <a:schemeClr val="dk1"/>
                </a:solidFill>
                <a:latin typeface="Akatab"/>
                <a:ea typeface="Akatab"/>
                <a:cs typeface="Akatab"/>
                <a:sym typeface="Akatab"/>
              </a:rPr>
              <a:t>, </a:t>
            </a:r>
            <a:r>
              <a:rPr b="1" lang="en" sz="1200">
                <a:solidFill>
                  <a:schemeClr val="dk1"/>
                </a:solidFill>
                <a:latin typeface="Akatab"/>
                <a:ea typeface="Akatab"/>
                <a:cs typeface="Akatab"/>
                <a:sym typeface="Akatab"/>
              </a:rPr>
              <a:t>innovation</a:t>
            </a:r>
            <a:r>
              <a:rPr lang="en" sz="1200">
                <a:solidFill>
                  <a:schemeClr val="dk1"/>
                </a:solidFill>
                <a:latin typeface="Akatab"/>
                <a:ea typeface="Akatab"/>
                <a:cs typeface="Akatab"/>
                <a:sym typeface="Akatab"/>
              </a:rPr>
              <a:t> and a strong focus on its </a:t>
            </a:r>
            <a:r>
              <a:rPr b="1" lang="en" sz="1200">
                <a:solidFill>
                  <a:schemeClr val="dk1"/>
                </a:solidFill>
                <a:latin typeface="Akatab"/>
                <a:ea typeface="Akatab"/>
                <a:cs typeface="Akatab"/>
                <a:sym typeface="Akatab"/>
              </a:rPr>
              <a:t>customers</a:t>
            </a:r>
            <a:r>
              <a:rPr lang="en" sz="1200">
                <a:solidFill>
                  <a:schemeClr val="dk1"/>
                </a:solidFill>
                <a:latin typeface="Akatab"/>
                <a:ea typeface="Akatab"/>
                <a:cs typeface="Akatab"/>
                <a:sym typeface="Akatab"/>
              </a:rPr>
              <a:t>, which are the foundation of its company culture and its decision-making process.</a:t>
            </a:r>
            <a:endParaRPr sz="1200">
              <a:solidFill>
                <a:schemeClr val="dk1"/>
              </a:solidFill>
              <a:latin typeface="Akatab"/>
              <a:ea typeface="Akatab"/>
              <a:cs typeface="Akatab"/>
              <a:sym typeface="Akatab"/>
            </a:endParaRPr>
          </a:p>
        </p:txBody>
      </p:sp>
      <p:pic>
        <p:nvPicPr>
          <p:cNvPr id="156" name="Google Shape;156;p16"/>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157" name="Google Shape;157;p16"/>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3</a:t>
            </a:r>
            <a:endParaRPr sz="1200">
              <a:solidFill>
                <a:schemeClr val="dk1"/>
              </a:solidFill>
              <a:latin typeface="Noto Serif Ethiopic"/>
              <a:ea typeface="Noto Serif Ethiopic"/>
              <a:cs typeface="Noto Serif Ethiopic"/>
              <a:sym typeface="Noto Serif Ethiopic"/>
            </a:endParaRPr>
          </a:p>
        </p:txBody>
      </p:sp>
      <p:sp>
        <p:nvSpPr>
          <p:cNvPr id="158" name="Google Shape;158;p16"/>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7"/>
          <p:cNvSpPr txBox="1"/>
          <p:nvPr>
            <p:ph type="title"/>
          </p:nvPr>
        </p:nvSpPr>
        <p:spPr>
          <a:xfrm>
            <a:off x="673050" y="3266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02 </a:t>
            </a:r>
            <a:r>
              <a:rPr lang="en" sz="2500"/>
              <a:t>Current </a:t>
            </a:r>
            <a:r>
              <a:rPr lang="en" sz="2500"/>
              <a:t>Offerings</a:t>
            </a:r>
            <a:endParaRPr sz="2500"/>
          </a:p>
        </p:txBody>
      </p:sp>
      <p:pic>
        <p:nvPicPr>
          <p:cNvPr id="164" name="Google Shape;164;p17"/>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165" name="Google Shape;165;p17"/>
          <p:cNvSpPr txBox="1"/>
          <p:nvPr/>
        </p:nvSpPr>
        <p:spPr>
          <a:xfrm>
            <a:off x="554550" y="844044"/>
            <a:ext cx="7941000" cy="39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Akatab"/>
                <a:ea typeface="Akatab"/>
                <a:cs typeface="Akatab"/>
                <a:sym typeface="Akatab"/>
              </a:rPr>
              <a:t>Dollarama is a general retailer catering to diverse consumer needs.</a:t>
            </a:r>
            <a:endParaRPr b="1" sz="1800">
              <a:solidFill>
                <a:schemeClr val="dk1"/>
              </a:solidFill>
              <a:latin typeface="Akatab"/>
              <a:ea typeface="Akatab"/>
              <a:cs typeface="Akatab"/>
              <a:sym typeface="Akatab"/>
            </a:endParaRPr>
          </a:p>
          <a:p>
            <a:pPr indent="0" lvl="0" marL="0" rtl="0" algn="l">
              <a:spcBef>
                <a:spcPts val="0"/>
              </a:spcBef>
              <a:spcAft>
                <a:spcPts val="0"/>
              </a:spcAft>
              <a:buNone/>
            </a:pPr>
            <a:r>
              <a:t/>
            </a:r>
            <a:endParaRPr sz="1800">
              <a:solidFill>
                <a:schemeClr val="dk1"/>
              </a:solidFill>
              <a:latin typeface="Akatab"/>
              <a:ea typeface="Akatab"/>
              <a:cs typeface="Akatab"/>
              <a:sym typeface="Akatab"/>
            </a:endParaRPr>
          </a:p>
          <a:p>
            <a:pPr indent="-342900" lvl="0" marL="457200" rtl="0" algn="l">
              <a:spcBef>
                <a:spcPts val="0"/>
              </a:spcBef>
              <a:spcAft>
                <a:spcPts val="0"/>
              </a:spcAft>
              <a:buClr>
                <a:schemeClr val="dk1"/>
              </a:buClr>
              <a:buSzPts val="1800"/>
              <a:buFont typeface="Akatab"/>
              <a:buChar char="●"/>
            </a:pPr>
            <a:r>
              <a:rPr lang="en" sz="1800">
                <a:solidFill>
                  <a:schemeClr val="dk1"/>
                </a:solidFill>
                <a:latin typeface="Akatab"/>
                <a:ea typeface="Akatab"/>
                <a:cs typeface="Akatab"/>
                <a:sym typeface="Akatab"/>
              </a:rPr>
              <a:t>Product assortment includes tools, electronics, toys, food, beverages, and more.</a:t>
            </a:r>
            <a:endParaRPr sz="1800">
              <a:solidFill>
                <a:schemeClr val="dk1"/>
              </a:solidFill>
              <a:latin typeface="Akatab"/>
              <a:ea typeface="Akatab"/>
              <a:cs typeface="Akatab"/>
              <a:sym typeface="Akatab"/>
            </a:endParaRPr>
          </a:p>
          <a:p>
            <a:pPr indent="0" lvl="0" marL="0" rtl="0" algn="l">
              <a:spcBef>
                <a:spcPts val="0"/>
              </a:spcBef>
              <a:spcAft>
                <a:spcPts val="0"/>
              </a:spcAft>
              <a:buNone/>
            </a:pPr>
            <a:r>
              <a:t/>
            </a:r>
            <a:endParaRPr sz="1800">
              <a:solidFill>
                <a:schemeClr val="dk1"/>
              </a:solidFill>
              <a:latin typeface="Akatab"/>
              <a:ea typeface="Akatab"/>
              <a:cs typeface="Akatab"/>
              <a:sym typeface="Akatab"/>
            </a:endParaRPr>
          </a:p>
          <a:p>
            <a:pPr indent="-342900" lvl="0" marL="457200" rtl="0" algn="l">
              <a:spcBef>
                <a:spcPts val="0"/>
              </a:spcBef>
              <a:spcAft>
                <a:spcPts val="0"/>
              </a:spcAft>
              <a:buClr>
                <a:schemeClr val="dk1"/>
              </a:buClr>
              <a:buSzPts val="1800"/>
              <a:buFont typeface="Akatab"/>
              <a:buChar char="●"/>
            </a:pPr>
            <a:r>
              <a:rPr lang="en" sz="1800">
                <a:solidFill>
                  <a:schemeClr val="dk1"/>
                </a:solidFill>
                <a:latin typeface="Akatab"/>
                <a:ea typeface="Akatab"/>
                <a:cs typeface="Akatab"/>
                <a:sym typeface="Akatab"/>
              </a:rPr>
              <a:t>Key categories encompass cleaning supplies, school and office equipment, kitchen supplies, barbecue and gardening equipment, apparel, and pool and beach accessories.</a:t>
            </a:r>
            <a:endParaRPr sz="1800">
              <a:solidFill>
                <a:schemeClr val="dk1"/>
              </a:solidFill>
              <a:latin typeface="Akatab"/>
              <a:ea typeface="Akatab"/>
              <a:cs typeface="Akatab"/>
              <a:sym typeface="Akatab"/>
            </a:endParaRPr>
          </a:p>
          <a:p>
            <a:pPr indent="0" lvl="0" marL="0" rtl="0" algn="l">
              <a:spcBef>
                <a:spcPts val="0"/>
              </a:spcBef>
              <a:spcAft>
                <a:spcPts val="0"/>
              </a:spcAft>
              <a:buNone/>
            </a:pPr>
            <a:r>
              <a:t/>
            </a:r>
            <a:endParaRPr sz="1800">
              <a:solidFill>
                <a:schemeClr val="dk1"/>
              </a:solidFill>
              <a:latin typeface="Akatab"/>
              <a:ea typeface="Akatab"/>
              <a:cs typeface="Akatab"/>
              <a:sym typeface="Akatab"/>
            </a:endParaRPr>
          </a:p>
          <a:p>
            <a:pPr indent="-342900" lvl="0" marL="457200" rtl="0" algn="l">
              <a:spcBef>
                <a:spcPts val="0"/>
              </a:spcBef>
              <a:spcAft>
                <a:spcPts val="0"/>
              </a:spcAft>
              <a:buClr>
                <a:schemeClr val="dk1"/>
              </a:buClr>
              <a:buSzPts val="1800"/>
              <a:buFont typeface="Akatab"/>
              <a:buChar char="●"/>
            </a:pPr>
            <a:r>
              <a:rPr lang="en" sz="1800">
                <a:solidFill>
                  <a:schemeClr val="dk1"/>
                </a:solidFill>
                <a:latin typeface="Akatab"/>
                <a:ea typeface="Akatab"/>
                <a:cs typeface="Akatab"/>
                <a:sym typeface="Akatab"/>
              </a:rPr>
              <a:t>Specialty items offered range from wedding and birthday supplies to holiday items like Christmas and St. Patrick's Day decorations, as well as greeting cards.</a:t>
            </a:r>
            <a:endParaRPr sz="1800">
              <a:solidFill>
                <a:schemeClr val="dk1"/>
              </a:solidFill>
              <a:latin typeface="Akatab"/>
              <a:ea typeface="Akatab"/>
              <a:cs typeface="Akatab"/>
              <a:sym typeface="Akatab"/>
            </a:endParaRPr>
          </a:p>
        </p:txBody>
      </p:sp>
      <p:sp>
        <p:nvSpPr>
          <p:cNvPr id="166" name="Google Shape;166;p17"/>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4</a:t>
            </a:r>
            <a:endParaRPr sz="1200">
              <a:solidFill>
                <a:schemeClr val="dk1"/>
              </a:solidFill>
              <a:latin typeface="Noto Serif Ethiopic"/>
              <a:ea typeface="Noto Serif Ethiopic"/>
              <a:cs typeface="Noto Serif Ethiopic"/>
              <a:sym typeface="Noto Serif Ethiopic"/>
            </a:endParaRPr>
          </a:p>
        </p:txBody>
      </p:sp>
      <p:sp>
        <p:nvSpPr>
          <p:cNvPr id="167" name="Google Shape;167;p17"/>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18"/>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173" name="Google Shape;173;p18"/>
          <p:cNvSpPr txBox="1"/>
          <p:nvPr>
            <p:ph type="title"/>
          </p:nvPr>
        </p:nvSpPr>
        <p:spPr>
          <a:xfrm>
            <a:off x="72030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03 Concept Test / Design</a:t>
            </a:r>
            <a:endParaRPr sz="1800"/>
          </a:p>
        </p:txBody>
      </p:sp>
      <p:sp>
        <p:nvSpPr>
          <p:cNvPr id="174" name="Google Shape;174;p18"/>
          <p:cNvSpPr txBox="1"/>
          <p:nvPr/>
        </p:nvSpPr>
        <p:spPr>
          <a:xfrm>
            <a:off x="305700" y="638175"/>
            <a:ext cx="8533200" cy="420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a:solidFill>
                  <a:schemeClr val="dk1"/>
                </a:solidFill>
                <a:latin typeface="Akatab"/>
                <a:ea typeface="Akatab"/>
                <a:cs typeface="Akatab"/>
                <a:sym typeface="Akatab"/>
              </a:rPr>
              <a:t>1.Expanding the E-Commerce Platform:</a:t>
            </a:r>
            <a:endParaRPr b="1" sz="11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000">
                <a:solidFill>
                  <a:schemeClr val="dk1"/>
                </a:solidFill>
                <a:latin typeface="Akatab"/>
                <a:ea typeface="Akatab"/>
                <a:cs typeface="Akatab"/>
                <a:sym typeface="Akatab"/>
              </a:rPr>
              <a:t>Description:</a:t>
            </a:r>
            <a:endParaRPr sz="10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000">
                <a:solidFill>
                  <a:schemeClr val="dk1"/>
                </a:solidFill>
                <a:latin typeface="Akatab"/>
                <a:ea typeface="Akatab"/>
                <a:cs typeface="Akatab"/>
                <a:sym typeface="Akatab"/>
              </a:rPr>
              <a:t>Dollarama's e-commerce platform growth involves broadening its online visibility in order to provide a more smooth buying journey. This involves improving the website and mobile app, including cutting-edge technology such as VR and AR for interactive virtual shopping, and boosting payment choices for further ease.</a:t>
            </a:r>
            <a:endParaRPr sz="10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000">
                <a:solidFill>
                  <a:schemeClr val="dk1"/>
                </a:solidFill>
                <a:latin typeface="Akatab"/>
                <a:ea typeface="Akatab"/>
                <a:cs typeface="Akatab"/>
                <a:sym typeface="Akatab"/>
              </a:rPr>
              <a:t> </a:t>
            </a:r>
            <a:endParaRPr sz="10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000">
                <a:solidFill>
                  <a:schemeClr val="dk1"/>
                </a:solidFill>
                <a:latin typeface="Akatab"/>
                <a:ea typeface="Akatab"/>
                <a:cs typeface="Akatab"/>
                <a:sym typeface="Akatab"/>
              </a:rPr>
              <a:t>Justification:</a:t>
            </a:r>
            <a:br>
              <a:rPr lang="en" sz="1000">
                <a:solidFill>
                  <a:schemeClr val="dk1"/>
                </a:solidFill>
                <a:latin typeface="Akatab"/>
                <a:ea typeface="Akatab"/>
                <a:cs typeface="Akatab"/>
                <a:sym typeface="Akatab"/>
              </a:rPr>
            </a:br>
            <a:r>
              <a:rPr lang="en" sz="1000">
                <a:solidFill>
                  <a:schemeClr val="dk1"/>
                </a:solidFill>
                <a:latin typeface="Akatab"/>
                <a:ea typeface="Akatab"/>
                <a:cs typeface="Akatab"/>
                <a:sym typeface="Akatab"/>
              </a:rPr>
              <a:t>Expanding the online storefront is consistent with Dollarama's values of technology and accessibility. With the rise of online purchasing trends, putting money into digital platforms allows Dollarama to connect with a larger audience and respond to changing consumer tastes. The use of VR and AR technology enhances the internet purchasing experience by virtually mimicking the in-store environment. Offering a variety of payment methods promotes accessibility for all clients, which increases happiness and loyalty.</a:t>
            </a:r>
            <a:endParaRPr sz="1000">
              <a:solidFill>
                <a:schemeClr val="dk1"/>
              </a:solidFill>
              <a:latin typeface="Akatab"/>
              <a:ea typeface="Akatab"/>
              <a:cs typeface="Akatab"/>
              <a:sym typeface="Akatab"/>
            </a:endParaRPr>
          </a:p>
          <a:p>
            <a:pPr indent="0" lvl="0" marL="0" rtl="0" algn="l">
              <a:lnSpc>
                <a:spcPct val="115000"/>
              </a:lnSpc>
              <a:spcBef>
                <a:spcPts val="1200"/>
              </a:spcBef>
              <a:spcAft>
                <a:spcPts val="0"/>
              </a:spcAft>
              <a:buNone/>
            </a:pPr>
            <a:r>
              <a:rPr lang="en" sz="1000">
                <a:solidFill>
                  <a:schemeClr val="dk1"/>
                </a:solidFill>
                <a:latin typeface="Akatab"/>
                <a:ea typeface="Akatab"/>
                <a:cs typeface="Akatab"/>
                <a:sym typeface="Akatab"/>
              </a:rPr>
              <a:t>Fit &amp; Synergies: </a:t>
            </a:r>
            <a:br>
              <a:rPr lang="en" sz="1000">
                <a:solidFill>
                  <a:schemeClr val="dk1"/>
                </a:solidFill>
                <a:latin typeface="Akatab"/>
                <a:ea typeface="Akatab"/>
                <a:cs typeface="Akatab"/>
                <a:sym typeface="Akatab"/>
              </a:rPr>
            </a:br>
            <a:r>
              <a:rPr lang="en" sz="1000">
                <a:solidFill>
                  <a:schemeClr val="dk1"/>
                </a:solidFill>
                <a:latin typeface="Akatab"/>
                <a:ea typeface="Akatab"/>
                <a:cs typeface="Akatab"/>
                <a:sym typeface="Akatab"/>
              </a:rPr>
              <a:t>This idea complements Dollarama's existing product lines, offering extra access to a varied choice of items. Dollarama can efficiently deliver online purchases by leveraging its current supply chain management and logistical capabilities. The development of Dollarama's e-commerce platform complements the company's actual locations, providing linkages among online and offline channels to increase customer exposure and pleasure.</a:t>
            </a:r>
            <a:br>
              <a:rPr lang="en" sz="1000">
                <a:solidFill>
                  <a:schemeClr val="dk1"/>
                </a:solidFill>
                <a:latin typeface="Akatab"/>
                <a:ea typeface="Akatab"/>
                <a:cs typeface="Akatab"/>
                <a:sym typeface="Akatab"/>
              </a:rPr>
            </a:br>
            <a:endParaRPr sz="10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000">
                <a:solidFill>
                  <a:schemeClr val="dk1"/>
                </a:solidFill>
                <a:latin typeface="Akatab"/>
                <a:ea typeface="Akatab"/>
                <a:cs typeface="Akatab"/>
                <a:sym typeface="Akatab"/>
              </a:rPr>
              <a:t>Recommendation:</a:t>
            </a:r>
            <a:br>
              <a:rPr lang="en" sz="1000">
                <a:solidFill>
                  <a:schemeClr val="dk1"/>
                </a:solidFill>
                <a:latin typeface="Akatab"/>
                <a:ea typeface="Akatab"/>
                <a:cs typeface="Akatab"/>
                <a:sym typeface="Akatab"/>
              </a:rPr>
            </a:br>
            <a:r>
              <a:rPr lang="en" sz="1000">
                <a:solidFill>
                  <a:schemeClr val="dk1"/>
                </a:solidFill>
                <a:latin typeface="Akatab"/>
                <a:ea typeface="Akatab"/>
                <a:cs typeface="Akatab"/>
                <a:sym typeface="Akatab"/>
              </a:rPr>
              <a:t>Expanding Dollarama's e-commerce infrastructure is a logical idea considering the growing prevalence of online purchasing. Dollarama can establish itself as a digital retail leader by strategically investing in advances in technology and facilities generating sales and increasing consumer engagement.</a:t>
            </a:r>
            <a:endParaRPr sz="1000">
              <a:solidFill>
                <a:schemeClr val="dk1"/>
              </a:solidFill>
              <a:latin typeface="Akatab"/>
              <a:ea typeface="Akatab"/>
              <a:cs typeface="Akatab"/>
              <a:sym typeface="Akatab"/>
            </a:endParaRPr>
          </a:p>
          <a:p>
            <a:pPr indent="0" lvl="0" marL="0" rtl="0" algn="l">
              <a:lnSpc>
                <a:spcPct val="115000"/>
              </a:lnSpc>
              <a:spcBef>
                <a:spcPts val="1200"/>
              </a:spcBef>
              <a:spcAft>
                <a:spcPts val="0"/>
              </a:spcAft>
              <a:buNone/>
            </a:pPr>
            <a:r>
              <a:rPr lang="en" sz="1000">
                <a:solidFill>
                  <a:schemeClr val="dk1"/>
                </a:solidFill>
                <a:latin typeface="Akatab"/>
                <a:ea typeface="Akatab"/>
                <a:cs typeface="Akatab"/>
                <a:sym typeface="Akatab"/>
              </a:rPr>
              <a:t> </a:t>
            </a:r>
            <a:endParaRPr sz="1000">
              <a:solidFill>
                <a:schemeClr val="dk1"/>
              </a:solidFill>
              <a:latin typeface="Akatab"/>
              <a:ea typeface="Akatab"/>
              <a:cs typeface="Akatab"/>
              <a:sym typeface="Akatab"/>
            </a:endParaRPr>
          </a:p>
        </p:txBody>
      </p:sp>
      <p:sp>
        <p:nvSpPr>
          <p:cNvPr id="175" name="Google Shape;175;p18"/>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5</a:t>
            </a:r>
            <a:endParaRPr sz="1200">
              <a:solidFill>
                <a:schemeClr val="dk1"/>
              </a:solidFill>
              <a:latin typeface="Noto Serif Ethiopic"/>
              <a:ea typeface="Noto Serif Ethiopic"/>
              <a:cs typeface="Noto Serif Ethiopic"/>
              <a:sym typeface="Noto Serif Ethiopic"/>
            </a:endParaRPr>
          </a:p>
        </p:txBody>
      </p:sp>
      <p:sp>
        <p:nvSpPr>
          <p:cNvPr id="176" name="Google Shape;176;p18"/>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19"/>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182" name="Google Shape;182;p19"/>
          <p:cNvSpPr txBox="1"/>
          <p:nvPr>
            <p:ph type="title"/>
          </p:nvPr>
        </p:nvSpPr>
        <p:spPr>
          <a:xfrm>
            <a:off x="72030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03 Concept Test / Design</a:t>
            </a:r>
            <a:endParaRPr sz="1800"/>
          </a:p>
        </p:txBody>
      </p:sp>
      <p:sp>
        <p:nvSpPr>
          <p:cNvPr id="183" name="Google Shape;183;p19"/>
          <p:cNvSpPr txBox="1"/>
          <p:nvPr/>
        </p:nvSpPr>
        <p:spPr>
          <a:xfrm>
            <a:off x="414750" y="693975"/>
            <a:ext cx="8314500" cy="366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dk1"/>
                </a:solidFill>
                <a:latin typeface="Akatab"/>
                <a:ea typeface="Akatab"/>
                <a:cs typeface="Akatab"/>
                <a:sym typeface="Akatab"/>
              </a:rPr>
              <a:t>2. Increasing the Snack Area's Selection of Healthful Snacks:</a:t>
            </a:r>
            <a:br>
              <a:rPr lang="en" sz="1000">
                <a:solidFill>
                  <a:schemeClr val="dk1"/>
                </a:solidFill>
                <a:latin typeface="Akatab"/>
                <a:ea typeface="Akatab"/>
                <a:cs typeface="Akatab"/>
                <a:sym typeface="Akatab"/>
              </a:rPr>
            </a:br>
            <a:r>
              <a:rPr lang="en" sz="1000">
                <a:solidFill>
                  <a:schemeClr val="dk1"/>
                </a:solidFill>
                <a:latin typeface="Akatab"/>
                <a:ea typeface="Akatab"/>
                <a:cs typeface="Akatab"/>
                <a:sym typeface="Akatab"/>
              </a:rPr>
              <a:t>Description:</a:t>
            </a:r>
            <a:br>
              <a:rPr lang="en" sz="1000">
                <a:solidFill>
                  <a:schemeClr val="dk1"/>
                </a:solidFill>
                <a:latin typeface="Akatab"/>
                <a:ea typeface="Akatab"/>
                <a:cs typeface="Akatab"/>
                <a:sym typeface="Akatab"/>
              </a:rPr>
            </a:br>
            <a:r>
              <a:rPr lang="en" sz="1000">
                <a:solidFill>
                  <a:schemeClr val="dk1"/>
                </a:solidFill>
                <a:latin typeface="Akatab"/>
                <a:ea typeface="Akatab"/>
                <a:cs typeface="Akatab"/>
                <a:sym typeface="Akatab"/>
              </a:rPr>
              <a:t>Dollarama's attempt to expand its snack offerings to include healthy snacks comprises acquiring and curating a comprehensive range of nutritional selections. These can involve organic snacks, gluten-free alternates, and low-sugar options readily available in the snack section.</a:t>
            </a:r>
            <a:endParaRPr sz="1000">
              <a:solidFill>
                <a:schemeClr val="dk1"/>
              </a:solidFill>
              <a:latin typeface="Akatab"/>
              <a:ea typeface="Akatab"/>
              <a:cs typeface="Akatab"/>
              <a:sym typeface="Akatab"/>
            </a:endParaRPr>
          </a:p>
          <a:p>
            <a:pPr indent="0" lvl="0" marL="0" rtl="0" algn="l">
              <a:lnSpc>
                <a:spcPct val="115000"/>
              </a:lnSpc>
              <a:spcBef>
                <a:spcPts val="1200"/>
              </a:spcBef>
              <a:spcAft>
                <a:spcPts val="0"/>
              </a:spcAft>
              <a:buNone/>
            </a:pPr>
            <a:r>
              <a:rPr lang="en" sz="1000">
                <a:solidFill>
                  <a:schemeClr val="dk1"/>
                </a:solidFill>
                <a:latin typeface="Akatab"/>
                <a:ea typeface="Akatab"/>
                <a:cs typeface="Akatab"/>
                <a:sym typeface="Akatab"/>
              </a:rPr>
              <a:t>Justification:</a:t>
            </a:r>
            <a:br>
              <a:rPr lang="en" sz="1000">
                <a:solidFill>
                  <a:schemeClr val="dk1"/>
                </a:solidFill>
                <a:latin typeface="Akatab"/>
                <a:ea typeface="Akatab"/>
                <a:cs typeface="Akatab"/>
                <a:sym typeface="Akatab"/>
              </a:rPr>
            </a:br>
            <a:r>
              <a:rPr lang="en" sz="1000">
                <a:solidFill>
                  <a:schemeClr val="dk1"/>
                </a:solidFill>
                <a:latin typeface="Akatab"/>
                <a:ea typeface="Akatab"/>
                <a:cs typeface="Akatab"/>
                <a:sym typeface="Akatab"/>
              </a:rPr>
              <a:t>The growing demand for healthy snacks indicates shifting consumer preferences for wellbeing and nutrition. Dollarama can attract and are attractive to this expanding buyer group by expanding its snack offerings to include mindful of their health options. Delivering an extensive selection of healthy snacks aligns with Dollarama's aim of delivering quality and accessibility while also accommodating evolving dietary needs.</a:t>
            </a:r>
            <a:endParaRPr sz="1000">
              <a:solidFill>
                <a:schemeClr val="dk1"/>
              </a:solidFill>
              <a:latin typeface="Akatab"/>
              <a:ea typeface="Akatab"/>
              <a:cs typeface="Akatab"/>
              <a:sym typeface="Akatab"/>
            </a:endParaRPr>
          </a:p>
          <a:p>
            <a:pPr indent="0" lvl="0" marL="0" rtl="0" algn="l">
              <a:lnSpc>
                <a:spcPct val="115000"/>
              </a:lnSpc>
              <a:spcBef>
                <a:spcPts val="1200"/>
              </a:spcBef>
              <a:spcAft>
                <a:spcPts val="0"/>
              </a:spcAft>
              <a:buNone/>
            </a:pPr>
            <a:r>
              <a:rPr lang="en" sz="1000">
                <a:solidFill>
                  <a:schemeClr val="dk1"/>
                </a:solidFill>
                <a:latin typeface="Akatab"/>
                <a:ea typeface="Akatab"/>
                <a:cs typeface="Akatab"/>
                <a:sym typeface="Akatab"/>
              </a:rPr>
              <a:t>Fit &amp; Synergies:</a:t>
            </a:r>
            <a:br>
              <a:rPr lang="en" sz="1000">
                <a:solidFill>
                  <a:schemeClr val="dk1"/>
                </a:solidFill>
                <a:latin typeface="Akatab"/>
                <a:ea typeface="Akatab"/>
                <a:cs typeface="Akatab"/>
                <a:sym typeface="Akatab"/>
              </a:rPr>
            </a:br>
            <a:r>
              <a:rPr lang="en" sz="1000">
                <a:solidFill>
                  <a:schemeClr val="dk1"/>
                </a:solidFill>
                <a:latin typeface="Akatab"/>
                <a:ea typeface="Akatab"/>
                <a:cs typeface="Akatab"/>
                <a:sym typeface="Akatab"/>
              </a:rPr>
              <a:t>Expanding the assortment of healthy snacks enhances Dollarama's existing product lines in the food and beverage market. This move corresponds with Dollarama's dedication to fulfilling different consumer demands, and it maintains the company's position as a one-stop shop for everyday supplies. Additionally, the promotion of healthy food emphasizes Dollarama's focus on consumer well-being and satisfaction, which fosters stronger brand loyalty.</a:t>
            </a:r>
            <a:endParaRPr sz="1000">
              <a:solidFill>
                <a:schemeClr val="dk1"/>
              </a:solidFill>
              <a:latin typeface="Akatab"/>
              <a:ea typeface="Akatab"/>
              <a:cs typeface="Akatab"/>
              <a:sym typeface="Akatab"/>
            </a:endParaRPr>
          </a:p>
          <a:p>
            <a:pPr indent="0" lvl="0" marL="0" rtl="0" algn="l">
              <a:lnSpc>
                <a:spcPct val="115000"/>
              </a:lnSpc>
              <a:spcBef>
                <a:spcPts val="1200"/>
              </a:spcBef>
              <a:spcAft>
                <a:spcPts val="1200"/>
              </a:spcAft>
              <a:buNone/>
            </a:pPr>
            <a:r>
              <a:rPr lang="en" sz="1000">
                <a:solidFill>
                  <a:schemeClr val="dk1"/>
                </a:solidFill>
                <a:latin typeface="Akatab"/>
                <a:ea typeface="Akatab"/>
                <a:cs typeface="Akatab"/>
                <a:sym typeface="Akatab"/>
              </a:rPr>
              <a:t>Recommendation:</a:t>
            </a:r>
            <a:br>
              <a:rPr lang="en" sz="1000">
                <a:solidFill>
                  <a:schemeClr val="dk1"/>
                </a:solidFill>
                <a:latin typeface="Akatab"/>
                <a:ea typeface="Akatab"/>
                <a:cs typeface="Akatab"/>
                <a:sym typeface="Akatab"/>
              </a:rPr>
            </a:br>
            <a:r>
              <a:rPr lang="en" sz="1000">
                <a:solidFill>
                  <a:schemeClr val="dk1"/>
                </a:solidFill>
                <a:latin typeface="Akatab"/>
                <a:ea typeface="Akatab"/>
                <a:cs typeface="Akatab"/>
                <a:sym typeface="Akatab"/>
              </a:rPr>
              <a:t>Given the growing demand for healthy snacks and the possibility to attract health-conscious customers, Dollarama's decision to enhance the snack area's assortment of healthy snacks is a good business move. Dollarama is able to capitalize on this pattern by selecting a varied choice of nutritional alternatives and using smart in-store marketing</a:t>
            </a:r>
            <a:r>
              <a:rPr lang="en" sz="1000">
                <a:solidFill>
                  <a:schemeClr val="dk1"/>
                </a:solidFill>
                <a:latin typeface="Akatab"/>
                <a:ea typeface="Akatab"/>
                <a:cs typeface="Akatab"/>
                <a:sym typeface="Akatab"/>
              </a:rPr>
              <a:t>.</a:t>
            </a:r>
            <a:endParaRPr sz="900">
              <a:latin typeface="Urbanist"/>
              <a:ea typeface="Urbanist"/>
              <a:cs typeface="Urbanist"/>
              <a:sym typeface="Urbanist"/>
            </a:endParaRPr>
          </a:p>
        </p:txBody>
      </p:sp>
      <p:sp>
        <p:nvSpPr>
          <p:cNvPr id="184" name="Google Shape;184;p19"/>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6</a:t>
            </a:r>
            <a:endParaRPr sz="1200">
              <a:solidFill>
                <a:schemeClr val="dk1"/>
              </a:solidFill>
              <a:latin typeface="Noto Serif Ethiopic"/>
              <a:ea typeface="Noto Serif Ethiopic"/>
              <a:cs typeface="Noto Serif Ethiopic"/>
              <a:sym typeface="Noto Serif Ethiopic"/>
            </a:endParaRPr>
          </a:p>
        </p:txBody>
      </p:sp>
      <p:sp>
        <p:nvSpPr>
          <p:cNvPr id="185" name="Google Shape;185;p19"/>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20"/>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191" name="Google Shape;191;p20"/>
          <p:cNvSpPr txBox="1"/>
          <p:nvPr>
            <p:ph type="title"/>
          </p:nvPr>
        </p:nvSpPr>
        <p:spPr>
          <a:xfrm>
            <a:off x="72030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03 Concept Test / Design</a:t>
            </a:r>
            <a:endParaRPr sz="1800"/>
          </a:p>
        </p:txBody>
      </p:sp>
      <p:sp>
        <p:nvSpPr>
          <p:cNvPr id="192" name="Google Shape;192;p20"/>
          <p:cNvSpPr txBox="1"/>
          <p:nvPr/>
        </p:nvSpPr>
        <p:spPr>
          <a:xfrm>
            <a:off x="198600" y="660500"/>
            <a:ext cx="8747400" cy="409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dk1"/>
                </a:solidFill>
                <a:latin typeface="Akatab"/>
                <a:ea typeface="Akatab"/>
                <a:cs typeface="Akatab"/>
                <a:sym typeface="Akatab"/>
              </a:rPr>
              <a:t>3. Introducing Loyalty Points:</a:t>
            </a:r>
            <a:endParaRPr b="1" sz="12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000">
                <a:solidFill>
                  <a:schemeClr val="dk1"/>
                </a:solidFill>
                <a:latin typeface="Akatab"/>
                <a:ea typeface="Akatab"/>
                <a:cs typeface="Akatab"/>
                <a:sym typeface="Akatab"/>
              </a:rPr>
              <a:t>Description:</a:t>
            </a:r>
            <a:endParaRPr sz="10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000">
                <a:solidFill>
                  <a:schemeClr val="dk1"/>
                </a:solidFill>
                <a:latin typeface="Akatab"/>
                <a:ea typeface="Akatab"/>
                <a:cs typeface="Akatab"/>
                <a:sym typeface="Akatab"/>
              </a:rPr>
              <a:t>Dollarama's loyalty points program compensates customers for shopping at Dollarama locations. Users earn reward points for every dollar spent on, which may then be exchanged for discounts, free items, or other benefits. The application's operation is accessible via a mobile device's app or a web website, ensuring a simplified and user-friendly experience.</a:t>
            </a:r>
            <a:endParaRPr sz="10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000">
                <a:solidFill>
                  <a:schemeClr val="dk1"/>
                </a:solidFill>
                <a:latin typeface="Akatab"/>
                <a:ea typeface="Akatab"/>
                <a:cs typeface="Akatab"/>
                <a:sym typeface="Akatab"/>
              </a:rPr>
              <a:t> </a:t>
            </a:r>
            <a:endParaRPr sz="10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000">
                <a:solidFill>
                  <a:schemeClr val="dk1"/>
                </a:solidFill>
                <a:latin typeface="Akatab"/>
                <a:ea typeface="Akatab"/>
                <a:cs typeface="Akatab"/>
                <a:sym typeface="Akatab"/>
              </a:rPr>
              <a:t>Justification:</a:t>
            </a:r>
            <a:endParaRPr sz="10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000">
                <a:solidFill>
                  <a:schemeClr val="dk1"/>
                </a:solidFill>
                <a:latin typeface="Akatab"/>
                <a:ea typeface="Akatab"/>
                <a:cs typeface="Akatab"/>
                <a:sym typeface="Akatab"/>
              </a:rPr>
              <a:t>A point loyalty program encourages repeat purchases and fosters consumer loyalty by recognizing and rewarding it. Dollarama can encourage customers to pick Dollarama over rivals by providing concrete incentives such as reductions and prizes, increasing their overall expenditure. Introducing a reward points system matches with Dollarama's aim of providing value to customers and encouraging long-term growth.</a:t>
            </a:r>
            <a:endParaRPr sz="10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000">
                <a:solidFill>
                  <a:schemeClr val="dk1"/>
                </a:solidFill>
                <a:latin typeface="Akatab"/>
                <a:ea typeface="Akatab"/>
                <a:cs typeface="Akatab"/>
                <a:sym typeface="Akatab"/>
              </a:rPr>
              <a:t> </a:t>
            </a:r>
            <a:endParaRPr sz="10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000">
                <a:solidFill>
                  <a:schemeClr val="dk1"/>
                </a:solidFill>
                <a:latin typeface="Akatab"/>
                <a:ea typeface="Akatab"/>
                <a:cs typeface="Akatab"/>
                <a:sym typeface="Akatab"/>
              </a:rPr>
              <a:t>Fit &amp; Synergies:</a:t>
            </a:r>
            <a:endParaRPr sz="10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000">
                <a:solidFill>
                  <a:schemeClr val="dk1"/>
                </a:solidFill>
                <a:latin typeface="Akatab"/>
                <a:ea typeface="Akatab"/>
                <a:cs typeface="Akatab"/>
                <a:sym typeface="Akatab"/>
              </a:rPr>
              <a:t>Introducing a reward points program connects easily with Dollarama's current product lines, improving everything about shopping for customers. This design takes advantage of Dollarama's current capabilities in relationship building and analytics of data to quickly establish and administer the loyalty program. Dollarama may boost sales and strengthen customer connections by promoting consumer involvement and repeated purchases, thereby giving them a competitive advantage in the market.</a:t>
            </a:r>
            <a:endParaRPr sz="10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000">
                <a:solidFill>
                  <a:schemeClr val="dk1"/>
                </a:solidFill>
                <a:latin typeface="Akatab"/>
                <a:ea typeface="Akatab"/>
                <a:cs typeface="Akatab"/>
                <a:sym typeface="Akatab"/>
              </a:rPr>
              <a:t> </a:t>
            </a:r>
            <a:endParaRPr sz="10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000">
                <a:solidFill>
                  <a:schemeClr val="dk1"/>
                </a:solidFill>
                <a:latin typeface="Akatab"/>
                <a:ea typeface="Akatab"/>
                <a:cs typeface="Akatab"/>
                <a:sym typeface="Akatab"/>
              </a:rPr>
              <a:t>Recommendation:</a:t>
            </a:r>
            <a:endParaRPr sz="10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000">
                <a:solidFill>
                  <a:schemeClr val="dk1"/>
                </a:solidFill>
                <a:latin typeface="Akatab"/>
                <a:ea typeface="Akatab"/>
                <a:cs typeface="Akatab"/>
                <a:sym typeface="Akatab"/>
              </a:rPr>
              <a:t>Dollarama's introduction of a loyalty points programme is a smart move, given its ability to increase consumer loyalty and sales. The loyalty program may help Dollarama maintain sales growth and profitability by offering customers more incentives to shop at their shops. Dollarama is capable of distinguishing itself in competition and strengthen its client base via good execution and advertising.</a:t>
            </a:r>
            <a:endParaRPr sz="10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000">
                <a:latin typeface="Urbanist"/>
                <a:ea typeface="Urbanist"/>
                <a:cs typeface="Urbanist"/>
                <a:sym typeface="Urbanist"/>
              </a:rPr>
              <a:t> </a:t>
            </a:r>
            <a:endParaRPr sz="1000">
              <a:latin typeface="Urbanist"/>
              <a:ea typeface="Urbanist"/>
              <a:cs typeface="Urbanist"/>
              <a:sym typeface="Urbanist"/>
            </a:endParaRPr>
          </a:p>
        </p:txBody>
      </p:sp>
      <p:sp>
        <p:nvSpPr>
          <p:cNvPr id="193" name="Google Shape;193;p20"/>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7</a:t>
            </a:r>
            <a:endParaRPr sz="1200">
              <a:solidFill>
                <a:schemeClr val="dk1"/>
              </a:solidFill>
              <a:latin typeface="Noto Serif Ethiopic"/>
              <a:ea typeface="Noto Serif Ethiopic"/>
              <a:cs typeface="Noto Serif Ethiopic"/>
              <a:sym typeface="Noto Serif Ethiopic"/>
            </a:endParaRPr>
          </a:p>
        </p:txBody>
      </p:sp>
      <p:sp>
        <p:nvSpPr>
          <p:cNvPr id="194" name="Google Shape;194;p20"/>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21"/>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200" name="Google Shape;200;p21"/>
          <p:cNvSpPr txBox="1"/>
          <p:nvPr>
            <p:ph type="title"/>
          </p:nvPr>
        </p:nvSpPr>
        <p:spPr>
          <a:xfrm>
            <a:off x="72030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04 Internal Screen</a:t>
            </a:r>
            <a:endParaRPr sz="1800"/>
          </a:p>
        </p:txBody>
      </p:sp>
      <p:graphicFrame>
        <p:nvGraphicFramePr>
          <p:cNvPr id="201" name="Google Shape;201;p21"/>
          <p:cNvGraphicFramePr/>
          <p:nvPr/>
        </p:nvGraphicFramePr>
        <p:xfrm>
          <a:off x="448987" y="665200"/>
          <a:ext cx="3000000" cy="3000000"/>
        </p:xfrm>
        <a:graphic>
          <a:graphicData uri="http://schemas.openxmlformats.org/drawingml/2006/table">
            <a:tbl>
              <a:tblPr>
                <a:noFill/>
                <a:tableStyleId>{911376D4-CDA5-4171-808B-EA74BF3B8EAD}</a:tableStyleId>
              </a:tblPr>
              <a:tblGrid>
                <a:gridCol w="1471075"/>
                <a:gridCol w="969050"/>
                <a:gridCol w="1081700"/>
                <a:gridCol w="993375"/>
                <a:gridCol w="1028175"/>
                <a:gridCol w="979700"/>
                <a:gridCol w="952450"/>
                <a:gridCol w="770500"/>
              </a:tblGrid>
              <a:tr h="299375">
                <a:tc>
                  <a:txBody>
                    <a:bodyPr/>
                    <a:lstStyle/>
                    <a:p>
                      <a:pPr indent="0" lvl="0" marL="0" rtl="0" algn="ctr">
                        <a:spcBef>
                          <a:spcPts val="0"/>
                        </a:spcBef>
                        <a:spcAft>
                          <a:spcPts val="0"/>
                        </a:spcAft>
                        <a:buNone/>
                      </a:pPr>
                      <a:r>
                        <a:rPr b="1" lang="en" sz="800">
                          <a:latin typeface="Akatab"/>
                          <a:ea typeface="Akatab"/>
                          <a:cs typeface="Akatab"/>
                          <a:sym typeface="Akatab"/>
                        </a:rPr>
                        <a:t>Product Concepts (Vertical)/Criteria (Horizontal)</a:t>
                      </a:r>
                      <a:endParaRPr b="1"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b="1" lang="en" sz="800">
                          <a:latin typeface="Akatab"/>
                          <a:ea typeface="Akatab"/>
                          <a:cs typeface="Akatab"/>
                          <a:sym typeface="Akatab"/>
                        </a:rPr>
                        <a:t>Research Difficulty </a:t>
                      </a:r>
                      <a:endParaRPr b="1"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b="1" lang="en" sz="800">
                          <a:latin typeface="Akatab"/>
                          <a:ea typeface="Akatab"/>
                          <a:cs typeface="Akatab"/>
                          <a:sym typeface="Akatab"/>
                        </a:rPr>
                        <a:t>Technical Complexity</a:t>
                      </a:r>
                      <a:endParaRPr b="1"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b="1" lang="en" sz="800">
                          <a:latin typeface="Akatab"/>
                          <a:ea typeface="Akatab"/>
                          <a:cs typeface="Akatab"/>
                          <a:sym typeface="Akatab"/>
                        </a:rPr>
                        <a:t>Probable Market Share</a:t>
                      </a:r>
                      <a:endParaRPr b="1"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b="1" lang="en" sz="800">
                          <a:latin typeface="Akatab"/>
                          <a:ea typeface="Akatab"/>
                          <a:cs typeface="Akatab"/>
                          <a:sym typeface="Akatab"/>
                        </a:rPr>
                        <a:t>Likelihood of filling Customer/Market Need</a:t>
                      </a:r>
                      <a:endParaRPr b="1"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b="1" lang="en" sz="800">
                          <a:latin typeface="Akatab"/>
                          <a:ea typeface="Akatab"/>
                          <a:cs typeface="Akatab"/>
                          <a:sym typeface="Akatab"/>
                        </a:rPr>
                        <a:t>Financial Estimated Sales</a:t>
                      </a:r>
                      <a:endParaRPr b="1"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b="1" lang="en" sz="800">
                          <a:latin typeface="Akatab"/>
                          <a:ea typeface="Akatab"/>
                          <a:cs typeface="Akatab"/>
                          <a:sym typeface="Akatab"/>
                        </a:rPr>
                        <a:t>Competencies/Skills</a:t>
                      </a:r>
                      <a:endParaRPr b="1"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b="1" lang="en" sz="800">
                          <a:latin typeface="Akatab"/>
                          <a:ea typeface="Akatab"/>
                          <a:cs typeface="Akatab"/>
                          <a:sym typeface="Akatab"/>
                        </a:rPr>
                        <a:t>Scoring </a:t>
                      </a:r>
                      <a:endParaRPr b="1" sz="800">
                        <a:latin typeface="Akatab"/>
                        <a:ea typeface="Akatab"/>
                        <a:cs typeface="Akatab"/>
                        <a:sym typeface="Akatab"/>
                      </a:endParaRPr>
                    </a:p>
                  </a:txBody>
                  <a:tcPr marT="91425" marB="91425" marR="91425" marL="91425" anchor="ctr"/>
                </a:tc>
              </a:tr>
              <a:tr h="624100">
                <a:tc>
                  <a:txBody>
                    <a:bodyPr/>
                    <a:lstStyle/>
                    <a:p>
                      <a:pPr indent="0" lvl="0" marL="0" rtl="0" algn="ctr">
                        <a:spcBef>
                          <a:spcPts val="0"/>
                        </a:spcBef>
                        <a:spcAft>
                          <a:spcPts val="0"/>
                        </a:spcAft>
                        <a:buNone/>
                      </a:pPr>
                      <a:r>
                        <a:rPr b="1" lang="en" sz="800">
                          <a:latin typeface="Akatab"/>
                          <a:ea typeface="Akatab"/>
                          <a:cs typeface="Akatab"/>
                          <a:sym typeface="Akatab"/>
                        </a:rPr>
                        <a:t>Expand E-Commerce Platform</a:t>
                      </a:r>
                      <a:endParaRPr b="1" sz="800">
                        <a:latin typeface="Akatab"/>
                        <a:ea typeface="Akatab"/>
                        <a:cs typeface="Akatab"/>
                        <a:sym typeface="Akatab"/>
                      </a:endParaRPr>
                    </a:p>
                  </a:txBody>
                  <a:tcPr marT="91425" marB="91425" marR="91425" marL="91425" anchor="ctr">
                    <a:solidFill>
                      <a:srgbClr val="93C47D"/>
                    </a:solidFill>
                  </a:tcPr>
                </a:tc>
                <a:tc>
                  <a:txBody>
                    <a:bodyPr/>
                    <a:lstStyle/>
                    <a:p>
                      <a:pPr indent="0" lvl="0" marL="0" rtl="0" algn="ctr">
                        <a:spcBef>
                          <a:spcPts val="0"/>
                        </a:spcBef>
                        <a:spcAft>
                          <a:spcPts val="0"/>
                        </a:spcAft>
                        <a:buNone/>
                      </a:pPr>
                      <a:r>
                        <a:rPr lang="en" sz="800">
                          <a:latin typeface="Akatab"/>
                          <a:ea typeface="Akatab"/>
                          <a:cs typeface="Akatab"/>
                          <a:sym typeface="Akatab"/>
                        </a:rPr>
                        <a:t>Somewhat Difficult (2)</a:t>
                      </a:r>
                      <a:endParaRPr sz="800">
                        <a:latin typeface="Akatab"/>
                        <a:ea typeface="Akatab"/>
                        <a:cs typeface="Akatab"/>
                        <a:sym typeface="Akatab"/>
                      </a:endParaRPr>
                    </a:p>
                  </a:txBody>
                  <a:tcPr marT="91425" marB="91425" marR="91425" marL="91425" anchor="ctr">
                    <a:solidFill>
                      <a:srgbClr val="93C47D"/>
                    </a:solidFill>
                  </a:tcPr>
                </a:tc>
                <a:tc>
                  <a:txBody>
                    <a:bodyPr/>
                    <a:lstStyle/>
                    <a:p>
                      <a:pPr indent="0" lvl="0" marL="0" rtl="0" algn="ctr">
                        <a:spcBef>
                          <a:spcPts val="0"/>
                        </a:spcBef>
                        <a:spcAft>
                          <a:spcPts val="0"/>
                        </a:spcAft>
                        <a:buNone/>
                      </a:pPr>
                      <a:r>
                        <a:rPr lang="en" sz="800">
                          <a:latin typeface="Akatab"/>
                          <a:ea typeface="Akatab"/>
                          <a:cs typeface="Akatab"/>
                          <a:sym typeface="Akatab"/>
                        </a:rPr>
                        <a:t>Very Complex(1)</a:t>
                      </a:r>
                      <a:endParaRPr sz="800">
                        <a:latin typeface="Akatab"/>
                        <a:ea typeface="Akatab"/>
                        <a:cs typeface="Akatab"/>
                        <a:sym typeface="Akatab"/>
                      </a:endParaRPr>
                    </a:p>
                  </a:txBody>
                  <a:tcPr marT="91425" marB="91425" marR="91425" marL="91425" anchor="ctr">
                    <a:solidFill>
                      <a:srgbClr val="93C47D"/>
                    </a:solidFill>
                  </a:tcPr>
                </a:tc>
                <a:tc>
                  <a:txBody>
                    <a:bodyPr/>
                    <a:lstStyle/>
                    <a:p>
                      <a:pPr indent="0" lvl="0" marL="0" rtl="0" algn="ctr">
                        <a:spcBef>
                          <a:spcPts val="0"/>
                        </a:spcBef>
                        <a:spcAft>
                          <a:spcPts val="0"/>
                        </a:spcAft>
                        <a:buNone/>
                      </a:pPr>
                      <a:r>
                        <a:rPr lang="en" sz="800">
                          <a:latin typeface="Akatab"/>
                          <a:ea typeface="Akatab"/>
                          <a:cs typeface="Akatab"/>
                          <a:sym typeface="Akatab"/>
                        </a:rPr>
                        <a:t>Number one (3)</a:t>
                      </a:r>
                      <a:endParaRPr sz="800">
                        <a:latin typeface="Akatab"/>
                        <a:ea typeface="Akatab"/>
                        <a:cs typeface="Akatab"/>
                        <a:sym typeface="Akatab"/>
                      </a:endParaRPr>
                    </a:p>
                  </a:txBody>
                  <a:tcPr marT="91425" marB="91425" marR="91425" marL="91425" anchor="ctr">
                    <a:solidFill>
                      <a:srgbClr val="93C47D"/>
                    </a:solidFill>
                  </a:tcPr>
                </a:tc>
                <a:tc>
                  <a:txBody>
                    <a:bodyPr/>
                    <a:lstStyle/>
                    <a:p>
                      <a:pPr indent="0" lvl="0" marL="0" rtl="0" algn="ctr">
                        <a:spcBef>
                          <a:spcPts val="0"/>
                        </a:spcBef>
                        <a:spcAft>
                          <a:spcPts val="0"/>
                        </a:spcAft>
                        <a:buNone/>
                      </a:pPr>
                      <a:r>
                        <a:rPr lang="en" sz="800">
                          <a:latin typeface="Akatab"/>
                          <a:ea typeface="Akatab"/>
                          <a:cs typeface="Akatab"/>
                          <a:sym typeface="Akatab"/>
                        </a:rPr>
                        <a:t>Very high (4)</a:t>
                      </a:r>
                      <a:endParaRPr sz="800">
                        <a:latin typeface="Akatab"/>
                        <a:ea typeface="Akatab"/>
                        <a:cs typeface="Akatab"/>
                        <a:sym typeface="Akatab"/>
                      </a:endParaRPr>
                    </a:p>
                  </a:txBody>
                  <a:tcPr marT="91425" marB="91425" marR="91425" marL="91425" anchor="ctr">
                    <a:solidFill>
                      <a:srgbClr val="93C47D"/>
                    </a:solidFill>
                  </a:tcPr>
                </a:tc>
                <a:tc>
                  <a:txBody>
                    <a:bodyPr/>
                    <a:lstStyle/>
                    <a:p>
                      <a:pPr indent="0" lvl="0" marL="0" rtl="0" algn="ctr">
                        <a:spcBef>
                          <a:spcPts val="0"/>
                        </a:spcBef>
                        <a:spcAft>
                          <a:spcPts val="0"/>
                        </a:spcAft>
                        <a:buNone/>
                      </a:pPr>
                      <a:r>
                        <a:rPr lang="en" sz="800">
                          <a:latin typeface="Akatab"/>
                          <a:ea typeface="Akatab"/>
                          <a:cs typeface="Akatab"/>
                          <a:sym typeface="Akatab"/>
                        </a:rPr>
                        <a:t>Very High (4)</a:t>
                      </a:r>
                      <a:endParaRPr sz="800">
                        <a:latin typeface="Akatab"/>
                        <a:ea typeface="Akatab"/>
                        <a:cs typeface="Akatab"/>
                        <a:sym typeface="Akatab"/>
                      </a:endParaRPr>
                    </a:p>
                  </a:txBody>
                  <a:tcPr marT="91425" marB="91425" marR="91425" marL="91425" anchor="ctr">
                    <a:solidFill>
                      <a:srgbClr val="93C47D"/>
                    </a:solidFill>
                  </a:tcPr>
                </a:tc>
                <a:tc>
                  <a:txBody>
                    <a:bodyPr/>
                    <a:lstStyle/>
                    <a:p>
                      <a:pPr indent="0" lvl="0" marL="0" rtl="0" algn="ctr">
                        <a:spcBef>
                          <a:spcPts val="0"/>
                        </a:spcBef>
                        <a:spcAft>
                          <a:spcPts val="0"/>
                        </a:spcAft>
                        <a:buNone/>
                      </a:pPr>
                      <a:r>
                        <a:rPr lang="en" sz="800">
                          <a:latin typeface="Akatab"/>
                          <a:ea typeface="Akatab"/>
                          <a:cs typeface="Akatab"/>
                          <a:sym typeface="Akatab"/>
                        </a:rPr>
                        <a:t>Have them (4)</a:t>
                      </a:r>
                      <a:endParaRPr sz="800">
                        <a:latin typeface="Akatab"/>
                        <a:ea typeface="Akatab"/>
                        <a:cs typeface="Akatab"/>
                        <a:sym typeface="Akatab"/>
                      </a:endParaRPr>
                    </a:p>
                  </a:txBody>
                  <a:tcPr marT="91425" marB="91425" marR="91425" marL="91425" anchor="ctr">
                    <a:solidFill>
                      <a:srgbClr val="93C47D"/>
                    </a:solidFill>
                  </a:tcPr>
                </a:tc>
                <a:tc>
                  <a:txBody>
                    <a:bodyPr/>
                    <a:lstStyle/>
                    <a:p>
                      <a:pPr indent="0" lvl="0" marL="0" rtl="0" algn="ctr">
                        <a:spcBef>
                          <a:spcPts val="0"/>
                        </a:spcBef>
                        <a:spcAft>
                          <a:spcPts val="0"/>
                        </a:spcAft>
                        <a:buNone/>
                      </a:pPr>
                      <a:r>
                        <a:rPr lang="en" sz="800">
                          <a:latin typeface="Akatab"/>
                          <a:ea typeface="Akatab"/>
                          <a:cs typeface="Akatab"/>
                          <a:sym typeface="Akatab"/>
                        </a:rPr>
                        <a:t>18 marks / 24 makrs</a:t>
                      </a:r>
                      <a:endParaRPr sz="800">
                        <a:latin typeface="Akatab"/>
                        <a:ea typeface="Akatab"/>
                        <a:cs typeface="Akatab"/>
                        <a:sym typeface="Akatab"/>
                      </a:endParaRPr>
                    </a:p>
                  </a:txBody>
                  <a:tcPr marT="91425" marB="91425" marR="91425" marL="91425" anchor="ctr">
                    <a:solidFill>
                      <a:srgbClr val="93C47D"/>
                    </a:solidFill>
                  </a:tcPr>
                </a:tc>
              </a:tr>
              <a:tr h="624100">
                <a:tc>
                  <a:txBody>
                    <a:bodyPr/>
                    <a:lstStyle/>
                    <a:p>
                      <a:pPr indent="0" lvl="0" marL="0" rtl="0" algn="ctr">
                        <a:spcBef>
                          <a:spcPts val="0"/>
                        </a:spcBef>
                        <a:spcAft>
                          <a:spcPts val="0"/>
                        </a:spcAft>
                        <a:buNone/>
                      </a:pPr>
                      <a:r>
                        <a:rPr b="1" lang="en" sz="800">
                          <a:latin typeface="Akatab"/>
                          <a:ea typeface="Akatab"/>
                          <a:cs typeface="Akatab"/>
                          <a:sym typeface="Akatab"/>
                        </a:rPr>
                        <a:t>Implement Sustainable Packaging Programmes</a:t>
                      </a:r>
                      <a:endParaRPr b="1"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lang="en" sz="800">
                          <a:latin typeface="Akatab"/>
                          <a:ea typeface="Akatab"/>
                          <a:cs typeface="Akatab"/>
                          <a:sym typeface="Akatab"/>
                        </a:rPr>
                        <a:t>Very Difficult (1)</a:t>
                      </a:r>
                      <a:endParaRPr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lang="en" sz="800">
                          <a:latin typeface="Akatab"/>
                          <a:ea typeface="Akatab"/>
                          <a:cs typeface="Akatab"/>
                          <a:sym typeface="Akatab"/>
                        </a:rPr>
                        <a:t>Somewhat Complex (2)</a:t>
                      </a:r>
                      <a:endParaRPr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lang="en" sz="800">
                          <a:latin typeface="Akatab"/>
                          <a:ea typeface="Akatab"/>
                          <a:cs typeface="Akatab"/>
                          <a:sym typeface="Akatab"/>
                        </a:rPr>
                        <a:t>Third at best (2)</a:t>
                      </a:r>
                      <a:endParaRPr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lang="en" sz="800">
                          <a:latin typeface="Akatab"/>
                          <a:ea typeface="Akatab"/>
                          <a:cs typeface="Akatab"/>
                          <a:sym typeface="Akatab"/>
                        </a:rPr>
                        <a:t>Somewhat high (3)</a:t>
                      </a:r>
                      <a:endParaRPr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lang="en" sz="800">
                          <a:latin typeface="Akatab"/>
                          <a:ea typeface="Akatab"/>
                          <a:cs typeface="Akatab"/>
                          <a:sym typeface="Akatab"/>
                        </a:rPr>
                        <a:t>Somewhat low (2)</a:t>
                      </a:r>
                      <a:endParaRPr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lang="en" sz="800">
                          <a:latin typeface="Akatab"/>
                          <a:ea typeface="Akatab"/>
                          <a:cs typeface="Akatab"/>
                          <a:sym typeface="Akatab"/>
                        </a:rPr>
                        <a:t>Have little of what is required (2) </a:t>
                      </a:r>
                      <a:endParaRPr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lang="en" sz="800">
                          <a:latin typeface="Akatab"/>
                          <a:ea typeface="Akatab"/>
                          <a:cs typeface="Akatab"/>
                          <a:sym typeface="Akatab"/>
                        </a:rPr>
                        <a:t>12 marks / 24 marks</a:t>
                      </a:r>
                      <a:endParaRPr sz="800">
                        <a:latin typeface="Akatab"/>
                        <a:ea typeface="Akatab"/>
                        <a:cs typeface="Akatab"/>
                        <a:sym typeface="Akatab"/>
                      </a:endParaRPr>
                    </a:p>
                  </a:txBody>
                  <a:tcPr marT="91425" marB="91425" marR="91425" marL="91425" anchor="ctr"/>
                </a:tc>
              </a:tr>
              <a:tr h="624100">
                <a:tc>
                  <a:txBody>
                    <a:bodyPr/>
                    <a:lstStyle/>
                    <a:p>
                      <a:pPr indent="0" lvl="0" marL="0" rtl="0" algn="ctr">
                        <a:spcBef>
                          <a:spcPts val="0"/>
                        </a:spcBef>
                        <a:spcAft>
                          <a:spcPts val="0"/>
                        </a:spcAft>
                        <a:buNone/>
                      </a:pPr>
                      <a:r>
                        <a:rPr b="1" lang="en" sz="800">
                          <a:latin typeface="Akatab"/>
                          <a:ea typeface="Akatab"/>
                          <a:cs typeface="Akatab"/>
                          <a:sym typeface="Akatab"/>
                        </a:rPr>
                        <a:t>Increase the Snack Area’s Selection of Healthful Snacks </a:t>
                      </a:r>
                      <a:endParaRPr b="1" sz="800">
                        <a:latin typeface="Akatab"/>
                        <a:ea typeface="Akatab"/>
                        <a:cs typeface="Akatab"/>
                        <a:sym typeface="Akatab"/>
                      </a:endParaRPr>
                    </a:p>
                  </a:txBody>
                  <a:tcPr marT="91425" marB="91425" marR="91425" marL="91425" anchor="ctr">
                    <a:solidFill>
                      <a:srgbClr val="B6D7A8"/>
                    </a:solidFill>
                  </a:tcPr>
                </a:tc>
                <a:tc>
                  <a:txBody>
                    <a:bodyPr/>
                    <a:lstStyle/>
                    <a:p>
                      <a:pPr indent="0" lvl="0" marL="0" rtl="0" algn="ctr">
                        <a:spcBef>
                          <a:spcPts val="0"/>
                        </a:spcBef>
                        <a:spcAft>
                          <a:spcPts val="0"/>
                        </a:spcAft>
                        <a:buNone/>
                      </a:pPr>
                      <a:r>
                        <a:rPr lang="en" sz="800">
                          <a:latin typeface="Akatab"/>
                          <a:ea typeface="Akatab"/>
                          <a:cs typeface="Akatab"/>
                          <a:sym typeface="Akatab"/>
                        </a:rPr>
                        <a:t>Very Easy (4)</a:t>
                      </a:r>
                      <a:endParaRPr sz="800">
                        <a:latin typeface="Akatab"/>
                        <a:ea typeface="Akatab"/>
                        <a:cs typeface="Akatab"/>
                        <a:sym typeface="Akatab"/>
                      </a:endParaRPr>
                    </a:p>
                  </a:txBody>
                  <a:tcPr marT="91425" marB="91425" marR="91425" marL="91425" anchor="ctr">
                    <a:solidFill>
                      <a:srgbClr val="B6D7A8"/>
                    </a:solidFill>
                  </a:tcPr>
                </a:tc>
                <a:tc>
                  <a:txBody>
                    <a:bodyPr/>
                    <a:lstStyle/>
                    <a:p>
                      <a:pPr indent="0" lvl="0" marL="0" rtl="0" algn="ctr">
                        <a:spcBef>
                          <a:spcPts val="0"/>
                        </a:spcBef>
                        <a:spcAft>
                          <a:spcPts val="0"/>
                        </a:spcAft>
                        <a:buNone/>
                      </a:pPr>
                      <a:r>
                        <a:rPr lang="en" sz="800">
                          <a:latin typeface="Akatab"/>
                          <a:ea typeface="Akatab"/>
                          <a:cs typeface="Akatab"/>
                          <a:sym typeface="Akatab"/>
                        </a:rPr>
                        <a:t>Very Easy (4)</a:t>
                      </a:r>
                      <a:endParaRPr sz="800">
                        <a:latin typeface="Akatab"/>
                        <a:ea typeface="Akatab"/>
                        <a:cs typeface="Akatab"/>
                        <a:sym typeface="Akatab"/>
                      </a:endParaRPr>
                    </a:p>
                  </a:txBody>
                  <a:tcPr marT="91425" marB="91425" marR="91425" marL="91425" anchor="ctr">
                    <a:solidFill>
                      <a:srgbClr val="B6D7A8"/>
                    </a:solidFill>
                  </a:tcPr>
                </a:tc>
                <a:tc>
                  <a:txBody>
                    <a:bodyPr/>
                    <a:lstStyle/>
                    <a:p>
                      <a:pPr indent="0" lvl="0" marL="0" rtl="0" algn="ctr">
                        <a:spcBef>
                          <a:spcPts val="0"/>
                        </a:spcBef>
                        <a:spcAft>
                          <a:spcPts val="0"/>
                        </a:spcAft>
                        <a:buNone/>
                      </a:pPr>
                      <a:r>
                        <a:rPr lang="en" sz="800">
                          <a:latin typeface="Akatab"/>
                          <a:ea typeface="Akatab"/>
                          <a:cs typeface="Akatab"/>
                          <a:sym typeface="Akatab"/>
                        </a:rPr>
                        <a:t>Fourth at best (1)</a:t>
                      </a:r>
                      <a:endParaRPr sz="800">
                        <a:latin typeface="Akatab"/>
                        <a:ea typeface="Akatab"/>
                        <a:cs typeface="Akatab"/>
                        <a:sym typeface="Akatab"/>
                      </a:endParaRPr>
                    </a:p>
                  </a:txBody>
                  <a:tcPr marT="91425" marB="91425" marR="91425" marL="91425" anchor="ctr">
                    <a:solidFill>
                      <a:srgbClr val="B6D7A8"/>
                    </a:solidFill>
                  </a:tcPr>
                </a:tc>
                <a:tc>
                  <a:txBody>
                    <a:bodyPr/>
                    <a:lstStyle/>
                    <a:p>
                      <a:pPr indent="0" lvl="0" marL="0" rtl="0" algn="ctr">
                        <a:spcBef>
                          <a:spcPts val="0"/>
                        </a:spcBef>
                        <a:spcAft>
                          <a:spcPts val="0"/>
                        </a:spcAft>
                        <a:buNone/>
                      </a:pPr>
                      <a:r>
                        <a:rPr lang="en" sz="800">
                          <a:latin typeface="Akatab"/>
                          <a:ea typeface="Akatab"/>
                          <a:cs typeface="Akatab"/>
                          <a:sym typeface="Akatab"/>
                        </a:rPr>
                        <a:t>Very low (1)</a:t>
                      </a:r>
                      <a:endParaRPr sz="800">
                        <a:latin typeface="Akatab"/>
                        <a:ea typeface="Akatab"/>
                        <a:cs typeface="Akatab"/>
                        <a:sym typeface="Akatab"/>
                      </a:endParaRPr>
                    </a:p>
                  </a:txBody>
                  <a:tcPr marT="91425" marB="91425" marR="91425" marL="91425" anchor="ctr">
                    <a:solidFill>
                      <a:srgbClr val="B6D7A8"/>
                    </a:solidFill>
                  </a:tcPr>
                </a:tc>
                <a:tc>
                  <a:txBody>
                    <a:bodyPr/>
                    <a:lstStyle/>
                    <a:p>
                      <a:pPr indent="0" lvl="0" marL="0" rtl="0" algn="ctr">
                        <a:spcBef>
                          <a:spcPts val="0"/>
                        </a:spcBef>
                        <a:spcAft>
                          <a:spcPts val="0"/>
                        </a:spcAft>
                        <a:buNone/>
                      </a:pPr>
                      <a:r>
                        <a:rPr lang="en" sz="800">
                          <a:latin typeface="Akatab"/>
                          <a:ea typeface="Akatab"/>
                          <a:cs typeface="Akatab"/>
                          <a:sym typeface="Akatab"/>
                        </a:rPr>
                        <a:t>Somewhat high (3)</a:t>
                      </a:r>
                      <a:endParaRPr sz="800">
                        <a:latin typeface="Akatab"/>
                        <a:ea typeface="Akatab"/>
                        <a:cs typeface="Akatab"/>
                        <a:sym typeface="Akatab"/>
                      </a:endParaRPr>
                    </a:p>
                  </a:txBody>
                  <a:tcPr marT="91425" marB="91425" marR="91425" marL="91425" anchor="ctr">
                    <a:solidFill>
                      <a:srgbClr val="B6D7A8"/>
                    </a:solidFill>
                  </a:tcPr>
                </a:tc>
                <a:tc>
                  <a:txBody>
                    <a:bodyPr/>
                    <a:lstStyle/>
                    <a:p>
                      <a:pPr indent="0" lvl="0" marL="0" rtl="0" algn="ctr">
                        <a:spcBef>
                          <a:spcPts val="0"/>
                        </a:spcBef>
                        <a:spcAft>
                          <a:spcPts val="0"/>
                        </a:spcAft>
                        <a:buNone/>
                      </a:pPr>
                      <a:r>
                        <a:rPr lang="en" sz="800">
                          <a:latin typeface="Akatab"/>
                          <a:ea typeface="Akatab"/>
                          <a:cs typeface="Akatab"/>
                          <a:sym typeface="Akatab"/>
                        </a:rPr>
                        <a:t>Have them (4)</a:t>
                      </a:r>
                      <a:endParaRPr sz="800">
                        <a:latin typeface="Akatab"/>
                        <a:ea typeface="Akatab"/>
                        <a:cs typeface="Akatab"/>
                        <a:sym typeface="Akatab"/>
                      </a:endParaRPr>
                    </a:p>
                  </a:txBody>
                  <a:tcPr marT="91425" marB="91425" marR="91425" marL="91425" anchor="ctr">
                    <a:solidFill>
                      <a:srgbClr val="B6D7A8"/>
                    </a:solidFill>
                  </a:tcPr>
                </a:tc>
                <a:tc>
                  <a:txBody>
                    <a:bodyPr/>
                    <a:lstStyle/>
                    <a:p>
                      <a:pPr indent="0" lvl="0" marL="0" rtl="0" algn="ctr">
                        <a:spcBef>
                          <a:spcPts val="0"/>
                        </a:spcBef>
                        <a:spcAft>
                          <a:spcPts val="0"/>
                        </a:spcAft>
                        <a:buNone/>
                      </a:pPr>
                      <a:r>
                        <a:rPr lang="en" sz="800">
                          <a:latin typeface="Akatab"/>
                          <a:ea typeface="Akatab"/>
                          <a:cs typeface="Akatab"/>
                          <a:sym typeface="Akatab"/>
                        </a:rPr>
                        <a:t>17 marks / 24 marks</a:t>
                      </a:r>
                      <a:endParaRPr sz="800">
                        <a:latin typeface="Akatab"/>
                        <a:ea typeface="Akatab"/>
                        <a:cs typeface="Akatab"/>
                        <a:sym typeface="Akatab"/>
                      </a:endParaRPr>
                    </a:p>
                  </a:txBody>
                  <a:tcPr marT="91425" marB="91425" marR="91425" marL="91425" anchor="ctr">
                    <a:solidFill>
                      <a:srgbClr val="B6D7A8"/>
                    </a:solidFill>
                  </a:tcPr>
                </a:tc>
              </a:tr>
              <a:tr h="624100">
                <a:tc>
                  <a:txBody>
                    <a:bodyPr/>
                    <a:lstStyle/>
                    <a:p>
                      <a:pPr indent="0" lvl="0" marL="0" rtl="0" algn="ctr">
                        <a:spcBef>
                          <a:spcPts val="0"/>
                        </a:spcBef>
                        <a:spcAft>
                          <a:spcPts val="0"/>
                        </a:spcAft>
                        <a:buNone/>
                      </a:pPr>
                      <a:r>
                        <a:rPr b="1" lang="en" sz="800">
                          <a:latin typeface="Akatab"/>
                          <a:ea typeface="Akatab"/>
                          <a:cs typeface="Akatab"/>
                          <a:sym typeface="Akatab"/>
                        </a:rPr>
                        <a:t>Introduce Loyalty Points</a:t>
                      </a:r>
                      <a:endParaRPr b="1" sz="800">
                        <a:latin typeface="Akatab"/>
                        <a:ea typeface="Akatab"/>
                        <a:cs typeface="Akatab"/>
                        <a:sym typeface="Akatab"/>
                      </a:endParaRPr>
                    </a:p>
                  </a:txBody>
                  <a:tcPr marT="91425" marB="91425" marR="91425" marL="91425" anchor="ctr">
                    <a:solidFill>
                      <a:srgbClr val="D9EAD3"/>
                    </a:solidFill>
                  </a:tcPr>
                </a:tc>
                <a:tc>
                  <a:txBody>
                    <a:bodyPr/>
                    <a:lstStyle/>
                    <a:p>
                      <a:pPr indent="0" lvl="0" marL="0" rtl="0" algn="ctr">
                        <a:spcBef>
                          <a:spcPts val="0"/>
                        </a:spcBef>
                        <a:spcAft>
                          <a:spcPts val="0"/>
                        </a:spcAft>
                        <a:buNone/>
                      </a:pPr>
                      <a:r>
                        <a:rPr lang="en" sz="800">
                          <a:latin typeface="Akatab"/>
                          <a:ea typeface="Akatab"/>
                          <a:cs typeface="Akatab"/>
                          <a:sym typeface="Akatab"/>
                        </a:rPr>
                        <a:t>Somewhat Easy (3)</a:t>
                      </a:r>
                      <a:endParaRPr sz="800">
                        <a:latin typeface="Akatab"/>
                        <a:ea typeface="Akatab"/>
                        <a:cs typeface="Akatab"/>
                        <a:sym typeface="Akatab"/>
                      </a:endParaRPr>
                    </a:p>
                  </a:txBody>
                  <a:tcPr marT="91425" marB="91425" marR="91425" marL="91425" anchor="ctr">
                    <a:solidFill>
                      <a:srgbClr val="D9EAD3"/>
                    </a:solidFill>
                  </a:tcPr>
                </a:tc>
                <a:tc>
                  <a:txBody>
                    <a:bodyPr/>
                    <a:lstStyle/>
                    <a:p>
                      <a:pPr indent="0" lvl="0" marL="0" rtl="0" algn="ctr">
                        <a:spcBef>
                          <a:spcPts val="0"/>
                        </a:spcBef>
                        <a:spcAft>
                          <a:spcPts val="0"/>
                        </a:spcAft>
                        <a:buNone/>
                      </a:pPr>
                      <a:r>
                        <a:rPr lang="en" sz="800">
                          <a:latin typeface="Akatab"/>
                          <a:ea typeface="Akatab"/>
                          <a:cs typeface="Akatab"/>
                          <a:sym typeface="Akatab"/>
                        </a:rPr>
                        <a:t>Somewhat Complex (2)</a:t>
                      </a:r>
                      <a:endParaRPr sz="800">
                        <a:latin typeface="Akatab"/>
                        <a:ea typeface="Akatab"/>
                        <a:cs typeface="Akatab"/>
                        <a:sym typeface="Akatab"/>
                      </a:endParaRPr>
                    </a:p>
                  </a:txBody>
                  <a:tcPr marT="91425" marB="91425" marR="91425" marL="91425" anchor="ctr">
                    <a:solidFill>
                      <a:srgbClr val="D9EAD3"/>
                    </a:solidFill>
                  </a:tcPr>
                </a:tc>
                <a:tc>
                  <a:txBody>
                    <a:bodyPr/>
                    <a:lstStyle/>
                    <a:p>
                      <a:pPr indent="0" lvl="0" marL="0" rtl="0" algn="ctr">
                        <a:spcBef>
                          <a:spcPts val="0"/>
                        </a:spcBef>
                        <a:spcAft>
                          <a:spcPts val="0"/>
                        </a:spcAft>
                        <a:buNone/>
                      </a:pPr>
                      <a:r>
                        <a:rPr lang="en" sz="800">
                          <a:latin typeface="Akatab"/>
                          <a:ea typeface="Akatab"/>
                          <a:cs typeface="Akatab"/>
                          <a:sym typeface="Akatab"/>
                        </a:rPr>
                        <a:t>Third at best (2)</a:t>
                      </a:r>
                      <a:endParaRPr sz="800">
                        <a:latin typeface="Akatab"/>
                        <a:ea typeface="Akatab"/>
                        <a:cs typeface="Akatab"/>
                        <a:sym typeface="Akatab"/>
                      </a:endParaRPr>
                    </a:p>
                  </a:txBody>
                  <a:tcPr marT="91425" marB="91425" marR="91425" marL="91425" anchor="ctr">
                    <a:solidFill>
                      <a:srgbClr val="D9EAD3"/>
                    </a:solidFill>
                  </a:tcPr>
                </a:tc>
                <a:tc>
                  <a:txBody>
                    <a:bodyPr/>
                    <a:lstStyle/>
                    <a:p>
                      <a:pPr indent="0" lvl="0" marL="0" rtl="0" algn="ctr">
                        <a:spcBef>
                          <a:spcPts val="0"/>
                        </a:spcBef>
                        <a:spcAft>
                          <a:spcPts val="0"/>
                        </a:spcAft>
                        <a:buNone/>
                      </a:pPr>
                      <a:r>
                        <a:rPr lang="en" sz="800">
                          <a:latin typeface="Akatab"/>
                          <a:ea typeface="Akatab"/>
                          <a:cs typeface="Akatab"/>
                          <a:sym typeface="Akatab"/>
                        </a:rPr>
                        <a:t>Somewhat low (2)</a:t>
                      </a:r>
                      <a:endParaRPr sz="800">
                        <a:latin typeface="Akatab"/>
                        <a:ea typeface="Akatab"/>
                        <a:cs typeface="Akatab"/>
                        <a:sym typeface="Akatab"/>
                      </a:endParaRPr>
                    </a:p>
                  </a:txBody>
                  <a:tcPr marT="91425" marB="91425" marR="91425" marL="91425" anchor="ctr">
                    <a:solidFill>
                      <a:srgbClr val="D9EAD3"/>
                    </a:solidFill>
                  </a:tcPr>
                </a:tc>
                <a:tc>
                  <a:txBody>
                    <a:bodyPr/>
                    <a:lstStyle/>
                    <a:p>
                      <a:pPr indent="0" lvl="0" marL="0" rtl="0" algn="ctr">
                        <a:spcBef>
                          <a:spcPts val="0"/>
                        </a:spcBef>
                        <a:spcAft>
                          <a:spcPts val="0"/>
                        </a:spcAft>
                        <a:buNone/>
                      </a:pPr>
                      <a:r>
                        <a:rPr lang="en" sz="800">
                          <a:latin typeface="Akatab"/>
                          <a:ea typeface="Akatab"/>
                          <a:cs typeface="Akatab"/>
                          <a:sym typeface="Akatab"/>
                        </a:rPr>
                        <a:t>Somewhat high (3)</a:t>
                      </a:r>
                      <a:endParaRPr sz="800">
                        <a:latin typeface="Akatab"/>
                        <a:ea typeface="Akatab"/>
                        <a:cs typeface="Akatab"/>
                        <a:sym typeface="Akatab"/>
                      </a:endParaRPr>
                    </a:p>
                  </a:txBody>
                  <a:tcPr marT="91425" marB="91425" marR="91425" marL="91425" anchor="ctr">
                    <a:solidFill>
                      <a:srgbClr val="D9EAD3"/>
                    </a:solidFill>
                  </a:tcPr>
                </a:tc>
                <a:tc>
                  <a:txBody>
                    <a:bodyPr/>
                    <a:lstStyle/>
                    <a:p>
                      <a:pPr indent="0" lvl="0" marL="0" rtl="0" algn="ctr">
                        <a:spcBef>
                          <a:spcPts val="0"/>
                        </a:spcBef>
                        <a:spcAft>
                          <a:spcPts val="0"/>
                        </a:spcAft>
                        <a:buNone/>
                      </a:pPr>
                      <a:r>
                        <a:rPr lang="en" sz="800">
                          <a:latin typeface="Akatab"/>
                          <a:ea typeface="Akatab"/>
                          <a:cs typeface="Akatab"/>
                          <a:sym typeface="Akatab"/>
                        </a:rPr>
                        <a:t>Have them (4)</a:t>
                      </a:r>
                      <a:endParaRPr sz="800">
                        <a:latin typeface="Akatab"/>
                        <a:ea typeface="Akatab"/>
                        <a:cs typeface="Akatab"/>
                        <a:sym typeface="Akatab"/>
                      </a:endParaRPr>
                    </a:p>
                  </a:txBody>
                  <a:tcPr marT="91425" marB="91425" marR="91425" marL="91425" anchor="ctr">
                    <a:solidFill>
                      <a:srgbClr val="D9EAD3"/>
                    </a:solidFill>
                  </a:tcPr>
                </a:tc>
                <a:tc>
                  <a:txBody>
                    <a:bodyPr/>
                    <a:lstStyle/>
                    <a:p>
                      <a:pPr indent="0" lvl="0" marL="0" rtl="0" algn="ctr">
                        <a:spcBef>
                          <a:spcPts val="0"/>
                        </a:spcBef>
                        <a:spcAft>
                          <a:spcPts val="0"/>
                        </a:spcAft>
                        <a:buNone/>
                      </a:pPr>
                      <a:r>
                        <a:rPr lang="en" sz="800">
                          <a:latin typeface="Akatab"/>
                          <a:ea typeface="Akatab"/>
                          <a:cs typeface="Akatab"/>
                          <a:sym typeface="Akatab"/>
                        </a:rPr>
                        <a:t>16 marks / 24 marks</a:t>
                      </a:r>
                      <a:endParaRPr sz="800">
                        <a:latin typeface="Akatab"/>
                        <a:ea typeface="Akatab"/>
                        <a:cs typeface="Akatab"/>
                        <a:sym typeface="Akatab"/>
                      </a:endParaRPr>
                    </a:p>
                  </a:txBody>
                  <a:tcPr marT="91425" marB="91425" marR="91425" marL="91425" anchor="ctr">
                    <a:solidFill>
                      <a:srgbClr val="D9EAD3"/>
                    </a:solidFill>
                  </a:tcPr>
                </a:tc>
              </a:tr>
              <a:tr h="624100">
                <a:tc>
                  <a:txBody>
                    <a:bodyPr/>
                    <a:lstStyle/>
                    <a:p>
                      <a:pPr indent="0" lvl="0" marL="0" rtl="0" algn="ctr">
                        <a:spcBef>
                          <a:spcPts val="0"/>
                        </a:spcBef>
                        <a:spcAft>
                          <a:spcPts val="0"/>
                        </a:spcAft>
                        <a:buNone/>
                      </a:pPr>
                      <a:r>
                        <a:rPr b="1" lang="en" sz="800">
                          <a:latin typeface="Akatab"/>
                          <a:ea typeface="Akatab"/>
                          <a:cs typeface="Akatab"/>
                          <a:sym typeface="Akatab"/>
                        </a:rPr>
                        <a:t>Create a Dollarama Basics Line of Daily Needs</a:t>
                      </a:r>
                      <a:endParaRPr b="1"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lang="en" sz="800">
                          <a:latin typeface="Akatab"/>
                          <a:ea typeface="Akatab"/>
                          <a:cs typeface="Akatab"/>
                          <a:sym typeface="Akatab"/>
                        </a:rPr>
                        <a:t>Very Difficult (1)</a:t>
                      </a:r>
                      <a:endParaRPr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lang="en" sz="800">
                          <a:latin typeface="Akatab"/>
                          <a:ea typeface="Akatab"/>
                          <a:cs typeface="Akatab"/>
                          <a:sym typeface="Akatab"/>
                        </a:rPr>
                        <a:t>Very Easy (4)</a:t>
                      </a:r>
                      <a:endParaRPr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lang="en" sz="800">
                          <a:latin typeface="Akatab"/>
                          <a:ea typeface="Akatab"/>
                          <a:cs typeface="Akatab"/>
                          <a:sym typeface="Akatab"/>
                        </a:rPr>
                        <a:t>Second at best  (3)</a:t>
                      </a:r>
                      <a:endParaRPr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lang="en" sz="800">
                          <a:latin typeface="Akatab"/>
                          <a:ea typeface="Akatab"/>
                          <a:cs typeface="Akatab"/>
                          <a:sym typeface="Akatab"/>
                        </a:rPr>
                        <a:t>Very low (1)</a:t>
                      </a:r>
                      <a:endParaRPr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lang="en" sz="800">
                          <a:latin typeface="Akatab"/>
                          <a:ea typeface="Akatab"/>
                          <a:cs typeface="Akatab"/>
                          <a:sym typeface="Akatab"/>
                        </a:rPr>
                        <a:t>Somewhat low (2)</a:t>
                      </a:r>
                      <a:endParaRPr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lang="en" sz="800">
                          <a:latin typeface="Akatab"/>
                          <a:ea typeface="Akatab"/>
                          <a:cs typeface="Akatab"/>
                          <a:sym typeface="Akatab"/>
                        </a:rPr>
                        <a:t>Have some of what is required (3)</a:t>
                      </a:r>
                      <a:endParaRPr sz="800">
                        <a:latin typeface="Akatab"/>
                        <a:ea typeface="Akatab"/>
                        <a:cs typeface="Akatab"/>
                        <a:sym typeface="Akatab"/>
                      </a:endParaRPr>
                    </a:p>
                  </a:txBody>
                  <a:tcPr marT="91425" marB="91425" marR="91425" marL="91425" anchor="ctr"/>
                </a:tc>
                <a:tc>
                  <a:txBody>
                    <a:bodyPr/>
                    <a:lstStyle/>
                    <a:p>
                      <a:pPr indent="0" lvl="0" marL="0" rtl="0" algn="ctr">
                        <a:spcBef>
                          <a:spcPts val="0"/>
                        </a:spcBef>
                        <a:spcAft>
                          <a:spcPts val="0"/>
                        </a:spcAft>
                        <a:buNone/>
                      </a:pPr>
                      <a:r>
                        <a:rPr lang="en" sz="800">
                          <a:latin typeface="Akatab"/>
                          <a:ea typeface="Akatab"/>
                          <a:cs typeface="Akatab"/>
                          <a:sym typeface="Akatab"/>
                        </a:rPr>
                        <a:t>14 marks / 24 marks</a:t>
                      </a:r>
                      <a:endParaRPr sz="800">
                        <a:latin typeface="Akatab"/>
                        <a:ea typeface="Akatab"/>
                        <a:cs typeface="Akatab"/>
                        <a:sym typeface="Akatab"/>
                      </a:endParaRPr>
                    </a:p>
                  </a:txBody>
                  <a:tcPr marT="91425" marB="91425" marR="91425" marL="91425" anchor="ctr"/>
                </a:tc>
              </a:tr>
            </a:tbl>
          </a:graphicData>
        </a:graphic>
      </p:graphicFrame>
      <p:sp>
        <p:nvSpPr>
          <p:cNvPr id="202" name="Google Shape;202;p21"/>
          <p:cNvSpPr txBox="1"/>
          <p:nvPr/>
        </p:nvSpPr>
        <p:spPr>
          <a:xfrm>
            <a:off x="449292" y="4284727"/>
            <a:ext cx="5293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500">
                <a:solidFill>
                  <a:srgbClr val="372D06"/>
                </a:solidFill>
                <a:latin typeface="Akatab"/>
                <a:ea typeface="Akatab"/>
                <a:cs typeface="Akatab"/>
                <a:sym typeface="Akatab"/>
              </a:rPr>
              <a:t>Scoring System: </a:t>
            </a:r>
            <a:endParaRPr b="1" sz="500">
              <a:solidFill>
                <a:srgbClr val="372D06"/>
              </a:solidFill>
              <a:latin typeface="Akatab"/>
              <a:ea typeface="Akatab"/>
              <a:cs typeface="Akatab"/>
              <a:sym typeface="Akatab"/>
            </a:endParaRPr>
          </a:p>
          <a:p>
            <a:pPr indent="-260350" lvl="0" marL="457200" rtl="0" algn="l">
              <a:spcBef>
                <a:spcPts val="0"/>
              </a:spcBef>
              <a:spcAft>
                <a:spcPts val="0"/>
              </a:spcAft>
              <a:buClr>
                <a:srgbClr val="372D06"/>
              </a:buClr>
              <a:buSzPts val="500"/>
              <a:buFont typeface="Akatab"/>
              <a:buChar char="-"/>
            </a:pPr>
            <a:r>
              <a:rPr b="1" lang="en" sz="500">
                <a:solidFill>
                  <a:srgbClr val="372D06"/>
                </a:solidFill>
                <a:latin typeface="Akatab"/>
                <a:ea typeface="Akatab"/>
                <a:cs typeface="Akatab"/>
                <a:sym typeface="Akatab"/>
              </a:rPr>
              <a:t>From 1 mark to 4 marks, 1 mark performing the worst with 4 marks performing the best. </a:t>
            </a:r>
            <a:endParaRPr b="1" sz="500">
              <a:solidFill>
                <a:srgbClr val="372D06"/>
              </a:solidFill>
              <a:latin typeface="Akatab"/>
              <a:ea typeface="Akatab"/>
              <a:cs typeface="Akatab"/>
              <a:sym typeface="Akatab"/>
            </a:endParaRPr>
          </a:p>
          <a:p>
            <a:pPr indent="-260350" lvl="0" marL="457200" rtl="0" algn="l">
              <a:spcBef>
                <a:spcPts val="0"/>
              </a:spcBef>
              <a:spcAft>
                <a:spcPts val="0"/>
              </a:spcAft>
              <a:buClr>
                <a:srgbClr val="372D06"/>
              </a:buClr>
              <a:buSzPts val="500"/>
              <a:buFont typeface="Akatab"/>
              <a:buChar char="-"/>
            </a:pPr>
            <a:r>
              <a:rPr b="1" lang="en" sz="500">
                <a:solidFill>
                  <a:srgbClr val="372D06"/>
                </a:solidFill>
                <a:latin typeface="Akatab"/>
                <a:ea typeface="Akatab"/>
                <a:cs typeface="Akatab"/>
                <a:sym typeface="Akatab"/>
              </a:rPr>
              <a:t>24 marks being the highest total score, performing the best. </a:t>
            </a:r>
            <a:endParaRPr b="1" sz="500">
              <a:solidFill>
                <a:srgbClr val="372D06"/>
              </a:solidFill>
              <a:latin typeface="Akatab"/>
              <a:ea typeface="Akatab"/>
              <a:cs typeface="Akatab"/>
              <a:sym typeface="Akatab"/>
            </a:endParaRPr>
          </a:p>
          <a:p>
            <a:pPr indent="-260350" lvl="0" marL="457200" rtl="0" algn="l">
              <a:spcBef>
                <a:spcPts val="0"/>
              </a:spcBef>
              <a:spcAft>
                <a:spcPts val="0"/>
              </a:spcAft>
              <a:buClr>
                <a:srgbClr val="372D06"/>
              </a:buClr>
              <a:buSzPts val="500"/>
              <a:buFont typeface="Akatab"/>
              <a:buChar char="-"/>
            </a:pPr>
            <a:r>
              <a:rPr b="1" lang="en" sz="500">
                <a:solidFill>
                  <a:srgbClr val="372D06"/>
                </a:solidFill>
                <a:latin typeface="Akatab"/>
                <a:ea typeface="Akatab"/>
                <a:cs typeface="Akatab"/>
                <a:sym typeface="Akatab"/>
              </a:rPr>
              <a:t>6 marks being the minimum score, performing the worst. </a:t>
            </a:r>
            <a:endParaRPr b="1" sz="500">
              <a:solidFill>
                <a:srgbClr val="372D06"/>
              </a:solidFill>
              <a:latin typeface="Akatab"/>
              <a:ea typeface="Akatab"/>
              <a:cs typeface="Akatab"/>
              <a:sym typeface="Akatab"/>
            </a:endParaRPr>
          </a:p>
        </p:txBody>
      </p:sp>
      <p:sp>
        <p:nvSpPr>
          <p:cNvPr id="203" name="Google Shape;203;p21"/>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8</a:t>
            </a:r>
            <a:endParaRPr sz="1200">
              <a:solidFill>
                <a:schemeClr val="dk1"/>
              </a:solidFill>
              <a:latin typeface="Noto Serif Ethiopic"/>
              <a:ea typeface="Noto Serif Ethiopic"/>
              <a:cs typeface="Noto Serif Ethiopic"/>
              <a:sym typeface="Noto Serif Ethiopic"/>
            </a:endParaRPr>
          </a:p>
        </p:txBody>
      </p:sp>
      <p:sp>
        <p:nvSpPr>
          <p:cNvPr id="204" name="Google Shape;204;p21"/>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22"/>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210" name="Google Shape;210;p22"/>
          <p:cNvSpPr txBox="1"/>
          <p:nvPr>
            <p:ph type="title"/>
          </p:nvPr>
        </p:nvSpPr>
        <p:spPr>
          <a:xfrm>
            <a:off x="72030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05 Internal Cull</a:t>
            </a:r>
            <a:endParaRPr sz="1800"/>
          </a:p>
        </p:txBody>
      </p:sp>
      <p:sp>
        <p:nvSpPr>
          <p:cNvPr id="211" name="Google Shape;211;p22"/>
          <p:cNvSpPr txBox="1"/>
          <p:nvPr/>
        </p:nvSpPr>
        <p:spPr>
          <a:xfrm>
            <a:off x="449400" y="591325"/>
            <a:ext cx="8245200" cy="418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chemeClr val="dk1"/>
                </a:solidFill>
                <a:latin typeface="Akatab"/>
                <a:ea typeface="Akatab"/>
                <a:cs typeface="Akatab"/>
                <a:sym typeface="Akatab"/>
              </a:rPr>
              <a:t>Objective:</a:t>
            </a:r>
            <a:r>
              <a:rPr lang="en">
                <a:solidFill>
                  <a:schemeClr val="dk1"/>
                </a:solidFill>
                <a:latin typeface="Akatab"/>
                <a:ea typeface="Akatab"/>
                <a:cs typeface="Akatab"/>
                <a:sym typeface="Akatab"/>
              </a:rPr>
              <a:t> Prioritize three new product concepts for Dollarama based on strategic alignment, market potential, etc.</a:t>
            </a:r>
            <a:endParaRPr>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b="1" lang="en">
                <a:solidFill>
                  <a:schemeClr val="dk1"/>
                </a:solidFill>
                <a:latin typeface="Akatab"/>
                <a:ea typeface="Akatab"/>
                <a:cs typeface="Akatab"/>
                <a:sym typeface="Akatab"/>
              </a:rPr>
              <a:t>Background: </a:t>
            </a:r>
            <a:r>
              <a:rPr lang="en">
                <a:solidFill>
                  <a:schemeClr val="dk1"/>
                </a:solidFill>
                <a:latin typeface="Akatab"/>
                <a:ea typeface="Akatab"/>
                <a:cs typeface="Akatab"/>
                <a:sym typeface="Akatab"/>
              </a:rPr>
              <a:t>Dollarama, a leader in Canadian retail, has grown through strategic initiatives, including a multi-price point strategy, expansions, and innovation. The company targets a diverse demographic with a broad product range, emphasizing value and convenience.</a:t>
            </a:r>
            <a:endParaRPr>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t/>
            </a:r>
            <a:endParaRPr b="1">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b="1" lang="en">
                <a:solidFill>
                  <a:schemeClr val="dk1"/>
                </a:solidFill>
                <a:latin typeface="Akatab"/>
                <a:ea typeface="Akatab"/>
                <a:cs typeface="Akatab"/>
                <a:sym typeface="Akatab"/>
              </a:rPr>
              <a:t>Top 3 Product Concepts:</a:t>
            </a:r>
            <a:endParaRPr b="1">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t/>
            </a:r>
            <a:endParaRPr>
              <a:solidFill>
                <a:schemeClr val="dk1"/>
              </a:solidFill>
              <a:latin typeface="Akatab"/>
              <a:ea typeface="Akatab"/>
              <a:cs typeface="Akatab"/>
              <a:sym typeface="Akatab"/>
            </a:endParaRPr>
          </a:p>
          <a:p>
            <a:pPr indent="-317500" lvl="0" marL="457200" rtl="0" algn="l">
              <a:lnSpc>
                <a:spcPct val="115000"/>
              </a:lnSpc>
              <a:spcBef>
                <a:spcPts val="0"/>
              </a:spcBef>
              <a:spcAft>
                <a:spcPts val="0"/>
              </a:spcAft>
              <a:buClr>
                <a:schemeClr val="dk1"/>
              </a:buClr>
              <a:buSzPts val="1400"/>
              <a:buFont typeface="Akatab"/>
              <a:buChar char="●"/>
            </a:pPr>
            <a:r>
              <a:rPr b="1" lang="en">
                <a:solidFill>
                  <a:schemeClr val="dk1"/>
                </a:solidFill>
                <a:latin typeface="Akatab"/>
                <a:ea typeface="Akatab"/>
                <a:cs typeface="Akatab"/>
                <a:sym typeface="Akatab"/>
              </a:rPr>
              <a:t>Expand E-Commerce Platform: </a:t>
            </a:r>
            <a:r>
              <a:rPr lang="en">
                <a:solidFill>
                  <a:schemeClr val="dk1"/>
                </a:solidFill>
                <a:latin typeface="Akatab"/>
                <a:ea typeface="Akatab"/>
                <a:cs typeface="Akatab"/>
                <a:sym typeface="Akatab"/>
              </a:rPr>
              <a:t>With the highest score of 18/24, expanding the digital marketplace aligns with Dollarama's innovation strategy, promising significant market share gains and customer satisfaction.</a:t>
            </a:r>
            <a:endParaRPr>
              <a:solidFill>
                <a:schemeClr val="dk1"/>
              </a:solidFill>
              <a:latin typeface="Akatab"/>
              <a:ea typeface="Akatab"/>
              <a:cs typeface="Akatab"/>
              <a:sym typeface="Akatab"/>
            </a:endParaRPr>
          </a:p>
          <a:p>
            <a:pPr indent="-317500" lvl="0" marL="457200" rtl="0" algn="l">
              <a:lnSpc>
                <a:spcPct val="115000"/>
              </a:lnSpc>
              <a:spcBef>
                <a:spcPts val="0"/>
              </a:spcBef>
              <a:spcAft>
                <a:spcPts val="0"/>
              </a:spcAft>
              <a:buClr>
                <a:schemeClr val="dk1"/>
              </a:buClr>
              <a:buSzPts val="1400"/>
              <a:buFont typeface="Akatab"/>
              <a:buChar char="●"/>
            </a:pPr>
            <a:r>
              <a:rPr b="1" lang="en">
                <a:solidFill>
                  <a:schemeClr val="dk1"/>
                </a:solidFill>
                <a:latin typeface="Akatab"/>
                <a:ea typeface="Akatab"/>
                <a:cs typeface="Akatab"/>
                <a:sym typeface="Akatab"/>
              </a:rPr>
              <a:t>Increase Healthful Snacks: </a:t>
            </a:r>
            <a:r>
              <a:rPr lang="en">
                <a:solidFill>
                  <a:schemeClr val="dk1"/>
                </a:solidFill>
                <a:latin typeface="Akatab"/>
                <a:ea typeface="Akatab"/>
                <a:cs typeface="Akatab"/>
                <a:sym typeface="Akatab"/>
              </a:rPr>
              <a:t>Scoring 17/24, this concept meets growing health trends and has a high potential for differentiation and customer appeal.</a:t>
            </a:r>
            <a:endParaRPr>
              <a:solidFill>
                <a:schemeClr val="dk1"/>
              </a:solidFill>
              <a:latin typeface="Akatab"/>
              <a:ea typeface="Akatab"/>
              <a:cs typeface="Akatab"/>
              <a:sym typeface="Akatab"/>
            </a:endParaRPr>
          </a:p>
          <a:p>
            <a:pPr indent="-317500" lvl="0" marL="457200" rtl="0" algn="l">
              <a:lnSpc>
                <a:spcPct val="115000"/>
              </a:lnSpc>
              <a:spcBef>
                <a:spcPts val="0"/>
              </a:spcBef>
              <a:spcAft>
                <a:spcPts val="0"/>
              </a:spcAft>
              <a:buClr>
                <a:schemeClr val="dk1"/>
              </a:buClr>
              <a:buSzPts val="1400"/>
              <a:buFont typeface="Akatab"/>
              <a:buChar char="●"/>
            </a:pPr>
            <a:r>
              <a:rPr b="1" lang="en">
                <a:solidFill>
                  <a:schemeClr val="dk1"/>
                </a:solidFill>
                <a:latin typeface="Akatab"/>
                <a:ea typeface="Akatab"/>
                <a:cs typeface="Akatab"/>
                <a:sym typeface="Akatab"/>
              </a:rPr>
              <a:t>Introduce Loyalty Points:</a:t>
            </a:r>
            <a:r>
              <a:rPr lang="en">
                <a:solidFill>
                  <a:schemeClr val="dk1"/>
                </a:solidFill>
                <a:latin typeface="Akatab"/>
                <a:ea typeface="Akatab"/>
                <a:cs typeface="Akatab"/>
                <a:sym typeface="Akatab"/>
              </a:rPr>
              <a:t> Scored 16/24, offering a simple way to boost customer engagement and repeat purchases, aligning with Dollarama’s value proposition.</a:t>
            </a:r>
            <a:endParaRPr sz="1800">
              <a:latin typeface="Akatab"/>
              <a:ea typeface="Akatab"/>
              <a:cs typeface="Akatab"/>
              <a:sym typeface="Akatab"/>
            </a:endParaRPr>
          </a:p>
          <a:p>
            <a:pPr indent="0" lvl="0" marL="0" rtl="0" algn="l">
              <a:lnSpc>
                <a:spcPct val="115000"/>
              </a:lnSpc>
              <a:spcBef>
                <a:spcPts val="0"/>
              </a:spcBef>
              <a:spcAft>
                <a:spcPts val="0"/>
              </a:spcAft>
              <a:buNone/>
            </a:pPr>
            <a:r>
              <a:t/>
            </a:r>
            <a:endParaRPr>
              <a:latin typeface="Akatab"/>
              <a:ea typeface="Akatab"/>
              <a:cs typeface="Akatab"/>
              <a:sym typeface="Akatab"/>
            </a:endParaRPr>
          </a:p>
        </p:txBody>
      </p:sp>
      <p:sp>
        <p:nvSpPr>
          <p:cNvPr id="212" name="Google Shape;212;p22"/>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9</a:t>
            </a:r>
            <a:endParaRPr sz="1200">
              <a:solidFill>
                <a:schemeClr val="dk1"/>
              </a:solidFill>
              <a:latin typeface="Noto Serif Ethiopic"/>
              <a:ea typeface="Noto Serif Ethiopic"/>
              <a:cs typeface="Noto Serif Ethiopic"/>
              <a:sym typeface="Noto Serif Ethiopic"/>
            </a:endParaRPr>
          </a:p>
        </p:txBody>
      </p:sp>
      <p:sp>
        <p:nvSpPr>
          <p:cNvPr id="213" name="Google Shape;213;p22"/>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id="218" name="Google Shape;218;p23"/>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219" name="Google Shape;219;p23"/>
          <p:cNvSpPr txBox="1"/>
          <p:nvPr>
            <p:ph type="title"/>
          </p:nvPr>
        </p:nvSpPr>
        <p:spPr>
          <a:xfrm>
            <a:off x="72030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06 Competitors &amp; Positioning Map</a:t>
            </a:r>
            <a:endParaRPr sz="1800"/>
          </a:p>
        </p:txBody>
      </p:sp>
      <p:sp>
        <p:nvSpPr>
          <p:cNvPr id="220" name="Google Shape;220;p23"/>
          <p:cNvSpPr txBox="1"/>
          <p:nvPr/>
        </p:nvSpPr>
        <p:spPr>
          <a:xfrm>
            <a:off x="665550" y="1093650"/>
            <a:ext cx="3460800" cy="334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solidFill>
                  <a:schemeClr val="dk1"/>
                </a:solidFill>
                <a:latin typeface="Akatab"/>
                <a:ea typeface="Akatab"/>
                <a:cs typeface="Akatab"/>
                <a:sym typeface="Akatab"/>
              </a:rPr>
              <a:t>1. Dollar Tree</a:t>
            </a:r>
            <a:endParaRPr b="1" sz="1500">
              <a:solidFill>
                <a:schemeClr val="dk1"/>
              </a:solidFill>
              <a:latin typeface="Akatab"/>
              <a:ea typeface="Akatab"/>
              <a:cs typeface="Akatab"/>
              <a:sym typeface="Akatab"/>
            </a:endParaRPr>
          </a:p>
          <a:p>
            <a:pPr indent="-298450" lvl="0" marL="457200" rtl="0" algn="l">
              <a:lnSpc>
                <a:spcPct val="115000"/>
              </a:lnSpc>
              <a:spcBef>
                <a:spcPts val="0"/>
              </a:spcBef>
              <a:spcAft>
                <a:spcPts val="0"/>
              </a:spcAft>
              <a:buClr>
                <a:schemeClr val="dk1"/>
              </a:buClr>
              <a:buSzPts val="1100"/>
              <a:buFont typeface="Akatab"/>
              <a:buChar char="●"/>
            </a:pPr>
            <a:r>
              <a:rPr lang="en" sz="1100">
                <a:solidFill>
                  <a:schemeClr val="dk1"/>
                </a:solidFill>
                <a:latin typeface="Akatab"/>
                <a:ea typeface="Akatab"/>
                <a:cs typeface="Akatab"/>
                <a:sym typeface="Akatab"/>
              </a:rPr>
              <a:t>In contrast to Dollarama, Dollar Tree Canada uses a set price strategy, offering goods at reasonable prices that appeal to customers on a tight budget. </a:t>
            </a:r>
            <a:br>
              <a:rPr lang="en" sz="1100">
                <a:solidFill>
                  <a:schemeClr val="dk1"/>
                </a:solidFill>
                <a:latin typeface="Akatab"/>
                <a:ea typeface="Akatab"/>
                <a:cs typeface="Akatab"/>
                <a:sym typeface="Akatab"/>
              </a:rPr>
            </a:br>
            <a:endParaRPr sz="1100">
              <a:solidFill>
                <a:schemeClr val="dk1"/>
              </a:solidFill>
              <a:latin typeface="Akatab"/>
              <a:ea typeface="Akatab"/>
              <a:cs typeface="Akatab"/>
              <a:sym typeface="Akatab"/>
            </a:endParaRPr>
          </a:p>
          <a:p>
            <a:pPr indent="-298450" lvl="0" marL="457200" rtl="0" algn="l">
              <a:lnSpc>
                <a:spcPct val="115000"/>
              </a:lnSpc>
              <a:spcBef>
                <a:spcPts val="0"/>
              </a:spcBef>
              <a:spcAft>
                <a:spcPts val="0"/>
              </a:spcAft>
              <a:buClr>
                <a:schemeClr val="dk1"/>
              </a:buClr>
              <a:buSzPts val="1100"/>
              <a:buFont typeface="Akatab"/>
              <a:buChar char="●"/>
            </a:pPr>
            <a:r>
              <a:rPr lang="en" sz="1100">
                <a:solidFill>
                  <a:schemeClr val="dk1"/>
                </a:solidFill>
                <a:latin typeface="Akatab"/>
                <a:ea typeface="Akatab"/>
                <a:cs typeface="Akatab"/>
                <a:sym typeface="Akatab"/>
              </a:rPr>
              <a:t>Dollar Tree Canada may not have the same level of accessibility to consumers as Dollarama, which has a competitive advantage in this area.</a:t>
            </a:r>
            <a:endParaRPr sz="11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t/>
            </a:r>
            <a:endParaRPr sz="1100">
              <a:solidFill>
                <a:schemeClr val="dk1"/>
              </a:solidFill>
              <a:latin typeface="Akatab"/>
              <a:ea typeface="Akatab"/>
              <a:cs typeface="Akatab"/>
              <a:sym typeface="Akatab"/>
            </a:endParaRPr>
          </a:p>
          <a:p>
            <a:pPr indent="-298450" lvl="0" marL="457200" rtl="0" algn="l">
              <a:lnSpc>
                <a:spcPct val="115000"/>
              </a:lnSpc>
              <a:spcBef>
                <a:spcPts val="0"/>
              </a:spcBef>
              <a:spcAft>
                <a:spcPts val="0"/>
              </a:spcAft>
              <a:buClr>
                <a:schemeClr val="dk1"/>
              </a:buClr>
              <a:buSzPts val="1100"/>
              <a:buFont typeface="Akatab"/>
              <a:buChar char="●"/>
            </a:pPr>
            <a:r>
              <a:rPr lang="en" sz="1100">
                <a:solidFill>
                  <a:schemeClr val="dk1"/>
                </a:solidFill>
                <a:latin typeface="Akatab"/>
                <a:ea typeface="Akatab"/>
                <a:cs typeface="Akatab"/>
                <a:sym typeface="Akatab"/>
              </a:rPr>
              <a:t>Although Dollar Tree Canada does provide some online shopping, its major emphasis is still on physical locations and in-store experiences.</a:t>
            </a:r>
            <a:endParaRPr sz="11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100">
                <a:solidFill>
                  <a:schemeClr val="dk1"/>
                </a:solidFill>
                <a:latin typeface="Akatab"/>
                <a:ea typeface="Akatab"/>
                <a:cs typeface="Akatab"/>
                <a:sym typeface="Akatab"/>
              </a:rPr>
              <a:t> </a:t>
            </a:r>
            <a:endParaRPr>
              <a:solidFill>
                <a:schemeClr val="dk1"/>
              </a:solidFill>
              <a:latin typeface="Akatab"/>
              <a:ea typeface="Akatab"/>
              <a:cs typeface="Akatab"/>
              <a:sym typeface="Akatab"/>
            </a:endParaRPr>
          </a:p>
        </p:txBody>
      </p:sp>
      <p:sp>
        <p:nvSpPr>
          <p:cNvPr id="221" name="Google Shape;221;p23"/>
          <p:cNvSpPr txBox="1"/>
          <p:nvPr/>
        </p:nvSpPr>
        <p:spPr>
          <a:xfrm>
            <a:off x="4944125" y="1093650"/>
            <a:ext cx="3393900" cy="334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solidFill>
                  <a:schemeClr val="dk1"/>
                </a:solidFill>
                <a:latin typeface="Akatab"/>
                <a:ea typeface="Akatab"/>
                <a:cs typeface="Akatab"/>
                <a:sym typeface="Akatab"/>
              </a:rPr>
              <a:t>2. Walmart</a:t>
            </a:r>
            <a:endParaRPr b="1" sz="1500">
              <a:solidFill>
                <a:schemeClr val="dk1"/>
              </a:solidFill>
              <a:latin typeface="Akatab"/>
              <a:ea typeface="Akatab"/>
              <a:cs typeface="Akatab"/>
              <a:sym typeface="Akatab"/>
            </a:endParaRPr>
          </a:p>
          <a:p>
            <a:pPr indent="-298450" lvl="0" marL="457200" rtl="0" algn="l">
              <a:lnSpc>
                <a:spcPct val="115000"/>
              </a:lnSpc>
              <a:spcBef>
                <a:spcPts val="0"/>
              </a:spcBef>
              <a:spcAft>
                <a:spcPts val="0"/>
              </a:spcAft>
              <a:buClr>
                <a:schemeClr val="dk1"/>
              </a:buClr>
              <a:buSzPts val="1100"/>
              <a:buFont typeface="Akatab"/>
              <a:buChar char="●"/>
            </a:pPr>
            <a:r>
              <a:rPr lang="en" sz="1100">
                <a:solidFill>
                  <a:schemeClr val="dk1"/>
                </a:solidFill>
                <a:latin typeface="Akatab"/>
                <a:ea typeface="Akatab"/>
                <a:cs typeface="Akatab"/>
                <a:sym typeface="Akatab"/>
              </a:rPr>
              <a:t>Walmart Canada's Supercentres and Discount Stores provide a wide selection of goods at affordable costs.</a:t>
            </a:r>
            <a:endParaRPr sz="1100">
              <a:solidFill>
                <a:schemeClr val="dk1"/>
              </a:solidFill>
              <a:latin typeface="Akatab"/>
              <a:ea typeface="Akatab"/>
              <a:cs typeface="Akatab"/>
              <a:sym typeface="Akatab"/>
            </a:endParaRPr>
          </a:p>
          <a:p>
            <a:pPr indent="0" lvl="0" marL="457200" rtl="0" algn="l">
              <a:lnSpc>
                <a:spcPct val="115000"/>
              </a:lnSpc>
              <a:spcBef>
                <a:spcPts val="0"/>
              </a:spcBef>
              <a:spcAft>
                <a:spcPts val="0"/>
              </a:spcAft>
              <a:buNone/>
            </a:pPr>
            <a:r>
              <a:t/>
            </a:r>
            <a:endParaRPr sz="1100">
              <a:solidFill>
                <a:schemeClr val="dk1"/>
              </a:solidFill>
              <a:latin typeface="Akatab"/>
              <a:ea typeface="Akatab"/>
              <a:cs typeface="Akatab"/>
              <a:sym typeface="Akatab"/>
            </a:endParaRPr>
          </a:p>
          <a:p>
            <a:pPr indent="-298450" lvl="0" marL="457200" rtl="0" algn="l">
              <a:lnSpc>
                <a:spcPct val="115000"/>
              </a:lnSpc>
              <a:spcBef>
                <a:spcPts val="0"/>
              </a:spcBef>
              <a:spcAft>
                <a:spcPts val="0"/>
              </a:spcAft>
              <a:buClr>
                <a:schemeClr val="dk1"/>
              </a:buClr>
              <a:buSzPts val="1100"/>
              <a:buFont typeface="Akatab"/>
              <a:buChar char="●"/>
            </a:pPr>
            <a:r>
              <a:rPr lang="en" sz="1100">
                <a:solidFill>
                  <a:schemeClr val="dk1"/>
                </a:solidFill>
                <a:latin typeface="Akatab"/>
                <a:ea typeface="Akatab"/>
                <a:cs typeface="Akatab"/>
                <a:sym typeface="Akatab"/>
              </a:rPr>
              <a:t>Dollarama distinguishes itself from Walmart Canada with its emphasis on convenient and reasonably priced products, as well as its niche product line. </a:t>
            </a:r>
            <a:endParaRPr sz="11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t/>
            </a:r>
            <a:endParaRPr sz="1100">
              <a:solidFill>
                <a:schemeClr val="dk1"/>
              </a:solidFill>
              <a:latin typeface="Akatab"/>
              <a:ea typeface="Akatab"/>
              <a:cs typeface="Akatab"/>
              <a:sym typeface="Akatab"/>
            </a:endParaRPr>
          </a:p>
          <a:p>
            <a:pPr indent="-298450" lvl="0" marL="457200" rtl="0" algn="l">
              <a:lnSpc>
                <a:spcPct val="115000"/>
              </a:lnSpc>
              <a:spcBef>
                <a:spcPts val="0"/>
              </a:spcBef>
              <a:spcAft>
                <a:spcPts val="0"/>
              </a:spcAft>
              <a:buClr>
                <a:schemeClr val="dk1"/>
              </a:buClr>
              <a:buSzPts val="1100"/>
              <a:buFont typeface="Akatab"/>
              <a:buChar char="●"/>
            </a:pPr>
            <a:r>
              <a:rPr lang="en" sz="1100">
                <a:solidFill>
                  <a:schemeClr val="dk1"/>
                </a:solidFill>
                <a:latin typeface="Akatab"/>
                <a:ea typeface="Akatab"/>
                <a:cs typeface="Akatab"/>
                <a:sym typeface="Akatab"/>
              </a:rPr>
              <a:t>Walmart's vast e-commerce network, which offers home delivery, in-store pickup, and online ordering, gives customers a convenient and adaptable shopping experience.</a:t>
            </a:r>
            <a:endParaRPr sz="11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100">
                <a:solidFill>
                  <a:schemeClr val="dk1"/>
                </a:solidFill>
                <a:latin typeface="Akatab"/>
                <a:ea typeface="Akatab"/>
                <a:cs typeface="Akatab"/>
                <a:sym typeface="Akatab"/>
              </a:rPr>
              <a:t> </a:t>
            </a:r>
            <a:endParaRPr>
              <a:solidFill>
                <a:schemeClr val="dk1"/>
              </a:solidFill>
              <a:latin typeface="Akatab"/>
              <a:ea typeface="Akatab"/>
              <a:cs typeface="Akatab"/>
              <a:sym typeface="Akatab"/>
            </a:endParaRPr>
          </a:p>
        </p:txBody>
      </p:sp>
      <p:sp>
        <p:nvSpPr>
          <p:cNvPr id="222" name="Google Shape;222;p23"/>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10</a:t>
            </a:r>
            <a:endParaRPr sz="1200">
              <a:solidFill>
                <a:schemeClr val="dk1"/>
              </a:solidFill>
              <a:latin typeface="Noto Serif Ethiopic"/>
              <a:ea typeface="Noto Serif Ethiopic"/>
              <a:cs typeface="Noto Serif Ethiopic"/>
              <a:sym typeface="Noto Serif Ethiopic"/>
            </a:endParaRPr>
          </a:p>
        </p:txBody>
      </p:sp>
      <p:sp>
        <p:nvSpPr>
          <p:cNvPr id="223" name="Google Shape;223;p23"/>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24"/>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229" name="Google Shape;229;p24"/>
          <p:cNvSpPr txBox="1"/>
          <p:nvPr>
            <p:ph type="title"/>
          </p:nvPr>
        </p:nvSpPr>
        <p:spPr>
          <a:xfrm>
            <a:off x="72030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06 Competitors &amp; Positioning Map</a:t>
            </a:r>
            <a:endParaRPr sz="1800"/>
          </a:p>
        </p:txBody>
      </p:sp>
      <p:sp>
        <p:nvSpPr>
          <p:cNvPr id="230" name="Google Shape;230;p24"/>
          <p:cNvSpPr txBox="1"/>
          <p:nvPr/>
        </p:nvSpPr>
        <p:spPr>
          <a:xfrm>
            <a:off x="627500" y="884475"/>
            <a:ext cx="3833700" cy="276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solidFill>
                  <a:schemeClr val="dk1"/>
                </a:solidFill>
                <a:latin typeface="Akatab"/>
                <a:ea typeface="Akatab"/>
                <a:cs typeface="Akatab"/>
                <a:sym typeface="Akatab"/>
              </a:rPr>
              <a:t>3. Giant Tiger</a:t>
            </a:r>
            <a:endParaRPr b="1" sz="1500">
              <a:solidFill>
                <a:schemeClr val="dk1"/>
              </a:solidFill>
              <a:latin typeface="Akatab"/>
              <a:ea typeface="Akatab"/>
              <a:cs typeface="Akatab"/>
              <a:sym typeface="Akatab"/>
            </a:endParaRPr>
          </a:p>
          <a:p>
            <a:pPr indent="-298450" lvl="0" marL="457200" rtl="0" algn="l">
              <a:lnSpc>
                <a:spcPct val="115000"/>
              </a:lnSpc>
              <a:spcBef>
                <a:spcPts val="0"/>
              </a:spcBef>
              <a:spcAft>
                <a:spcPts val="0"/>
              </a:spcAft>
              <a:buClr>
                <a:schemeClr val="dk1"/>
              </a:buClr>
              <a:buSzPts val="1100"/>
              <a:buFont typeface="Akatab"/>
              <a:buChar char="●"/>
            </a:pPr>
            <a:r>
              <a:rPr lang="en" sz="1100">
                <a:solidFill>
                  <a:schemeClr val="dk1"/>
                </a:solidFill>
                <a:latin typeface="Akatab"/>
                <a:ea typeface="Akatab"/>
                <a:cs typeface="Akatab"/>
                <a:sym typeface="Akatab"/>
              </a:rPr>
              <a:t>Giant Tiger and Dollarama are competitors in the market for providing consumers with low-cost goods. </a:t>
            </a:r>
            <a:endParaRPr sz="1100">
              <a:solidFill>
                <a:schemeClr val="dk1"/>
              </a:solidFill>
              <a:latin typeface="Akatab"/>
              <a:ea typeface="Akatab"/>
              <a:cs typeface="Akatab"/>
              <a:sym typeface="Akatab"/>
            </a:endParaRPr>
          </a:p>
          <a:p>
            <a:pPr indent="0" lvl="0" marL="457200" rtl="0" algn="l">
              <a:lnSpc>
                <a:spcPct val="115000"/>
              </a:lnSpc>
              <a:spcBef>
                <a:spcPts val="0"/>
              </a:spcBef>
              <a:spcAft>
                <a:spcPts val="0"/>
              </a:spcAft>
              <a:buNone/>
            </a:pPr>
            <a:r>
              <a:t/>
            </a:r>
            <a:endParaRPr sz="1100">
              <a:solidFill>
                <a:schemeClr val="dk1"/>
              </a:solidFill>
              <a:latin typeface="Akatab"/>
              <a:ea typeface="Akatab"/>
              <a:cs typeface="Akatab"/>
              <a:sym typeface="Akatab"/>
            </a:endParaRPr>
          </a:p>
          <a:p>
            <a:pPr indent="-298450" lvl="0" marL="457200" rtl="0" algn="l">
              <a:lnSpc>
                <a:spcPct val="115000"/>
              </a:lnSpc>
              <a:spcBef>
                <a:spcPts val="0"/>
              </a:spcBef>
              <a:spcAft>
                <a:spcPts val="0"/>
              </a:spcAft>
              <a:buClr>
                <a:schemeClr val="dk1"/>
              </a:buClr>
              <a:buSzPts val="1100"/>
              <a:buFont typeface="Akatab"/>
              <a:buChar char="●"/>
            </a:pPr>
            <a:r>
              <a:rPr lang="en" sz="1100">
                <a:solidFill>
                  <a:schemeClr val="dk1"/>
                </a:solidFill>
                <a:latin typeface="Akatab"/>
                <a:ea typeface="Akatab"/>
                <a:cs typeface="Akatab"/>
                <a:sym typeface="Akatab"/>
              </a:rPr>
              <a:t>With its wide selection of products and low pricing, Giant Tiger is a serious rival of Dollarama in the Canadian discount retail industry.</a:t>
            </a:r>
            <a:endParaRPr sz="11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t/>
            </a:r>
            <a:endParaRPr sz="1100">
              <a:solidFill>
                <a:schemeClr val="dk1"/>
              </a:solidFill>
              <a:latin typeface="Akatab"/>
              <a:ea typeface="Akatab"/>
              <a:cs typeface="Akatab"/>
              <a:sym typeface="Akatab"/>
            </a:endParaRPr>
          </a:p>
          <a:p>
            <a:pPr indent="-298450" lvl="0" marL="457200" rtl="0" algn="l">
              <a:lnSpc>
                <a:spcPct val="115000"/>
              </a:lnSpc>
              <a:spcBef>
                <a:spcPts val="0"/>
              </a:spcBef>
              <a:spcAft>
                <a:spcPts val="0"/>
              </a:spcAft>
              <a:buClr>
                <a:schemeClr val="dk1"/>
              </a:buClr>
              <a:buSzPts val="1100"/>
              <a:buFont typeface="Akatab"/>
              <a:buChar char="●"/>
            </a:pPr>
            <a:r>
              <a:rPr lang="en" sz="1100">
                <a:solidFill>
                  <a:schemeClr val="dk1"/>
                </a:solidFill>
                <a:latin typeface="Akatab"/>
                <a:ea typeface="Akatab"/>
                <a:cs typeface="Akatab"/>
                <a:sym typeface="Akatab"/>
              </a:rPr>
              <a:t>In contrast to Dollarama, Giant Tiger predominantly does business through physical stores and has a minimal online presence.</a:t>
            </a:r>
            <a:endParaRPr sz="11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100">
                <a:solidFill>
                  <a:schemeClr val="dk1"/>
                </a:solidFill>
                <a:latin typeface="Akatab"/>
                <a:ea typeface="Akatab"/>
                <a:cs typeface="Akatab"/>
                <a:sym typeface="Akatab"/>
              </a:rPr>
              <a:t> </a:t>
            </a:r>
            <a:endParaRPr>
              <a:solidFill>
                <a:schemeClr val="dk1"/>
              </a:solidFill>
              <a:latin typeface="Akatab"/>
              <a:ea typeface="Akatab"/>
              <a:cs typeface="Akatab"/>
              <a:sym typeface="Akatab"/>
            </a:endParaRPr>
          </a:p>
        </p:txBody>
      </p:sp>
      <p:sp>
        <p:nvSpPr>
          <p:cNvPr id="231" name="Google Shape;231;p24"/>
          <p:cNvSpPr txBox="1"/>
          <p:nvPr/>
        </p:nvSpPr>
        <p:spPr>
          <a:xfrm>
            <a:off x="4708350" y="884475"/>
            <a:ext cx="3719100" cy="237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solidFill>
                  <a:schemeClr val="dk1"/>
                </a:solidFill>
                <a:latin typeface="Akatab"/>
                <a:ea typeface="Akatab"/>
                <a:cs typeface="Akatab"/>
                <a:sym typeface="Akatab"/>
              </a:rPr>
              <a:t>4. Loblaws</a:t>
            </a:r>
            <a:endParaRPr b="1" sz="1500">
              <a:solidFill>
                <a:schemeClr val="dk1"/>
              </a:solidFill>
              <a:latin typeface="Akatab"/>
              <a:ea typeface="Akatab"/>
              <a:cs typeface="Akatab"/>
              <a:sym typeface="Akatab"/>
            </a:endParaRPr>
          </a:p>
          <a:p>
            <a:pPr indent="-298450" lvl="0" marL="457200" rtl="0" algn="l">
              <a:lnSpc>
                <a:spcPct val="115000"/>
              </a:lnSpc>
              <a:spcBef>
                <a:spcPts val="0"/>
              </a:spcBef>
              <a:spcAft>
                <a:spcPts val="0"/>
              </a:spcAft>
              <a:buClr>
                <a:schemeClr val="dk1"/>
              </a:buClr>
              <a:buSzPts val="1100"/>
              <a:buFont typeface="Akatab"/>
              <a:buChar char="●"/>
            </a:pPr>
            <a:r>
              <a:rPr lang="en" sz="1100">
                <a:solidFill>
                  <a:schemeClr val="dk1"/>
                </a:solidFill>
                <a:latin typeface="Akatab"/>
                <a:ea typeface="Akatab"/>
                <a:cs typeface="Akatab"/>
                <a:sym typeface="Akatab"/>
              </a:rPr>
              <a:t>In addition to running physical shops, Loblaws also runs an online grocery and home goods business under the several brands Real Canadian Superstore, No Frills, and Loblaws.</a:t>
            </a:r>
            <a:endParaRPr sz="1100">
              <a:solidFill>
                <a:schemeClr val="dk1"/>
              </a:solidFill>
              <a:latin typeface="Akatab"/>
              <a:ea typeface="Akatab"/>
              <a:cs typeface="Akatab"/>
              <a:sym typeface="Akatab"/>
            </a:endParaRPr>
          </a:p>
          <a:p>
            <a:pPr indent="0" lvl="0" marL="457200" rtl="0" algn="l">
              <a:lnSpc>
                <a:spcPct val="115000"/>
              </a:lnSpc>
              <a:spcBef>
                <a:spcPts val="0"/>
              </a:spcBef>
              <a:spcAft>
                <a:spcPts val="0"/>
              </a:spcAft>
              <a:buNone/>
            </a:pPr>
            <a:r>
              <a:t/>
            </a:r>
            <a:endParaRPr sz="1100">
              <a:solidFill>
                <a:schemeClr val="dk1"/>
              </a:solidFill>
              <a:latin typeface="Akatab"/>
              <a:ea typeface="Akatab"/>
              <a:cs typeface="Akatab"/>
              <a:sym typeface="Akatab"/>
            </a:endParaRPr>
          </a:p>
          <a:p>
            <a:pPr indent="-298450" lvl="0" marL="457200" rtl="0" algn="l">
              <a:lnSpc>
                <a:spcPct val="115000"/>
              </a:lnSpc>
              <a:spcBef>
                <a:spcPts val="0"/>
              </a:spcBef>
              <a:spcAft>
                <a:spcPts val="0"/>
              </a:spcAft>
              <a:buClr>
                <a:schemeClr val="dk1"/>
              </a:buClr>
              <a:buSzPts val="1100"/>
              <a:buFont typeface="Akatab"/>
              <a:buChar char="●"/>
            </a:pPr>
            <a:r>
              <a:rPr lang="en" sz="1100">
                <a:solidFill>
                  <a:schemeClr val="dk1"/>
                </a:solidFill>
                <a:latin typeface="Akatab"/>
                <a:ea typeface="Akatab"/>
                <a:cs typeface="Akatab"/>
                <a:sym typeface="Akatab"/>
              </a:rPr>
              <a:t>Customers can conveniently purchase groceries and household supplies online, have them delivered to their homes, or pick them up in-store thanks to Loblaws' e-commerce capabilities.</a:t>
            </a:r>
            <a:endParaRPr sz="11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100">
                <a:solidFill>
                  <a:schemeClr val="dk1"/>
                </a:solidFill>
                <a:latin typeface="Akatab"/>
                <a:ea typeface="Akatab"/>
                <a:cs typeface="Akatab"/>
                <a:sym typeface="Akatab"/>
              </a:rPr>
              <a:t> </a:t>
            </a:r>
            <a:endParaRPr>
              <a:solidFill>
                <a:schemeClr val="dk1"/>
              </a:solidFill>
              <a:latin typeface="Akatab"/>
              <a:ea typeface="Akatab"/>
              <a:cs typeface="Akatab"/>
              <a:sym typeface="Akatab"/>
            </a:endParaRPr>
          </a:p>
        </p:txBody>
      </p:sp>
      <p:sp>
        <p:nvSpPr>
          <p:cNvPr id="232" name="Google Shape;232;p24"/>
          <p:cNvSpPr txBox="1"/>
          <p:nvPr/>
        </p:nvSpPr>
        <p:spPr>
          <a:xfrm>
            <a:off x="807000" y="3552345"/>
            <a:ext cx="7530000" cy="1935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a:solidFill>
                  <a:schemeClr val="dk1"/>
                </a:solidFill>
                <a:latin typeface="Akatab"/>
                <a:ea typeface="Akatab"/>
                <a:cs typeface="Akatab"/>
                <a:sym typeface="Akatab"/>
              </a:rPr>
              <a:t>Dollarama offers items that appeal to people of all ages and tastes in order to strategically serve a varied client base. Dollarama makes sure that all of its clients, from young children to elderly people, can easily acquire its products. Dollarama offers a variety of reasonably priced beauty items for ladies.</a:t>
            </a:r>
            <a:endParaRPr>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t/>
            </a:r>
            <a:endParaRPr>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t/>
            </a:r>
            <a:endParaRPr>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t/>
            </a:r>
            <a:endParaRPr>
              <a:solidFill>
                <a:schemeClr val="dk1"/>
              </a:solidFill>
              <a:latin typeface="Akatab"/>
              <a:ea typeface="Akatab"/>
              <a:cs typeface="Akatab"/>
              <a:sym typeface="Akatab"/>
            </a:endParaRPr>
          </a:p>
        </p:txBody>
      </p:sp>
      <p:sp>
        <p:nvSpPr>
          <p:cNvPr id="233" name="Google Shape;233;p24"/>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11</a:t>
            </a:r>
            <a:endParaRPr sz="1200">
              <a:solidFill>
                <a:schemeClr val="dk1"/>
              </a:solidFill>
              <a:latin typeface="Noto Serif Ethiopic"/>
              <a:ea typeface="Noto Serif Ethiopic"/>
              <a:cs typeface="Noto Serif Ethiopic"/>
              <a:sym typeface="Noto Serif Ethiopic"/>
            </a:endParaRPr>
          </a:p>
        </p:txBody>
      </p:sp>
      <p:sp>
        <p:nvSpPr>
          <p:cNvPr id="234" name="Google Shape;234;p24"/>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p25"/>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240" name="Google Shape;240;p25"/>
          <p:cNvSpPr txBox="1"/>
          <p:nvPr>
            <p:ph type="title"/>
          </p:nvPr>
        </p:nvSpPr>
        <p:spPr>
          <a:xfrm>
            <a:off x="72030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06 Competitors &amp; Positioning Map</a:t>
            </a:r>
            <a:endParaRPr sz="1800"/>
          </a:p>
        </p:txBody>
      </p:sp>
      <p:sp>
        <p:nvSpPr>
          <p:cNvPr id="241" name="Google Shape;241;p25"/>
          <p:cNvSpPr txBox="1"/>
          <p:nvPr/>
        </p:nvSpPr>
        <p:spPr>
          <a:xfrm>
            <a:off x="167350" y="999600"/>
            <a:ext cx="4097700" cy="3474900"/>
          </a:xfrm>
          <a:prstGeom prst="rect">
            <a:avLst/>
          </a:prstGeom>
          <a:noFill/>
          <a:ln>
            <a:noFill/>
          </a:ln>
        </p:spPr>
        <p:txBody>
          <a:bodyPr anchorCtr="0" anchor="t" bIns="91425" lIns="91425" spcFirstLastPara="1" rIns="91425" wrap="square" tIns="91425">
            <a:spAutoFit/>
          </a:bodyPr>
          <a:lstStyle/>
          <a:p>
            <a:pPr indent="-292100" lvl="0" marL="457200" rtl="0" algn="l">
              <a:lnSpc>
                <a:spcPct val="115000"/>
              </a:lnSpc>
              <a:spcBef>
                <a:spcPts val="0"/>
              </a:spcBef>
              <a:spcAft>
                <a:spcPts val="0"/>
              </a:spcAft>
              <a:buClr>
                <a:schemeClr val="dk1"/>
              </a:buClr>
              <a:buSzPts val="1000"/>
              <a:buFont typeface="Akatab"/>
              <a:buChar char="●"/>
            </a:pPr>
            <a:r>
              <a:rPr lang="en" sz="1000">
                <a:solidFill>
                  <a:schemeClr val="dk1"/>
                </a:solidFill>
                <a:latin typeface="Akatab"/>
                <a:ea typeface="Akatab"/>
                <a:cs typeface="Akatab"/>
                <a:sym typeface="Akatab"/>
              </a:rPr>
              <a:t>Located in the top-right quadrant, Loblaws is known for its extensive product selection and for its premium prices.</a:t>
            </a:r>
            <a:endParaRPr sz="1000">
              <a:solidFill>
                <a:schemeClr val="dk1"/>
              </a:solidFill>
              <a:latin typeface="Akatab"/>
              <a:ea typeface="Akatab"/>
              <a:cs typeface="Akatab"/>
              <a:sym typeface="Akatab"/>
            </a:endParaRPr>
          </a:p>
          <a:p>
            <a:pPr indent="0" lvl="0" marL="457200" rtl="0" algn="l">
              <a:lnSpc>
                <a:spcPct val="115000"/>
              </a:lnSpc>
              <a:spcBef>
                <a:spcPts val="0"/>
              </a:spcBef>
              <a:spcAft>
                <a:spcPts val="0"/>
              </a:spcAft>
              <a:buNone/>
            </a:pPr>
            <a:r>
              <a:t/>
            </a:r>
            <a:endParaRPr sz="1000">
              <a:solidFill>
                <a:schemeClr val="dk1"/>
              </a:solidFill>
              <a:latin typeface="Akatab"/>
              <a:ea typeface="Akatab"/>
              <a:cs typeface="Akatab"/>
              <a:sym typeface="Akatab"/>
            </a:endParaRPr>
          </a:p>
          <a:p>
            <a:pPr indent="-292100" lvl="0" marL="457200" rtl="0" algn="l">
              <a:lnSpc>
                <a:spcPct val="115000"/>
              </a:lnSpc>
              <a:spcBef>
                <a:spcPts val="0"/>
              </a:spcBef>
              <a:spcAft>
                <a:spcPts val="0"/>
              </a:spcAft>
              <a:buClr>
                <a:schemeClr val="dk1"/>
              </a:buClr>
              <a:buSzPts val="1000"/>
              <a:buFont typeface="Akatab"/>
              <a:buChar char="●"/>
            </a:pPr>
            <a:r>
              <a:rPr lang="en" sz="1000">
                <a:solidFill>
                  <a:schemeClr val="dk1"/>
                </a:solidFill>
                <a:latin typeface="Akatab"/>
                <a:ea typeface="Akatab"/>
                <a:cs typeface="Akatab"/>
                <a:sym typeface="Akatab"/>
              </a:rPr>
              <a:t>Walmart is positioned just below Loblaws and offers a comparable wide range of products at competitive rates, with a stronger focus on non-grocery items.</a:t>
            </a:r>
            <a:endParaRPr sz="1000">
              <a:solidFill>
                <a:schemeClr val="dk1"/>
              </a:solidFill>
              <a:latin typeface="Akatab"/>
              <a:ea typeface="Akatab"/>
              <a:cs typeface="Akatab"/>
              <a:sym typeface="Akatab"/>
            </a:endParaRPr>
          </a:p>
          <a:p>
            <a:pPr indent="0" lvl="0" marL="457200" rtl="0" algn="l">
              <a:lnSpc>
                <a:spcPct val="115000"/>
              </a:lnSpc>
              <a:spcBef>
                <a:spcPts val="0"/>
              </a:spcBef>
              <a:spcAft>
                <a:spcPts val="0"/>
              </a:spcAft>
              <a:buNone/>
            </a:pPr>
            <a:r>
              <a:t/>
            </a:r>
            <a:endParaRPr sz="1000">
              <a:solidFill>
                <a:schemeClr val="dk1"/>
              </a:solidFill>
              <a:latin typeface="Akatab"/>
              <a:ea typeface="Akatab"/>
              <a:cs typeface="Akatab"/>
              <a:sym typeface="Akatab"/>
            </a:endParaRPr>
          </a:p>
          <a:p>
            <a:pPr indent="-292100" lvl="0" marL="457200" rtl="0" algn="l">
              <a:lnSpc>
                <a:spcPct val="115000"/>
              </a:lnSpc>
              <a:spcBef>
                <a:spcPts val="0"/>
              </a:spcBef>
              <a:spcAft>
                <a:spcPts val="0"/>
              </a:spcAft>
              <a:buClr>
                <a:schemeClr val="dk1"/>
              </a:buClr>
              <a:buSzPts val="1000"/>
              <a:buFont typeface="Akatab"/>
              <a:buChar char="●"/>
            </a:pPr>
            <a:r>
              <a:rPr lang="en" sz="1000">
                <a:solidFill>
                  <a:schemeClr val="dk1"/>
                </a:solidFill>
                <a:latin typeface="Akatab"/>
                <a:ea typeface="Akatab"/>
                <a:cs typeface="Akatab"/>
                <a:sym typeface="Akatab"/>
              </a:rPr>
              <a:t>Giant Tiger is a mid-range retailer that offers a somewhat large selection of products at competitive rates, many of which include groceries, home goods, and clothes. </a:t>
            </a:r>
            <a:endParaRPr sz="10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t/>
            </a:r>
            <a:endParaRPr sz="1000">
              <a:solidFill>
                <a:schemeClr val="dk1"/>
              </a:solidFill>
              <a:latin typeface="Akatab"/>
              <a:ea typeface="Akatab"/>
              <a:cs typeface="Akatab"/>
              <a:sym typeface="Akatab"/>
            </a:endParaRPr>
          </a:p>
          <a:p>
            <a:pPr indent="-292100" lvl="0" marL="457200" rtl="0" algn="l">
              <a:lnSpc>
                <a:spcPct val="115000"/>
              </a:lnSpc>
              <a:spcBef>
                <a:spcPts val="0"/>
              </a:spcBef>
              <a:spcAft>
                <a:spcPts val="0"/>
              </a:spcAft>
              <a:buClr>
                <a:schemeClr val="dk1"/>
              </a:buClr>
              <a:buSzPts val="1000"/>
              <a:buFont typeface="Akatab"/>
              <a:buChar char="●"/>
            </a:pPr>
            <a:r>
              <a:rPr lang="en" sz="1000">
                <a:solidFill>
                  <a:schemeClr val="dk1"/>
                </a:solidFill>
                <a:latin typeface="Akatab"/>
                <a:ea typeface="Akatab"/>
                <a:cs typeface="Akatab"/>
                <a:sym typeface="Akatab"/>
              </a:rPr>
              <a:t>Located in the bottom-left quadrant, Dollarama is well-known for its reduced costs and more limited selection of products.</a:t>
            </a:r>
            <a:endParaRPr sz="1000">
              <a:solidFill>
                <a:schemeClr val="dk1"/>
              </a:solidFill>
              <a:latin typeface="Akatab"/>
              <a:ea typeface="Akatab"/>
              <a:cs typeface="Akatab"/>
              <a:sym typeface="Akatab"/>
            </a:endParaRPr>
          </a:p>
          <a:p>
            <a:pPr indent="0" lvl="0" marL="457200" rtl="0" algn="l">
              <a:lnSpc>
                <a:spcPct val="115000"/>
              </a:lnSpc>
              <a:spcBef>
                <a:spcPts val="0"/>
              </a:spcBef>
              <a:spcAft>
                <a:spcPts val="0"/>
              </a:spcAft>
              <a:buNone/>
            </a:pPr>
            <a:r>
              <a:t/>
            </a:r>
            <a:endParaRPr sz="1000">
              <a:solidFill>
                <a:schemeClr val="dk1"/>
              </a:solidFill>
              <a:latin typeface="Akatab"/>
              <a:ea typeface="Akatab"/>
              <a:cs typeface="Akatab"/>
              <a:sym typeface="Akatab"/>
            </a:endParaRPr>
          </a:p>
          <a:p>
            <a:pPr indent="-292100" lvl="0" marL="457200" rtl="0" algn="l">
              <a:lnSpc>
                <a:spcPct val="115000"/>
              </a:lnSpc>
              <a:spcBef>
                <a:spcPts val="0"/>
              </a:spcBef>
              <a:spcAft>
                <a:spcPts val="0"/>
              </a:spcAft>
              <a:buClr>
                <a:schemeClr val="dk1"/>
              </a:buClr>
              <a:buSzPts val="1000"/>
              <a:buFont typeface="Akatab"/>
              <a:buChar char="●"/>
            </a:pPr>
            <a:r>
              <a:rPr lang="en" sz="1000">
                <a:solidFill>
                  <a:schemeClr val="dk1"/>
                </a:solidFill>
                <a:latin typeface="Akatab"/>
                <a:ea typeface="Akatab"/>
                <a:cs typeface="Akatab"/>
                <a:sym typeface="Akatab"/>
              </a:rPr>
              <a:t>Similar to Dollarama, Dollar Tree is located at the bottom-left quadrant and offers low prices along with a small range of products, albeit its product mix is slightly different.</a:t>
            </a:r>
            <a:endParaRPr sz="1000">
              <a:solidFill>
                <a:schemeClr val="dk1"/>
              </a:solidFill>
              <a:latin typeface="Akatab"/>
              <a:ea typeface="Akatab"/>
              <a:cs typeface="Akatab"/>
              <a:sym typeface="Akatab"/>
            </a:endParaRPr>
          </a:p>
          <a:p>
            <a:pPr indent="0" lvl="0" marL="0" rtl="0" algn="l">
              <a:lnSpc>
                <a:spcPct val="115000"/>
              </a:lnSpc>
              <a:spcBef>
                <a:spcPts val="0"/>
              </a:spcBef>
              <a:spcAft>
                <a:spcPts val="0"/>
              </a:spcAft>
              <a:buNone/>
            </a:pPr>
            <a:r>
              <a:rPr lang="en" sz="1000">
                <a:solidFill>
                  <a:schemeClr val="dk1"/>
                </a:solidFill>
                <a:latin typeface="Akatab"/>
                <a:ea typeface="Akatab"/>
                <a:cs typeface="Akatab"/>
                <a:sym typeface="Akatab"/>
              </a:rPr>
              <a:t> </a:t>
            </a:r>
            <a:endParaRPr sz="1300">
              <a:solidFill>
                <a:schemeClr val="dk1"/>
              </a:solidFill>
              <a:latin typeface="Akatab"/>
              <a:ea typeface="Akatab"/>
              <a:cs typeface="Akatab"/>
              <a:sym typeface="Akatab"/>
            </a:endParaRPr>
          </a:p>
        </p:txBody>
      </p:sp>
      <p:pic>
        <p:nvPicPr>
          <p:cNvPr id="242" name="Google Shape;242;p25"/>
          <p:cNvPicPr preferRelativeResize="0"/>
          <p:nvPr/>
        </p:nvPicPr>
        <p:blipFill>
          <a:blip r:embed="rId4">
            <a:alphaModFix/>
          </a:blip>
          <a:stretch>
            <a:fillRect/>
          </a:stretch>
        </p:blipFill>
        <p:spPr>
          <a:xfrm>
            <a:off x="4402250" y="999597"/>
            <a:ext cx="4589351" cy="3408102"/>
          </a:xfrm>
          <a:prstGeom prst="rect">
            <a:avLst/>
          </a:prstGeom>
          <a:noFill/>
          <a:ln>
            <a:noFill/>
          </a:ln>
        </p:spPr>
      </p:pic>
      <p:sp>
        <p:nvSpPr>
          <p:cNvPr id="243" name="Google Shape;243;p25"/>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12</a:t>
            </a:r>
            <a:endParaRPr sz="1200">
              <a:solidFill>
                <a:schemeClr val="dk1"/>
              </a:solidFill>
              <a:latin typeface="Noto Serif Ethiopic"/>
              <a:ea typeface="Noto Serif Ethiopic"/>
              <a:cs typeface="Noto Serif Ethiopic"/>
              <a:sym typeface="Noto Serif Ethiopic"/>
            </a:endParaRPr>
          </a:p>
        </p:txBody>
      </p:sp>
      <p:sp>
        <p:nvSpPr>
          <p:cNvPr id="244" name="Google Shape;244;p25"/>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p26"/>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250" name="Google Shape;250;p26"/>
          <p:cNvSpPr txBox="1"/>
          <p:nvPr>
            <p:ph type="title"/>
          </p:nvPr>
        </p:nvSpPr>
        <p:spPr>
          <a:xfrm>
            <a:off x="72030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06 Target &amp; External Screen</a:t>
            </a:r>
            <a:endParaRPr sz="1800"/>
          </a:p>
        </p:txBody>
      </p:sp>
      <p:sp>
        <p:nvSpPr>
          <p:cNvPr id="251" name="Google Shape;251;p26"/>
          <p:cNvSpPr txBox="1"/>
          <p:nvPr/>
        </p:nvSpPr>
        <p:spPr>
          <a:xfrm>
            <a:off x="524550" y="837000"/>
            <a:ext cx="8094900" cy="345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latin typeface="Akatab"/>
                <a:ea typeface="Akatab"/>
                <a:cs typeface="Akatab"/>
                <a:sym typeface="Akatab"/>
              </a:rPr>
              <a:t>A thorough research covering a range of factors is required before expanding the e-commerce platform. To take advantage of new opportunities, it is important to closely monitor market trends, such as the rise in internet purchasing and the popularity of mobile commerce.</a:t>
            </a:r>
            <a:endParaRPr sz="1100">
              <a:latin typeface="Akatab"/>
              <a:ea typeface="Akatab"/>
              <a:cs typeface="Akatab"/>
              <a:sym typeface="Akatab"/>
            </a:endParaRPr>
          </a:p>
          <a:p>
            <a:pPr indent="0" lvl="0" marL="0" rtl="0" algn="l">
              <a:lnSpc>
                <a:spcPct val="115000"/>
              </a:lnSpc>
              <a:spcBef>
                <a:spcPts val="0"/>
              </a:spcBef>
              <a:spcAft>
                <a:spcPts val="0"/>
              </a:spcAft>
              <a:buNone/>
            </a:pPr>
            <a:r>
              <a:rPr lang="en" sz="1100">
                <a:latin typeface="Akatab"/>
                <a:ea typeface="Akatab"/>
                <a:cs typeface="Akatab"/>
                <a:sym typeface="Akatab"/>
              </a:rPr>
              <a:t> </a:t>
            </a:r>
            <a:endParaRPr sz="1100">
              <a:latin typeface="Akatab"/>
              <a:ea typeface="Akatab"/>
              <a:cs typeface="Akatab"/>
              <a:sym typeface="Akatab"/>
            </a:endParaRPr>
          </a:p>
          <a:p>
            <a:pPr indent="0" lvl="0" marL="0" rtl="0" algn="l">
              <a:lnSpc>
                <a:spcPct val="115000"/>
              </a:lnSpc>
              <a:spcBef>
                <a:spcPts val="0"/>
              </a:spcBef>
              <a:spcAft>
                <a:spcPts val="0"/>
              </a:spcAft>
              <a:buNone/>
            </a:pPr>
            <a:r>
              <a:rPr lang="en" sz="1100">
                <a:latin typeface="Akatab"/>
                <a:ea typeface="Akatab"/>
                <a:cs typeface="Akatab"/>
                <a:sym typeface="Akatab"/>
              </a:rPr>
              <a:t>First, to fully understand the demand for environmentally friendly packaging solutions, it is important to analyse market trends and customer attitudes toward sustainability. It is crucial to work together with suppliers and business partners to find sustainable materials and create packaging designs that are eco-friendly.</a:t>
            </a:r>
            <a:endParaRPr sz="1100">
              <a:latin typeface="Akatab"/>
              <a:ea typeface="Akatab"/>
              <a:cs typeface="Akatab"/>
              <a:sym typeface="Akatab"/>
            </a:endParaRPr>
          </a:p>
          <a:p>
            <a:pPr indent="0" lvl="0" marL="0" rtl="0" algn="l">
              <a:lnSpc>
                <a:spcPct val="115000"/>
              </a:lnSpc>
              <a:spcBef>
                <a:spcPts val="0"/>
              </a:spcBef>
              <a:spcAft>
                <a:spcPts val="0"/>
              </a:spcAft>
              <a:buNone/>
            </a:pPr>
            <a:r>
              <a:t/>
            </a:r>
            <a:endParaRPr sz="1100">
              <a:latin typeface="Akatab"/>
              <a:ea typeface="Akatab"/>
              <a:cs typeface="Akatab"/>
              <a:sym typeface="Akatab"/>
            </a:endParaRPr>
          </a:p>
          <a:p>
            <a:pPr indent="0" lvl="0" marL="0" rtl="0" algn="l">
              <a:lnSpc>
                <a:spcPct val="115000"/>
              </a:lnSpc>
              <a:spcBef>
                <a:spcPts val="0"/>
              </a:spcBef>
              <a:spcAft>
                <a:spcPts val="0"/>
              </a:spcAft>
              <a:buNone/>
            </a:pPr>
            <a:r>
              <a:rPr lang="en" sz="1100">
                <a:latin typeface="Akatab"/>
                <a:ea typeface="Akatab"/>
                <a:cs typeface="Akatab"/>
                <a:sym typeface="Akatab"/>
              </a:rPr>
              <a:t>Finding popular products and new trends requires examining consumer preferences for healthier snack options as well as market developments. Sales can also be increased by maximizing product placement and merchandising techniques in the snack area to draw attention to healthy options and draw in customers. </a:t>
            </a:r>
            <a:endParaRPr sz="1100">
              <a:latin typeface="Akatab"/>
              <a:ea typeface="Akatab"/>
              <a:cs typeface="Akatab"/>
              <a:sym typeface="Akatab"/>
            </a:endParaRPr>
          </a:p>
          <a:p>
            <a:pPr indent="0" lvl="0" marL="0" rtl="0" algn="l">
              <a:lnSpc>
                <a:spcPct val="115000"/>
              </a:lnSpc>
              <a:spcBef>
                <a:spcPts val="0"/>
              </a:spcBef>
              <a:spcAft>
                <a:spcPts val="0"/>
              </a:spcAft>
              <a:buNone/>
            </a:pPr>
            <a:r>
              <a:t/>
            </a:r>
            <a:endParaRPr sz="1100">
              <a:latin typeface="Akatab"/>
              <a:ea typeface="Akatab"/>
              <a:cs typeface="Akatab"/>
              <a:sym typeface="Akatab"/>
            </a:endParaRPr>
          </a:p>
          <a:p>
            <a:pPr indent="0" lvl="0" marL="0" rtl="0" algn="l">
              <a:lnSpc>
                <a:spcPct val="115000"/>
              </a:lnSpc>
              <a:spcBef>
                <a:spcPts val="0"/>
              </a:spcBef>
              <a:spcAft>
                <a:spcPts val="0"/>
              </a:spcAft>
              <a:buNone/>
            </a:pPr>
            <a:r>
              <a:rPr lang="en" sz="1100">
                <a:latin typeface="Akatab"/>
                <a:ea typeface="Akatab"/>
                <a:cs typeface="Akatab"/>
                <a:sym typeface="Akatab"/>
              </a:rPr>
              <a:t>Creating an easy-to-use loyalty platform—a smartphone app or web portal is crucial to making the sign-up, point-gaining, and redeeming process for users go smoothly.</a:t>
            </a:r>
            <a:endParaRPr sz="1100">
              <a:latin typeface="Akatab"/>
              <a:ea typeface="Akatab"/>
              <a:cs typeface="Akatab"/>
              <a:sym typeface="Akatab"/>
            </a:endParaRPr>
          </a:p>
          <a:p>
            <a:pPr indent="0" lvl="0" marL="0" rtl="0" algn="l">
              <a:lnSpc>
                <a:spcPct val="115000"/>
              </a:lnSpc>
              <a:spcBef>
                <a:spcPts val="0"/>
              </a:spcBef>
              <a:spcAft>
                <a:spcPts val="0"/>
              </a:spcAft>
              <a:buNone/>
            </a:pPr>
            <a:r>
              <a:t/>
            </a:r>
            <a:endParaRPr sz="1100">
              <a:latin typeface="Akatab"/>
              <a:ea typeface="Akatab"/>
              <a:cs typeface="Akatab"/>
              <a:sym typeface="Akatab"/>
            </a:endParaRPr>
          </a:p>
          <a:p>
            <a:pPr indent="0" lvl="0" marL="0" rtl="0" algn="l">
              <a:lnSpc>
                <a:spcPct val="115000"/>
              </a:lnSpc>
              <a:spcBef>
                <a:spcPts val="0"/>
              </a:spcBef>
              <a:spcAft>
                <a:spcPts val="0"/>
              </a:spcAft>
              <a:buNone/>
            </a:pPr>
            <a:r>
              <a:rPr lang="en" sz="1100">
                <a:latin typeface="Akatab"/>
                <a:ea typeface="Akatab"/>
                <a:cs typeface="Akatab"/>
                <a:sym typeface="Akatab"/>
              </a:rPr>
              <a:t>Sales and consumer awareness can be raised by highlighting the Dollarama Basics range in stores and online through strategic merchandising and promotional initiatives. </a:t>
            </a:r>
            <a:endParaRPr sz="1100">
              <a:latin typeface="Akatab"/>
              <a:ea typeface="Akatab"/>
              <a:cs typeface="Akatab"/>
              <a:sym typeface="Akatab"/>
            </a:endParaRPr>
          </a:p>
        </p:txBody>
      </p:sp>
      <p:sp>
        <p:nvSpPr>
          <p:cNvPr id="252" name="Google Shape;252;p26"/>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13</a:t>
            </a:r>
            <a:endParaRPr sz="1200">
              <a:solidFill>
                <a:schemeClr val="dk1"/>
              </a:solidFill>
              <a:latin typeface="Noto Serif Ethiopic"/>
              <a:ea typeface="Noto Serif Ethiopic"/>
              <a:cs typeface="Noto Serif Ethiopic"/>
              <a:sym typeface="Noto Serif Ethiopic"/>
            </a:endParaRPr>
          </a:p>
        </p:txBody>
      </p:sp>
      <p:sp>
        <p:nvSpPr>
          <p:cNvPr id="253" name="Google Shape;253;p26"/>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27"/>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259" name="Google Shape;259;p27"/>
          <p:cNvSpPr txBox="1"/>
          <p:nvPr>
            <p:ph type="title"/>
          </p:nvPr>
        </p:nvSpPr>
        <p:spPr>
          <a:xfrm>
            <a:off x="72030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07 Concept Recommendation </a:t>
            </a:r>
            <a:endParaRPr sz="1800"/>
          </a:p>
        </p:txBody>
      </p:sp>
      <p:sp>
        <p:nvSpPr>
          <p:cNvPr id="260" name="Google Shape;260;p27"/>
          <p:cNvSpPr txBox="1"/>
          <p:nvPr/>
        </p:nvSpPr>
        <p:spPr>
          <a:xfrm>
            <a:off x="839421" y="1324950"/>
            <a:ext cx="7341300" cy="2493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latin typeface="Akatab"/>
                <a:ea typeface="Akatab"/>
                <a:cs typeface="Akatab"/>
                <a:sym typeface="Akatab"/>
              </a:rPr>
              <a:t>Expanding Dollarama’s</a:t>
            </a:r>
            <a:r>
              <a:rPr lang="en" sz="1100">
                <a:highlight>
                  <a:srgbClr val="B6D7A8"/>
                </a:highlight>
                <a:latin typeface="Akatab"/>
                <a:ea typeface="Akatab"/>
                <a:cs typeface="Akatab"/>
                <a:sym typeface="Akatab"/>
              </a:rPr>
              <a:t> e-commerce platform </a:t>
            </a:r>
            <a:r>
              <a:rPr lang="en" sz="1100">
                <a:latin typeface="Akatab"/>
                <a:ea typeface="Akatab"/>
                <a:cs typeface="Akatab"/>
                <a:sym typeface="Akatab"/>
              </a:rPr>
              <a:t>strategically aligns with our core values of innovation, accessibility, and customer-centricity. As online shopping continues to surge, this move positions us as pioneers in embracing digital transformation within the retail sector. By investing in a comprehensive digital shopping experience, complete with cutting-edge technology and diverse payment options, Dollarama sets itself apart from competitors and solidifies its competitive advantage. Leveraging our robust supply chain and logistics infrastructure, we can seamlessly manage online orders and integrate online and offline operations, enhancing operational efficiency and ensuring customer satisfaction. This expansion not only allows us to capture a broader market share by reaching consumers who prefer the convenience of online shopping or reside in areas beyond our physical store footprint but also presents additional revenue streams through increased sales volumes and higher average transaction values. Moreover, a robust e-commerce platform enables us to deepen consumer engagement through data analytics, loyalty programs, and personalized marketing initiatives, fostering stronger brand loyalty and driving sustained growth in the dynamic retail landscape.</a:t>
            </a:r>
            <a:endParaRPr sz="1100">
              <a:latin typeface="Akatab"/>
              <a:ea typeface="Akatab"/>
              <a:cs typeface="Akatab"/>
              <a:sym typeface="Akatab"/>
            </a:endParaRPr>
          </a:p>
        </p:txBody>
      </p:sp>
      <p:sp>
        <p:nvSpPr>
          <p:cNvPr id="261" name="Google Shape;261;p27"/>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14</a:t>
            </a:r>
            <a:endParaRPr sz="1200">
              <a:solidFill>
                <a:schemeClr val="dk1"/>
              </a:solidFill>
              <a:latin typeface="Noto Serif Ethiopic"/>
              <a:ea typeface="Noto Serif Ethiopic"/>
              <a:cs typeface="Noto Serif Ethiopic"/>
              <a:sym typeface="Noto Serif Ethiopic"/>
            </a:endParaRPr>
          </a:p>
        </p:txBody>
      </p:sp>
      <p:sp>
        <p:nvSpPr>
          <p:cNvPr id="262" name="Google Shape;262;p27"/>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28"/>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268" name="Google Shape;268;p28"/>
          <p:cNvSpPr txBox="1"/>
          <p:nvPr>
            <p:ph type="title"/>
          </p:nvPr>
        </p:nvSpPr>
        <p:spPr>
          <a:xfrm>
            <a:off x="72030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08 </a:t>
            </a:r>
            <a:r>
              <a:rPr lang="en" sz="1800"/>
              <a:t>Development Justification</a:t>
            </a:r>
            <a:r>
              <a:rPr lang="en" sz="1800"/>
              <a:t> </a:t>
            </a:r>
            <a:endParaRPr sz="1800"/>
          </a:p>
        </p:txBody>
      </p:sp>
      <p:sp>
        <p:nvSpPr>
          <p:cNvPr id="269" name="Google Shape;269;p28"/>
          <p:cNvSpPr txBox="1"/>
          <p:nvPr/>
        </p:nvSpPr>
        <p:spPr>
          <a:xfrm>
            <a:off x="433500" y="643255"/>
            <a:ext cx="8277600" cy="399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Akatab"/>
                <a:ea typeface="Akatab"/>
                <a:cs typeface="Akatab"/>
                <a:sym typeface="Akatab"/>
              </a:rPr>
              <a:t>1. Market Demand</a:t>
            </a:r>
            <a:endParaRPr sz="1100">
              <a:latin typeface="Akatab"/>
              <a:ea typeface="Akatab"/>
              <a:cs typeface="Akatab"/>
              <a:sym typeface="Akatab"/>
            </a:endParaRPr>
          </a:p>
          <a:p>
            <a:pPr indent="0" lvl="0" marL="0" rtl="0" algn="l">
              <a:spcBef>
                <a:spcPts val="0"/>
              </a:spcBef>
              <a:spcAft>
                <a:spcPts val="0"/>
              </a:spcAft>
              <a:buNone/>
            </a:pPr>
            <a:r>
              <a:t/>
            </a:r>
            <a:endParaRPr sz="1100">
              <a:latin typeface="Akatab"/>
              <a:ea typeface="Akatab"/>
              <a:cs typeface="Akatab"/>
              <a:sym typeface="Akatab"/>
            </a:endParaRPr>
          </a:p>
          <a:p>
            <a:pPr indent="0" lvl="0" marL="0" rtl="0" algn="l">
              <a:spcBef>
                <a:spcPts val="0"/>
              </a:spcBef>
              <a:spcAft>
                <a:spcPts val="0"/>
              </a:spcAft>
              <a:buNone/>
            </a:pPr>
            <a:r>
              <a:rPr b="1" lang="en" sz="1100">
                <a:latin typeface="Akatab"/>
                <a:ea typeface="Akatab"/>
                <a:cs typeface="Akatab"/>
                <a:sym typeface="Akatab"/>
              </a:rPr>
              <a:t>Market Analysis</a:t>
            </a:r>
            <a:r>
              <a:rPr lang="en" sz="1100">
                <a:latin typeface="Akatab"/>
                <a:ea typeface="Akatab"/>
                <a:cs typeface="Akatab"/>
                <a:sym typeface="Akatab"/>
              </a:rPr>
              <a:t>: Design strategies to analyze both domestic and international markets, which Dollarama will do. Outline geographic and demographic segmentation strategies based on the results of these studies. How can the strategies it follows contribute to the company on the digital platform? Discuss.</a:t>
            </a:r>
            <a:endParaRPr sz="1100">
              <a:latin typeface="Akatab"/>
              <a:ea typeface="Akatab"/>
              <a:cs typeface="Akatab"/>
              <a:sym typeface="Akatab"/>
            </a:endParaRPr>
          </a:p>
          <a:p>
            <a:pPr indent="0" lvl="0" marL="0" rtl="0" algn="l">
              <a:spcBef>
                <a:spcPts val="0"/>
              </a:spcBef>
              <a:spcAft>
                <a:spcPts val="0"/>
              </a:spcAft>
              <a:buNone/>
            </a:pPr>
            <a:r>
              <a:rPr lang="en" sz="1100">
                <a:latin typeface="Akatab"/>
                <a:ea typeface="Akatab"/>
                <a:cs typeface="Akatab"/>
                <a:sym typeface="Akatab"/>
              </a:rPr>
              <a:t> </a:t>
            </a:r>
            <a:endParaRPr sz="1100">
              <a:latin typeface="Akatab"/>
              <a:ea typeface="Akatab"/>
              <a:cs typeface="Akatab"/>
              <a:sym typeface="Akatab"/>
            </a:endParaRPr>
          </a:p>
          <a:p>
            <a:pPr indent="0" lvl="0" marL="0" rtl="0" algn="l">
              <a:spcBef>
                <a:spcPts val="0"/>
              </a:spcBef>
              <a:spcAft>
                <a:spcPts val="0"/>
              </a:spcAft>
              <a:buNone/>
            </a:pPr>
            <a:r>
              <a:rPr b="1" lang="en" sz="1100">
                <a:latin typeface="Akatab"/>
                <a:ea typeface="Akatab"/>
                <a:cs typeface="Akatab"/>
                <a:sym typeface="Akatab"/>
              </a:rPr>
              <a:t>Brand Value</a:t>
            </a:r>
            <a:r>
              <a:rPr lang="en" sz="1100">
                <a:latin typeface="Akatab"/>
                <a:ea typeface="Akatab"/>
                <a:cs typeface="Akatab"/>
                <a:sym typeface="Akatab"/>
              </a:rPr>
              <a:t>: What are the advantages of highlighting the brand value created by Dollarama in its target audience? Thus, mention the areas in which the company differentiates itself and how it produces rational solutions for its customers.</a:t>
            </a:r>
            <a:endParaRPr sz="1100">
              <a:latin typeface="Akatab"/>
              <a:ea typeface="Akatab"/>
              <a:cs typeface="Akatab"/>
              <a:sym typeface="Akatab"/>
            </a:endParaRPr>
          </a:p>
          <a:p>
            <a:pPr indent="0" lvl="0" marL="0" rtl="0" algn="l">
              <a:spcBef>
                <a:spcPts val="0"/>
              </a:spcBef>
              <a:spcAft>
                <a:spcPts val="0"/>
              </a:spcAft>
              <a:buNone/>
            </a:pPr>
            <a:r>
              <a:rPr lang="en" sz="1100">
                <a:latin typeface="Akatab"/>
                <a:ea typeface="Akatab"/>
                <a:cs typeface="Akatab"/>
                <a:sym typeface="Akatab"/>
              </a:rPr>
              <a:t> </a:t>
            </a:r>
            <a:endParaRPr sz="1100">
              <a:latin typeface="Akatab"/>
              <a:ea typeface="Akatab"/>
              <a:cs typeface="Akatab"/>
              <a:sym typeface="Akatab"/>
            </a:endParaRPr>
          </a:p>
          <a:p>
            <a:pPr indent="0" lvl="0" marL="0" rtl="0" algn="l">
              <a:spcBef>
                <a:spcPts val="0"/>
              </a:spcBef>
              <a:spcAft>
                <a:spcPts val="0"/>
              </a:spcAft>
              <a:buNone/>
            </a:pPr>
            <a:r>
              <a:rPr lang="en" sz="1100">
                <a:latin typeface="Akatab"/>
                <a:ea typeface="Akatab"/>
                <a:cs typeface="Akatab"/>
                <a:sym typeface="Akatab"/>
              </a:rPr>
              <a:t>2. Financial Viability</a:t>
            </a:r>
            <a:endParaRPr sz="1100">
              <a:latin typeface="Akatab"/>
              <a:ea typeface="Akatab"/>
              <a:cs typeface="Akatab"/>
              <a:sym typeface="Akatab"/>
            </a:endParaRPr>
          </a:p>
          <a:p>
            <a:pPr indent="0" lvl="0" marL="0" rtl="0" algn="l">
              <a:spcBef>
                <a:spcPts val="0"/>
              </a:spcBef>
              <a:spcAft>
                <a:spcPts val="0"/>
              </a:spcAft>
              <a:buNone/>
            </a:pPr>
            <a:r>
              <a:t/>
            </a:r>
            <a:endParaRPr sz="1100">
              <a:latin typeface="Akatab"/>
              <a:ea typeface="Akatab"/>
              <a:cs typeface="Akatab"/>
              <a:sym typeface="Akatab"/>
            </a:endParaRPr>
          </a:p>
          <a:p>
            <a:pPr indent="0" lvl="0" marL="0" rtl="0" algn="l">
              <a:spcBef>
                <a:spcPts val="0"/>
              </a:spcBef>
              <a:spcAft>
                <a:spcPts val="0"/>
              </a:spcAft>
              <a:buNone/>
            </a:pPr>
            <a:r>
              <a:rPr b="1" lang="en" sz="1100">
                <a:latin typeface="Akatab"/>
                <a:ea typeface="Akatab"/>
                <a:cs typeface="Akatab"/>
                <a:sym typeface="Akatab"/>
              </a:rPr>
              <a:t>Realistic Financial Projections</a:t>
            </a:r>
            <a:r>
              <a:rPr lang="en" sz="1100">
                <a:latin typeface="Akatab"/>
                <a:ea typeface="Akatab"/>
                <a:cs typeface="Akatab"/>
                <a:sym typeface="Akatab"/>
              </a:rPr>
              <a:t>: Financial data is vital for companies. In this context, the costs that Dollarama will undertake, i.e. cash outflows, break-even points and revenues, i.e. cash inflows, need to be well estimated. Prepare some draft financial statements such as income statement and balance sheet based on these estimates</a:t>
            </a:r>
            <a:endParaRPr sz="1100">
              <a:latin typeface="Akatab"/>
              <a:ea typeface="Akatab"/>
              <a:cs typeface="Akatab"/>
              <a:sym typeface="Akatab"/>
            </a:endParaRPr>
          </a:p>
          <a:p>
            <a:pPr indent="0" lvl="0" marL="0" rtl="0" algn="l">
              <a:spcBef>
                <a:spcPts val="0"/>
              </a:spcBef>
              <a:spcAft>
                <a:spcPts val="0"/>
              </a:spcAft>
              <a:buNone/>
            </a:pPr>
            <a:r>
              <a:t/>
            </a:r>
            <a:endParaRPr sz="1100">
              <a:latin typeface="Akatab"/>
              <a:ea typeface="Akatab"/>
              <a:cs typeface="Akatab"/>
              <a:sym typeface="Akatab"/>
            </a:endParaRPr>
          </a:p>
          <a:p>
            <a:pPr indent="0" lvl="0" marL="0" rtl="0" algn="l">
              <a:spcBef>
                <a:spcPts val="0"/>
              </a:spcBef>
              <a:spcAft>
                <a:spcPts val="0"/>
              </a:spcAft>
              <a:buNone/>
            </a:pPr>
            <a:r>
              <a:rPr b="1" lang="en" sz="1100">
                <a:latin typeface="Akatab"/>
                <a:ea typeface="Akatab"/>
                <a:cs typeface="Akatab"/>
                <a:sym typeface="Akatab"/>
              </a:rPr>
              <a:t>Resources Financing Strategy</a:t>
            </a:r>
            <a:r>
              <a:rPr lang="en" sz="1100">
                <a:latin typeface="Akatab"/>
                <a:ea typeface="Akatab"/>
                <a:cs typeface="Akatab"/>
                <a:sym typeface="Akatab"/>
              </a:rPr>
              <a:t>: Determine what financial resources Dollarama may need. Develop a strategy for the process and financing costs required to access them. Create a plan that will increase investors' appetite, especially for the venture capital method</a:t>
            </a:r>
            <a:endParaRPr sz="1100">
              <a:latin typeface="Akatab"/>
              <a:ea typeface="Akatab"/>
              <a:cs typeface="Akatab"/>
              <a:sym typeface="Akatab"/>
            </a:endParaRPr>
          </a:p>
          <a:p>
            <a:pPr indent="0" lvl="0" marL="0" rtl="0" algn="l">
              <a:spcBef>
                <a:spcPts val="0"/>
              </a:spcBef>
              <a:spcAft>
                <a:spcPts val="0"/>
              </a:spcAft>
              <a:buNone/>
            </a:pPr>
            <a:r>
              <a:t/>
            </a:r>
            <a:endParaRPr sz="1100">
              <a:latin typeface="Akatab"/>
              <a:ea typeface="Akatab"/>
              <a:cs typeface="Akatab"/>
              <a:sym typeface="Akatab"/>
            </a:endParaRPr>
          </a:p>
          <a:p>
            <a:pPr indent="0" lvl="0" marL="0" rtl="0" algn="l">
              <a:spcBef>
                <a:spcPts val="0"/>
              </a:spcBef>
              <a:spcAft>
                <a:spcPts val="0"/>
              </a:spcAft>
              <a:buNone/>
            </a:pPr>
            <a:r>
              <a:rPr b="1" lang="en" sz="1100">
                <a:latin typeface="Akatab"/>
                <a:ea typeface="Akatab"/>
                <a:cs typeface="Akatab"/>
                <a:sym typeface="Akatab"/>
              </a:rPr>
              <a:t>Economic Situation Assessment</a:t>
            </a:r>
            <a:r>
              <a:rPr lang="en" sz="1100">
                <a:latin typeface="Akatab"/>
                <a:ea typeface="Akatab"/>
                <a:cs typeface="Akatab"/>
                <a:sym typeface="Akatab"/>
              </a:rPr>
              <a:t>: From a macro perspective, evaluate Dollarama's contributions to the regional and national economy, taking into account factors such as taxes, employment creation capacity, and revenue flows.</a:t>
            </a:r>
            <a:endParaRPr sz="1100">
              <a:latin typeface="Akatab"/>
              <a:ea typeface="Akatab"/>
              <a:cs typeface="Akatab"/>
              <a:sym typeface="Akatab"/>
            </a:endParaRPr>
          </a:p>
          <a:p>
            <a:pPr indent="0" lvl="0" marL="0" rtl="0" algn="l">
              <a:spcBef>
                <a:spcPts val="0"/>
              </a:spcBef>
              <a:spcAft>
                <a:spcPts val="0"/>
              </a:spcAft>
              <a:buNone/>
            </a:pPr>
            <a:r>
              <a:t/>
            </a:r>
            <a:endParaRPr sz="1100">
              <a:latin typeface="Akatab"/>
              <a:ea typeface="Akatab"/>
              <a:cs typeface="Akatab"/>
              <a:sym typeface="Akatab"/>
            </a:endParaRPr>
          </a:p>
        </p:txBody>
      </p:sp>
      <p:sp>
        <p:nvSpPr>
          <p:cNvPr id="270" name="Google Shape;270;p28"/>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15</a:t>
            </a:r>
            <a:endParaRPr sz="1200">
              <a:solidFill>
                <a:schemeClr val="dk1"/>
              </a:solidFill>
              <a:latin typeface="Noto Serif Ethiopic"/>
              <a:ea typeface="Noto Serif Ethiopic"/>
              <a:cs typeface="Noto Serif Ethiopic"/>
              <a:sym typeface="Noto Serif Ethiopic"/>
            </a:endParaRPr>
          </a:p>
        </p:txBody>
      </p:sp>
      <p:sp>
        <p:nvSpPr>
          <p:cNvPr id="271" name="Google Shape;271;p28"/>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id="276" name="Google Shape;276;p29"/>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277" name="Google Shape;277;p29"/>
          <p:cNvSpPr txBox="1"/>
          <p:nvPr>
            <p:ph type="title"/>
          </p:nvPr>
        </p:nvSpPr>
        <p:spPr>
          <a:xfrm>
            <a:off x="72030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08 Development Justification </a:t>
            </a:r>
            <a:endParaRPr sz="1800"/>
          </a:p>
        </p:txBody>
      </p:sp>
      <p:sp>
        <p:nvSpPr>
          <p:cNvPr id="278" name="Google Shape;278;p29"/>
          <p:cNvSpPr txBox="1"/>
          <p:nvPr/>
        </p:nvSpPr>
        <p:spPr>
          <a:xfrm>
            <a:off x="493207" y="925812"/>
            <a:ext cx="8158200" cy="329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Akatab"/>
                <a:ea typeface="Akatab"/>
                <a:cs typeface="Akatab"/>
                <a:sym typeface="Akatab"/>
              </a:rPr>
              <a:t>3. Technological Innovation</a:t>
            </a:r>
            <a:endParaRPr sz="1200">
              <a:latin typeface="Akatab"/>
              <a:ea typeface="Akatab"/>
              <a:cs typeface="Akatab"/>
              <a:sym typeface="Akatab"/>
            </a:endParaRPr>
          </a:p>
          <a:p>
            <a:pPr indent="0" lvl="0" marL="0" rtl="0" algn="l">
              <a:spcBef>
                <a:spcPts val="0"/>
              </a:spcBef>
              <a:spcAft>
                <a:spcPts val="0"/>
              </a:spcAft>
              <a:buNone/>
            </a:pPr>
            <a:r>
              <a:rPr lang="en" sz="1200">
                <a:latin typeface="Akatab"/>
                <a:ea typeface="Akatab"/>
                <a:cs typeface="Akatab"/>
                <a:sym typeface="Akatab"/>
              </a:rPr>
              <a:t> </a:t>
            </a:r>
            <a:endParaRPr sz="1200">
              <a:latin typeface="Akatab"/>
              <a:ea typeface="Akatab"/>
              <a:cs typeface="Akatab"/>
              <a:sym typeface="Akatab"/>
            </a:endParaRPr>
          </a:p>
          <a:p>
            <a:pPr indent="0" lvl="0" marL="0" rtl="0" algn="l">
              <a:spcBef>
                <a:spcPts val="0"/>
              </a:spcBef>
              <a:spcAft>
                <a:spcPts val="0"/>
              </a:spcAft>
              <a:buNone/>
            </a:pPr>
            <a:r>
              <a:rPr b="1" lang="en" sz="1200">
                <a:latin typeface="Akatab"/>
                <a:ea typeface="Akatab"/>
                <a:cs typeface="Akatab"/>
                <a:sym typeface="Akatab"/>
              </a:rPr>
              <a:t>Support of Technology</a:t>
            </a:r>
            <a:r>
              <a:rPr lang="en" sz="1200">
                <a:latin typeface="Akatab"/>
                <a:ea typeface="Akatab"/>
                <a:cs typeface="Akatab"/>
                <a:sym typeface="Akatab"/>
              </a:rPr>
              <a:t>: Considering the markets in which Dollarama operates, indicate which technologies can be used appropriately in terms of business development. Explain with examples the advantages it will provide to the company.</a:t>
            </a:r>
            <a:endParaRPr sz="1200">
              <a:latin typeface="Akatab"/>
              <a:ea typeface="Akatab"/>
              <a:cs typeface="Akatab"/>
              <a:sym typeface="Akatab"/>
            </a:endParaRPr>
          </a:p>
          <a:p>
            <a:pPr indent="0" lvl="0" marL="0" rtl="0" algn="l">
              <a:spcBef>
                <a:spcPts val="0"/>
              </a:spcBef>
              <a:spcAft>
                <a:spcPts val="0"/>
              </a:spcAft>
              <a:buNone/>
            </a:pPr>
            <a:r>
              <a:t/>
            </a:r>
            <a:endParaRPr sz="1200">
              <a:latin typeface="Akatab"/>
              <a:ea typeface="Akatab"/>
              <a:cs typeface="Akatab"/>
              <a:sym typeface="Akatab"/>
            </a:endParaRPr>
          </a:p>
          <a:p>
            <a:pPr indent="0" lvl="0" marL="0" rtl="0" algn="l">
              <a:spcBef>
                <a:spcPts val="0"/>
              </a:spcBef>
              <a:spcAft>
                <a:spcPts val="0"/>
              </a:spcAft>
              <a:buNone/>
            </a:pPr>
            <a:r>
              <a:rPr b="1" lang="en" sz="1200">
                <a:latin typeface="Akatab"/>
                <a:ea typeface="Akatab"/>
                <a:cs typeface="Akatab"/>
                <a:sym typeface="Akatab"/>
              </a:rPr>
              <a:t>Digital Strategy</a:t>
            </a:r>
            <a:r>
              <a:rPr lang="en" sz="1200">
                <a:latin typeface="Akatab"/>
                <a:ea typeface="Akatab"/>
                <a:cs typeface="Akatab"/>
                <a:sym typeface="Akatab"/>
              </a:rPr>
              <a:t>: Design a digital strategy that will enable Dollarama to optimize customer experiences with the technology support you specify.</a:t>
            </a:r>
            <a:endParaRPr sz="1200">
              <a:latin typeface="Akatab"/>
              <a:ea typeface="Akatab"/>
              <a:cs typeface="Akatab"/>
              <a:sym typeface="Akatab"/>
            </a:endParaRPr>
          </a:p>
          <a:p>
            <a:pPr indent="0" lvl="0" marL="0" rtl="0" algn="l">
              <a:spcBef>
                <a:spcPts val="0"/>
              </a:spcBef>
              <a:spcAft>
                <a:spcPts val="0"/>
              </a:spcAft>
              <a:buNone/>
            </a:pPr>
            <a:r>
              <a:t/>
            </a:r>
            <a:endParaRPr sz="1200">
              <a:latin typeface="Akatab"/>
              <a:ea typeface="Akatab"/>
              <a:cs typeface="Akatab"/>
              <a:sym typeface="Akatab"/>
            </a:endParaRPr>
          </a:p>
          <a:p>
            <a:pPr indent="0" lvl="0" marL="0" rtl="0" algn="l">
              <a:spcBef>
                <a:spcPts val="0"/>
              </a:spcBef>
              <a:spcAft>
                <a:spcPts val="0"/>
              </a:spcAft>
              <a:buNone/>
            </a:pPr>
            <a:r>
              <a:rPr lang="en" sz="1200">
                <a:latin typeface="Akatab"/>
                <a:ea typeface="Akatab"/>
                <a:cs typeface="Akatab"/>
                <a:sym typeface="Akatab"/>
              </a:rPr>
              <a:t>4. Social Impact</a:t>
            </a:r>
            <a:endParaRPr sz="1200">
              <a:latin typeface="Akatab"/>
              <a:ea typeface="Akatab"/>
              <a:cs typeface="Akatab"/>
              <a:sym typeface="Akatab"/>
            </a:endParaRPr>
          </a:p>
          <a:p>
            <a:pPr indent="0" lvl="0" marL="0" rtl="0" algn="l">
              <a:spcBef>
                <a:spcPts val="0"/>
              </a:spcBef>
              <a:spcAft>
                <a:spcPts val="0"/>
              </a:spcAft>
              <a:buNone/>
            </a:pPr>
            <a:r>
              <a:t/>
            </a:r>
            <a:endParaRPr sz="1200">
              <a:latin typeface="Akatab"/>
              <a:ea typeface="Akatab"/>
              <a:cs typeface="Akatab"/>
              <a:sym typeface="Akatab"/>
            </a:endParaRPr>
          </a:p>
          <a:p>
            <a:pPr indent="0" lvl="0" marL="0" rtl="0" algn="l">
              <a:spcBef>
                <a:spcPts val="0"/>
              </a:spcBef>
              <a:spcAft>
                <a:spcPts val="0"/>
              </a:spcAft>
              <a:buNone/>
            </a:pPr>
            <a:r>
              <a:rPr b="1" lang="en" sz="1200">
                <a:latin typeface="Akatab"/>
                <a:ea typeface="Akatab"/>
                <a:cs typeface="Akatab"/>
                <a:sym typeface="Akatab"/>
              </a:rPr>
              <a:t>Community Engagement and Development</a:t>
            </a:r>
            <a:r>
              <a:rPr lang="en" sz="1200">
                <a:latin typeface="Akatab"/>
                <a:ea typeface="Akatab"/>
                <a:cs typeface="Akatab"/>
                <a:sym typeface="Akatab"/>
              </a:rPr>
              <a:t>: Outline initiatives to engage and contribute to the community, such as local hiring practices, community service projects, or partnerships with local organizations.</a:t>
            </a:r>
            <a:endParaRPr sz="1200">
              <a:latin typeface="Akatab"/>
              <a:ea typeface="Akatab"/>
              <a:cs typeface="Akatab"/>
              <a:sym typeface="Akatab"/>
            </a:endParaRPr>
          </a:p>
          <a:p>
            <a:pPr indent="0" lvl="0" marL="0" rtl="0" algn="l">
              <a:spcBef>
                <a:spcPts val="0"/>
              </a:spcBef>
              <a:spcAft>
                <a:spcPts val="0"/>
              </a:spcAft>
              <a:buNone/>
            </a:pPr>
            <a:r>
              <a:t/>
            </a:r>
            <a:endParaRPr sz="1200">
              <a:latin typeface="Akatab"/>
              <a:ea typeface="Akatab"/>
              <a:cs typeface="Akatab"/>
              <a:sym typeface="Akatab"/>
            </a:endParaRPr>
          </a:p>
          <a:p>
            <a:pPr indent="0" lvl="0" marL="0" rtl="0" algn="l">
              <a:spcBef>
                <a:spcPts val="0"/>
              </a:spcBef>
              <a:spcAft>
                <a:spcPts val="0"/>
              </a:spcAft>
              <a:buNone/>
            </a:pPr>
            <a:r>
              <a:rPr b="1" lang="en" sz="1200">
                <a:latin typeface="Akatab"/>
                <a:ea typeface="Akatab"/>
                <a:cs typeface="Akatab"/>
                <a:sym typeface="Akatab"/>
              </a:rPr>
              <a:t>Sustainability Practices</a:t>
            </a:r>
            <a:r>
              <a:rPr lang="en" sz="1200">
                <a:latin typeface="Akatab"/>
                <a:ea typeface="Akatab"/>
                <a:cs typeface="Akatab"/>
                <a:sym typeface="Akatab"/>
              </a:rPr>
              <a:t>: Design a sustainability strategy that focuses on ensuring environmentally friendly, ethical and fair management.</a:t>
            </a:r>
            <a:endParaRPr sz="1200">
              <a:latin typeface="Akatab"/>
              <a:ea typeface="Akatab"/>
              <a:cs typeface="Akatab"/>
              <a:sym typeface="Akatab"/>
            </a:endParaRPr>
          </a:p>
          <a:p>
            <a:pPr indent="0" lvl="0" marL="0" rtl="0" algn="l">
              <a:spcBef>
                <a:spcPts val="0"/>
              </a:spcBef>
              <a:spcAft>
                <a:spcPts val="0"/>
              </a:spcAft>
              <a:buNone/>
            </a:pPr>
            <a:r>
              <a:t/>
            </a:r>
            <a:endParaRPr sz="1200">
              <a:latin typeface="Akatab"/>
              <a:ea typeface="Akatab"/>
              <a:cs typeface="Akatab"/>
              <a:sym typeface="Akatab"/>
            </a:endParaRPr>
          </a:p>
        </p:txBody>
      </p:sp>
      <p:sp>
        <p:nvSpPr>
          <p:cNvPr id="279" name="Google Shape;279;p29"/>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16</a:t>
            </a:r>
            <a:endParaRPr sz="1200">
              <a:solidFill>
                <a:schemeClr val="dk1"/>
              </a:solidFill>
              <a:latin typeface="Noto Serif Ethiopic"/>
              <a:ea typeface="Noto Serif Ethiopic"/>
              <a:cs typeface="Noto Serif Ethiopic"/>
              <a:sym typeface="Noto Serif Ethiopic"/>
            </a:endParaRPr>
          </a:p>
        </p:txBody>
      </p:sp>
      <p:sp>
        <p:nvSpPr>
          <p:cNvPr id="280" name="Google Shape;280;p29"/>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p30"/>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286" name="Google Shape;286;p30"/>
          <p:cNvSpPr txBox="1"/>
          <p:nvPr>
            <p:ph type="title"/>
          </p:nvPr>
        </p:nvSpPr>
        <p:spPr>
          <a:xfrm>
            <a:off x="503683"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09 New Product Contribution to Growth </a:t>
            </a:r>
            <a:endParaRPr sz="1800"/>
          </a:p>
        </p:txBody>
      </p:sp>
      <p:sp>
        <p:nvSpPr>
          <p:cNvPr id="287" name="Google Shape;287;p30"/>
          <p:cNvSpPr txBox="1"/>
          <p:nvPr/>
        </p:nvSpPr>
        <p:spPr>
          <a:xfrm>
            <a:off x="606150" y="892050"/>
            <a:ext cx="7931700" cy="334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latin typeface="Akatab"/>
                <a:ea typeface="Akatab"/>
                <a:cs typeface="Akatab"/>
                <a:sym typeface="Akatab"/>
              </a:rPr>
              <a:t>Online Store</a:t>
            </a:r>
            <a:endParaRPr b="1" sz="1200">
              <a:latin typeface="Akatab"/>
              <a:ea typeface="Akatab"/>
              <a:cs typeface="Akatab"/>
              <a:sym typeface="Akatab"/>
            </a:endParaRPr>
          </a:p>
          <a:p>
            <a:pPr indent="0" lvl="0" marL="0" rtl="0" algn="l">
              <a:lnSpc>
                <a:spcPct val="115000"/>
              </a:lnSpc>
              <a:spcBef>
                <a:spcPts val="0"/>
              </a:spcBef>
              <a:spcAft>
                <a:spcPts val="0"/>
              </a:spcAft>
              <a:buNone/>
            </a:pPr>
            <a:r>
              <a:t/>
            </a:r>
            <a:endParaRPr b="1" sz="1200">
              <a:latin typeface="Akatab"/>
              <a:ea typeface="Akatab"/>
              <a:cs typeface="Akatab"/>
              <a:sym typeface="Akatab"/>
            </a:endParaRPr>
          </a:p>
          <a:p>
            <a:pPr indent="-304800" lvl="0" marL="457200" rtl="0" algn="l">
              <a:lnSpc>
                <a:spcPct val="115000"/>
              </a:lnSpc>
              <a:spcBef>
                <a:spcPts val="0"/>
              </a:spcBef>
              <a:spcAft>
                <a:spcPts val="0"/>
              </a:spcAft>
              <a:buSzPts val="1200"/>
              <a:buFont typeface="Akatab"/>
              <a:buChar char="●"/>
            </a:pPr>
            <a:r>
              <a:rPr lang="en" sz="1200">
                <a:latin typeface="Akatab"/>
                <a:ea typeface="Akatab"/>
                <a:cs typeface="Akatab"/>
                <a:sym typeface="Akatab"/>
              </a:rPr>
              <a:t>Dollarama can increase sales by reaching out to clients that buy online &gt; expansion adds a new revenue stream outside of its physical shop locations &gt; which boosts overall sales revenue.</a:t>
            </a:r>
            <a:endParaRPr sz="1200">
              <a:latin typeface="Akatab"/>
              <a:ea typeface="Akatab"/>
              <a:cs typeface="Akatab"/>
              <a:sym typeface="Akatab"/>
            </a:endParaRPr>
          </a:p>
          <a:p>
            <a:pPr indent="0" lvl="0" marL="0" rtl="0" algn="l">
              <a:lnSpc>
                <a:spcPct val="115000"/>
              </a:lnSpc>
              <a:spcBef>
                <a:spcPts val="0"/>
              </a:spcBef>
              <a:spcAft>
                <a:spcPts val="0"/>
              </a:spcAft>
              <a:buNone/>
            </a:pPr>
            <a:r>
              <a:t/>
            </a:r>
            <a:endParaRPr sz="1200">
              <a:latin typeface="Akatab"/>
              <a:ea typeface="Akatab"/>
              <a:cs typeface="Akatab"/>
              <a:sym typeface="Akatab"/>
            </a:endParaRPr>
          </a:p>
          <a:p>
            <a:pPr indent="0" lvl="0" marL="0" rtl="0" algn="l">
              <a:lnSpc>
                <a:spcPct val="115000"/>
              </a:lnSpc>
              <a:spcBef>
                <a:spcPts val="0"/>
              </a:spcBef>
              <a:spcAft>
                <a:spcPts val="0"/>
              </a:spcAft>
              <a:buNone/>
            </a:pPr>
            <a:r>
              <a:t/>
            </a:r>
            <a:endParaRPr sz="1200">
              <a:latin typeface="Akatab"/>
              <a:ea typeface="Akatab"/>
              <a:cs typeface="Akatab"/>
              <a:sym typeface="Akatab"/>
            </a:endParaRPr>
          </a:p>
          <a:p>
            <a:pPr indent="-304800" lvl="0" marL="457200" rtl="0" algn="l">
              <a:lnSpc>
                <a:spcPct val="115000"/>
              </a:lnSpc>
              <a:spcBef>
                <a:spcPts val="0"/>
              </a:spcBef>
              <a:spcAft>
                <a:spcPts val="0"/>
              </a:spcAft>
              <a:buSzPts val="1200"/>
              <a:buFont typeface="Akatab"/>
              <a:buChar char="●"/>
            </a:pPr>
            <a:r>
              <a:rPr lang="en" sz="1200">
                <a:latin typeface="Akatab"/>
                <a:ea typeface="Akatab"/>
                <a:cs typeface="Akatab"/>
                <a:sym typeface="Akatab"/>
              </a:rPr>
              <a:t>Dollarama may connect with customers outside of its typical geographic areas. Through the attraction of customers who would not have easy access to actual Dollarama locations &gt; this allows the brand to tap into new markets and demographics, resulting in incremental growth.</a:t>
            </a:r>
            <a:endParaRPr sz="1200">
              <a:latin typeface="Akatab"/>
              <a:ea typeface="Akatab"/>
              <a:cs typeface="Akatab"/>
              <a:sym typeface="Akatab"/>
            </a:endParaRPr>
          </a:p>
          <a:p>
            <a:pPr indent="0" lvl="0" marL="0" rtl="0" algn="l">
              <a:lnSpc>
                <a:spcPct val="115000"/>
              </a:lnSpc>
              <a:spcBef>
                <a:spcPts val="0"/>
              </a:spcBef>
              <a:spcAft>
                <a:spcPts val="0"/>
              </a:spcAft>
              <a:buNone/>
            </a:pPr>
            <a:r>
              <a:t/>
            </a:r>
            <a:endParaRPr sz="1200">
              <a:latin typeface="Akatab"/>
              <a:ea typeface="Akatab"/>
              <a:cs typeface="Akatab"/>
              <a:sym typeface="Akatab"/>
            </a:endParaRPr>
          </a:p>
          <a:p>
            <a:pPr indent="0" lvl="0" marL="0" rtl="0" algn="l">
              <a:lnSpc>
                <a:spcPct val="115000"/>
              </a:lnSpc>
              <a:spcBef>
                <a:spcPts val="0"/>
              </a:spcBef>
              <a:spcAft>
                <a:spcPts val="0"/>
              </a:spcAft>
              <a:buNone/>
            </a:pPr>
            <a:r>
              <a:t/>
            </a:r>
            <a:endParaRPr sz="1200">
              <a:latin typeface="Akatab"/>
              <a:ea typeface="Akatab"/>
              <a:cs typeface="Akatab"/>
              <a:sym typeface="Akatab"/>
            </a:endParaRPr>
          </a:p>
          <a:p>
            <a:pPr indent="-304800" lvl="0" marL="457200" rtl="0" algn="l">
              <a:lnSpc>
                <a:spcPct val="115000"/>
              </a:lnSpc>
              <a:spcBef>
                <a:spcPts val="0"/>
              </a:spcBef>
              <a:spcAft>
                <a:spcPts val="0"/>
              </a:spcAft>
              <a:buSzPts val="1200"/>
              <a:buFont typeface="Akatab"/>
              <a:buChar char="●"/>
            </a:pPr>
            <a:r>
              <a:rPr lang="en" sz="1200">
                <a:latin typeface="Akatab"/>
                <a:ea typeface="Akatab"/>
                <a:cs typeface="Akatab"/>
                <a:sym typeface="Akatab"/>
              </a:rPr>
              <a:t>Investing in e-commerce infrastructure and technology helps Dollarama to maintain its competitiveness in the quickly changing retail market &gt; providing a perfect online shopping experience and utilizing innovative features, Dollarama can set itself apart from rivals and draw in more clients, which will gradually increase its market share.</a:t>
            </a:r>
            <a:endParaRPr sz="1200">
              <a:latin typeface="Akatab"/>
              <a:ea typeface="Akatab"/>
              <a:cs typeface="Akatab"/>
              <a:sym typeface="Akatab"/>
            </a:endParaRPr>
          </a:p>
        </p:txBody>
      </p:sp>
      <p:sp>
        <p:nvSpPr>
          <p:cNvPr id="288" name="Google Shape;288;p30"/>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17</a:t>
            </a:r>
            <a:endParaRPr sz="1200">
              <a:solidFill>
                <a:schemeClr val="dk1"/>
              </a:solidFill>
              <a:latin typeface="Noto Serif Ethiopic"/>
              <a:ea typeface="Noto Serif Ethiopic"/>
              <a:cs typeface="Noto Serif Ethiopic"/>
              <a:sym typeface="Noto Serif Ethiopic"/>
            </a:endParaRPr>
          </a:p>
        </p:txBody>
      </p:sp>
      <p:sp>
        <p:nvSpPr>
          <p:cNvPr id="289" name="Google Shape;289;p30"/>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id="294" name="Google Shape;294;p31"/>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295" name="Google Shape;295;p31"/>
          <p:cNvSpPr txBox="1"/>
          <p:nvPr>
            <p:ph type="title"/>
          </p:nvPr>
        </p:nvSpPr>
        <p:spPr>
          <a:xfrm>
            <a:off x="503683"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09 New Product Contribution to Growth </a:t>
            </a:r>
            <a:endParaRPr sz="1800"/>
          </a:p>
        </p:txBody>
      </p:sp>
      <p:sp>
        <p:nvSpPr>
          <p:cNvPr id="296" name="Google Shape;296;p31"/>
          <p:cNvSpPr txBox="1"/>
          <p:nvPr/>
        </p:nvSpPr>
        <p:spPr>
          <a:xfrm>
            <a:off x="654750" y="892060"/>
            <a:ext cx="7834500" cy="335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latin typeface="Akatab"/>
                <a:ea typeface="Akatab"/>
                <a:cs typeface="Akatab"/>
                <a:sym typeface="Akatab"/>
              </a:rPr>
              <a:t>Healthy Snacks section</a:t>
            </a:r>
            <a:endParaRPr b="1" sz="1200">
              <a:latin typeface="Akatab"/>
              <a:ea typeface="Akatab"/>
              <a:cs typeface="Akatab"/>
              <a:sym typeface="Akatab"/>
            </a:endParaRPr>
          </a:p>
          <a:p>
            <a:pPr indent="0" lvl="0" marL="0" rtl="0" algn="l">
              <a:lnSpc>
                <a:spcPct val="115000"/>
              </a:lnSpc>
              <a:spcBef>
                <a:spcPts val="0"/>
              </a:spcBef>
              <a:spcAft>
                <a:spcPts val="0"/>
              </a:spcAft>
              <a:buNone/>
            </a:pPr>
            <a:r>
              <a:t/>
            </a:r>
            <a:endParaRPr b="1" sz="1200">
              <a:latin typeface="Akatab"/>
              <a:ea typeface="Akatab"/>
              <a:cs typeface="Akatab"/>
              <a:sym typeface="Akatab"/>
            </a:endParaRPr>
          </a:p>
          <a:p>
            <a:pPr indent="-304800" lvl="0" marL="457200" rtl="0" algn="l">
              <a:lnSpc>
                <a:spcPct val="115000"/>
              </a:lnSpc>
              <a:spcBef>
                <a:spcPts val="0"/>
              </a:spcBef>
              <a:spcAft>
                <a:spcPts val="0"/>
              </a:spcAft>
              <a:buSzPts val="1200"/>
              <a:buFont typeface="Akatab"/>
              <a:buChar char="●"/>
            </a:pPr>
            <a:r>
              <a:rPr lang="en" sz="1200">
                <a:latin typeface="Akatab"/>
                <a:ea typeface="Akatab"/>
                <a:cs typeface="Akatab"/>
                <a:sym typeface="Akatab"/>
              </a:rPr>
              <a:t>Dollarama may reach a new market of health-conscious consumers by providing a wide selection of nutritious snacks &gt; can serve customers who are actively looking for wholesome substitutes and who are health-conscious. The extension enhances foot activity in the snack area and diversifies Dollarama's customer base.</a:t>
            </a:r>
            <a:endParaRPr sz="1200">
              <a:latin typeface="Akatab"/>
              <a:ea typeface="Akatab"/>
              <a:cs typeface="Akatab"/>
              <a:sym typeface="Akatab"/>
            </a:endParaRPr>
          </a:p>
          <a:p>
            <a:pPr indent="0" lvl="0" marL="0" rtl="0" algn="l">
              <a:lnSpc>
                <a:spcPct val="115000"/>
              </a:lnSpc>
              <a:spcBef>
                <a:spcPts val="0"/>
              </a:spcBef>
              <a:spcAft>
                <a:spcPts val="0"/>
              </a:spcAft>
              <a:buNone/>
            </a:pPr>
            <a:r>
              <a:t/>
            </a:r>
            <a:endParaRPr sz="1200">
              <a:latin typeface="Akatab"/>
              <a:ea typeface="Akatab"/>
              <a:cs typeface="Akatab"/>
              <a:sym typeface="Akatab"/>
            </a:endParaRPr>
          </a:p>
          <a:p>
            <a:pPr indent="-304800" lvl="0" marL="457200" rtl="0" algn="l">
              <a:lnSpc>
                <a:spcPct val="115000"/>
              </a:lnSpc>
              <a:spcBef>
                <a:spcPts val="0"/>
              </a:spcBef>
              <a:spcAft>
                <a:spcPts val="0"/>
              </a:spcAft>
              <a:buSzPts val="1200"/>
              <a:buFont typeface="Akatab"/>
              <a:buChar char="●"/>
            </a:pPr>
            <a:r>
              <a:rPr lang="en" sz="1200">
                <a:latin typeface="Akatab"/>
                <a:ea typeface="Akatab"/>
                <a:cs typeface="Akatab"/>
                <a:sym typeface="Akatab"/>
              </a:rPr>
              <a:t>By taking advantage of the increased demand for healthier food options &gt; expanding the line of healthy snacks can result in incremental sales growth. Consumers might be more likely to make their purchases there, increasing overall sales.</a:t>
            </a:r>
            <a:endParaRPr sz="1200">
              <a:latin typeface="Akatab"/>
              <a:ea typeface="Akatab"/>
              <a:cs typeface="Akatab"/>
              <a:sym typeface="Akatab"/>
            </a:endParaRPr>
          </a:p>
          <a:p>
            <a:pPr indent="0" lvl="0" marL="0" rtl="0" algn="l">
              <a:lnSpc>
                <a:spcPct val="115000"/>
              </a:lnSpc>
              <a:spcBef>
                <a:spcPts val="0"/>
              </a:spcBef>
              <a:spcAft>
                <a:spcPts val="0"/>
              </a:spcAft>
              <a:buNone/>
            </a:pPr>
            <a:r>
              <a:t/>
            </a:r>
            <a:endParaRPr sz="1200">
              <a:latin typeface="Akatab"/>
              <a:ea typeface="Akatab"/>
              <a:cs typeface="Akatab"/>
              <a:sym typeface="Akatab"/>
            </a:endParaRPr>
          </a:p>
          <a:p>
            <a:pPr indent="-304800" lvl="0" marL="457200" rtl="0" algn="l">
              <a:lnSpc>
                <a:spcPct val="115000"/>
              </a:lnSpc>
              <a:spcBef>
                <a:spcPts val="0"/>
              </a:spcBef>
              <a:spcAft>
                <a:spcPts val="0"/>
              </a:spcAft>
              <a:buSzPts val="1200"/>
              <a:buFont typeface="Akatab"/>
              <a:buChar char="●"/>
            </a:pPr>
            <a:r>
              <a:rPr lang="en" sz="1200">
                <a:latin typeface="Akatab"/>
                <a:ea typeface="Akatab"/>
                <a:cs typeface="Akatab"/>
                <a:sym typeface="Akatab"/>
              </a:rPr>
              <a:t>Healthy snack options are in greater demand as customers become more aware of what they put in their bodies. By addressing this trend and providing a wide range of wholesome snacks, Dollarama can take advantage of consumer preferences &gt; generate additional growth by taking a bigger chunk of the market for wholesome snack goods.</a:t>
            </a:r>
            <a:endParaRPr sz="1200">
              <a:latin typeface="Akatab"/>
              <a:ea typeface="Akatab"/>
              <a:cs typeface="Akatab"/>
              <a:sym typeface="Akatab"/>
            </a:endParaRPr>
          </a:p>
        </p:txBody>
      </p:sp>
      <p:sp>
        <p:nvSpPr>
          <p:cNvPr id="297" name="Google Shape;297;p31"/>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18</a:t>
            </a:r>
            <a:endParaRPr sz="1200">
              <a:solidFill>
                <a:schemeClr val="dk1"/>
              </a:solidFill>
              <a:latin typeface="Noto Serif Ethiopic"/>
              <a:ea typeface="Noto Serif Ethiopic"/>
              <a:cs typeface="Noto Serif Ethiopic"/>
              <a:sym typeface="Noto Serif Ethiopic"/>
            </a:endParaRPr>
          </a:p>
        </p:txBody>
      </p:sp>
      <p:sp>
        <p:nvSpPr>
          <p:cNvPr id="298" name="Google Shape;298;p31"/>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id="303" name="Google Shape;303;p32"/>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304" name="Google Shape;304;p32"/>
          <p:cNvSpPr txBox="1"/>
          <p:nvPr>
            <p:ph type="title"/>
          </p:nvPr>
        </p:nvSpPr>
        <p:spPr>
          <a:xfrm>
            <a:off x="503683"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09 New Product Contribution to Growth </a:t>
            </a:r>
            <a:endParaRPr sz="1800"/>
          </a:p>
        </p:txBody>
      </p:sp>
      <p:sp>
        <p:nvSpPr>
          <p:cNvPr id="305" name="Google Shape;305;p32"/>
          <p:cNvSpPr txBox="1"/>
          <p:nvPr/>
        </p:nvSpPr>
        <p:spPr>
          <a:xfrm>
            <a:off x="567275" y="997950"/>
            <a:ext cx="7576800" cy="3147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latin typeface="Akatab"/>
                <a:ea typeface="Akatab"/>
                <a:cs typeface="Akatab"/>
                <a:sym typeface="Akatab"/>
              </a:rPr>
              <a:t>Customer loyalty system</a:t>
            </a:r>
            <a:endParaRPr b="1" sz="1200">
              <a:latin typeface="Akatab"/>
              <a:ea typeface="Akatab"/>
              <a:cs typeface="Akatab"/>
              <a:sym typeface="Akatab"/>
            </a:endParaRPr>
          </a:p>
          <a:p>
            <a:pPr indent="0" lvl="0" marL="0" rtl="0" algn="l">
              <a:lnSpc>
                <a:spcPct val="115000"/>
              </a:lnSpc>
              <a:spcBef>
                <a:spcPts val="0"/>
              </a:spcBef>
              <a:spcAft>
                <a:spcPts val="0"/>
              </a:spcAft>
              <a:buNone/>
            </a:pPr>
            <a:r>
              <a:t/>
            </a:r>
            <a:endParaRPr b="1" sz="1200">
              <a:latin typeface="Akatab"/>
              <a:ea typeface="Akatab"/>
              <a:cs typeface="Akatab"/>
              <a:sym typeface="Akatab"/>
            </a:endParaRPr>
          </a:p>
          <a:p>
            <a:pPr indent="-304800" lvl="0" marL="457200" rtl="0" algn="l">
              <a:lnSpc>
                <a:spcPct val="115000"/>
              </a:lnSpc>
              <a:spcBef>
                <a:spcPts val="0"/>
              </a:spcBef>
              <a:spcAft>
                <a:spcPts val="0"/>
              </a:spcAft>
              <a:buSzPts val="1200"/>
              <a:buFont typeface="Akatab"/>
              <a:buChar char="●"/>
            </a:pPr>
            <a:r>
              <a:rPr lang="en" sz="1200">
                <a:latin typeface="Akatab"/>
                <a:ea typeface="Akatab"/>
                <a:cs typeface="Akatab"/>
                <a:sym typeface="Akatab"/>
              </a:rPr>
              <a:t>Dollarama offers clients points for each dollar they spend, which encourages them to make additional purchases. Customers are enticed to visit Dollarama outlets again in order to accrue points and claim rewards &gt; which eventually results in a rise in their total spending at the locations.</a:t>
            </a:r>
            <a:endParaRPr sz="1200">
              <a:latin typeface="Akatab"/>
              <a:ea typeface="Akatab"/>
              <a:cs typeface="Akatab"/>
              <a:sym typeface="Akatab"/>
            </a:endParaRPr>
          </a:p>
          <a:p>
            <a:pPr indent="0" lvl="0" marL="0" rtl="0" algn="l">
              <a:lnSpc>
                <a:spcPct val="115000"/>
              </a:lnSpc>
              <a:spcBef>
                <a:spcPts val="0"/>
              </a:spcBef>
              <a:spcAft>
                <a:spcPts val="0"/>
              </a:spcAft>
              <a:buNone/>
            </a:pPr>
            <a:r>
              <a:t/>
            </a:r>
            <a:endParaRPr sz="1200">
              <a:latin typeface="Akatab"/>
              <a:ea typeface="Akatab"/>
              <a:cs typeface="Akatab"/>
              <a:sym typeface="Akatab"/>
            </a:endParaRPr>
          </a:p>
          <a:p>
            <a:pPr indent="-304800" lvl="0" marL="457200" rtl="0" algn="l">
              <a:lnSpc>
                <a:spcPct val="115000"/>
              </a:lnSpc>
              <a:spcBef>
                <a:spcPts val="0"/>
              </a:spcBef>
              <a:spcAft>
                <a:spcPts val="0"/>
              </a:spcAft>
              <a:buSzPts val="1200"/>
              <a:buFont typeface="Akatab"/>
              <a:buChar char="●"/>
            </a:pPr>
            <a:r>
              <a:rPr lang="en" sz="1200">
                <a:latin typeface="Akatab"/>
                <a:ea typeface="Akatab"/>
                <a:cs typeface="Akatab"/>
                <a:sym typeface="Akatab"/>
              </a:rPr>
              <a:t>A strong loyalty plan may set Dollarama apart from rivals and attract new and retain consumers. Dollarama obtains a competitive edge in the market and propels growth and profitability by encouraging consumer engagement and repeat business.</a:t>
            </a:r>
            <a:endParaRPr sz="1200">
              <a:latin typeface="Akatab"/>
              <a:ea typeface="Akatab"/>
              <a:cs typeface="Akatab"/>
              <a:sym typeface="Akatab"/>
            </a:endParaRPr>
          </a:p>
          <a:p>
            <a:pPr indent="0" lvl="0" marL="0" rtl="0" algn="l">
              <a:lnSpc>
                <a:spcPct val="115000"/>
              </a:lnSpc>
              <a:spcBef>
                <a:spcPts val="0"/>
              </a:spcBef>
              <a:spcAft>
                <a:spcPts val="0"/>
              </a:spcAft>
              <a:buNone/>
            </a:pPr>
            <a:r>
              <a:t/>
            </a:r>
            <a:endParaRPr sz="1200">
              <a:latin typeface="Akatab"/>
              <a:ea typeface="Akatab"/>
              <a:cs typeface="Akatab"/>
              <a:sym typeface="Akatab"/>
            </a:endParaRPr>
          </a:p>
          <a:p>
            <a:pPr indent="-304800" lvl="0" marL="457200" rtl="0" algn="l">
              <a:lnSpc>
                <a:spcPct val="115000"/>
              </a:lnSpc>
              <a:spcBef>
                <a:spcPts val="0"/>
              </a:spcBef>
              <a:spcAft>
                <a:spcPts val="0"/>
              </a:spcAft>
              <a:buSzPts val="1200"/>
              <a:buFont typeface="Akatab"/>
              <a:buChar char="●"/>
            </a:pPr>
            <a:r>
              <a:rPr lang="en" sz="1200">
                <a:latin typeface="Akatab"/>
                <a:ea typeface="Akatab"/>
                <a:cs typeface="Akatab"/>
                <a:sym typeface="Akatab"/>
              </a:rPr>
              <a:t>Since it offers a long-term means of sustaining sales growth and profitability, Dollarama's implementation of a loyalty points program is a sustainable growth strategy. Dollarama may gradually increase both its customer base and revenue by consistently interacting with consumers and rewarding their loyalty.</a:t>
            </a:r>
            <a:endParaRPr b="1" sz="1200">
              <a:latin typeface="Akatab"/>
              <a:ea typeface="Akatab"/>
              <a:cs typeface="Akatab"/>
              <a:sym typeface="Akatab"/>
            </a:endParaRPr>
          </a:p>
        </p:txBody>
      </p:sp>
      <p:sp>
        <p:nvSpPr>
          <p:cNvPr id="306" name="Google Shape;306;p32"/>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19</a:t>
            </a:r>
            <a:endParaRPr sz="1200">
              <a:solidFill>
                <a:schemeClr val="dk1"/>
              </a:solidFill>
              <a:latin typeface="Noto Serif Ethiopic"/>
              <a:ea typeface="Noto Serif Ethiopic"/>
              <a:cs typeface="Noto Serif Ethiopic"/>
              <a:sym typeface="Noto Serif Ethiopic"/>
            </a:endParaRPr>
          </a:p>
        </p:txBody>
      </p:sp>
      <p:sp>
        <p:nvSpPr>
          <p:cNvPr id="307" name="Google Shape;307;p32"/>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id="312" name="Google Shape;312;p33"/>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313" name="Google Shape;313;p33"/>
          <p:cNvSpPr txBox="1"/>
          <p:nvPr>
            <p:ph type="title"/>
          </p:nvPr>
        </p:nvSpPr>
        <p:spPr>
          <a:xfrm>
            <a:off x="72030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10 Financial Forecast</a:t>
            </a:r>
            <a:r>
              <a:rPr lang="en" sz="1800"/>
              <a:t> </a:t>
            </a:r>
            <a:endParaRPr sz="1800"/>
          </a:p>
        </p:txBody>
      </p:sp>
      <p:sp>
        <p:nvSpPr>
          <p:cNvPr id="314" name="Google Shape;314;p33"/>
          <p:cNvSpPr txBox="1"/>
          <p:nvPr/>
        </p:nvSpPr>
        <p:spPr>
          <a:xfrm>
            <a:off x="578700" y="843425"/>
            <a:ext cx="7986600" cy="35709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SzPts val="1200"/>
              <a:buFont typeface="Urbanist"/>
              <a:buChar char="●"/>
            </a:pPr>
            <a:r>
              <a:rPr b="1" lang="en" sz="1200">
                <a:latin typeface="Akatab"/>
                <a:ea typeface="Akatab"/>
                <a:cs typeface="Akatab"/>
                <a:sym typeface="Akatab"/>
              </a:rPr>
              <a:t>Revenue Growth</a:t>
            </a:r>
            <a:r>
              <a:rPr lang="en" sz="1200">
                <a:latin typeface="Akatab"/>
                <a:ea typeface="Akatab"/>
                <a:cs typeface="Akatab"/>
                <a:sym typeface="Akatab"/>
              </a:rPr>
              <a:t>: Dollarama anticipates a 12% annual increase in revenue, reaching $6.2 billion by FY 2024, driven by sustained consumer demand and strategic store expansion.</a:t>
            </a:r>
            <a:endParaRPr sz="1200">
              <a:latin typeface="Akatab"/>
              <a:ea typeface="Akatab"/>
              <a:cs typeface="Akatab"/>
              <a:sym typeface="Akatab"/>
            </a:endParaRPr>
          </a:p>
          <a:p>
            <a:pPr indent="-304800" lvl="0" marL="457200" rtl="0" algn="l">
              <a:lnSpc>
                <a:spcPct val="115000"/>
              </a:lnSpc>
              <a:spcBef>
                <a:spcPts val="0"/>
              </a:spcBef>
              <a:spcAft>
                <a:spcPts val="0"/>
              </a:spcAft>
              <a:buSzPts val="1200"/>
              <a:buFont typeface="Urbanist"/>
              <a:buChar char="●"/>
            </a:pPr>
            <a:r>
              <a:rPr b="1" lang="en" sz="1200">
                <a:latin typeface="Akatab"/>
                <a:ea typeface="Akatab"/>
                <a:cs typeface="Akatab"/>
                <a:sym typeface="Akatab"/>
              </a:rPr>
              <a:t>Cost Management</a:t>
            </a:r>
            <a:r>
              <a:rPr lang="en" sz="1200">
                <a:latin typeface="Akatab"/>
                <a:ea typeface="Akatab"/>
                <a:cs typeface="Akatab"/>
                <a:sym typeface="Akatab"/>
              </a:rPr>
              <a:t>: Cost projections align with revenue growth, maintaining a healthy gross margin of 45% and operating expenses at 14.5% of sales, resulting in an impressive net profit margin of approximately 30%.</a:t>
            </a:r>
            <a:endParaRPr sz="1200">
              <a:latin typeface="Akatab"/>
              <a:ea typeface="Akatab"/>
              <a:cs typeface="Akatab"/>
              <a:sym typeface="Akatab"/>
            </a:endParaRPr>
          </a:p>
          <a:p>
            <a:pPr indent="-304800" lvl="0" marL="457200" rtl="0" algn="l">
              <a:lnSpc>
                <a:spcPct val="115000"/>
              </a:lnSpc>
              <a:spcBef>
                <a:spcPts val="0"/>
              </a:spcBef>
              <a:spcAft>
                <a:spcPts val="0"/>
              </a:spcAft>
              <a:buSzPts val="1200"/>
              <a:buFont typeface="Urbanist"/>
              <a:buChar char="●"/>
            </a:pPr>
            <a:r>
              <a:rPr b="1" lang="en" sz="1200">
                <a:latin typeface="Akatab"/>
                <a:ea typeface="Akatab"/>
                <a:cs typeface="Akatab"/>
                <a:sym typeface="Akatab"/>
              </a:rPr>
              <a:t>Profitability</a:t>
            </a:r>
            <a:r>
              <a:rPr lang="en" sz="1200">
                <a:latin typeface="Akatab"/>
                <a:ea typeface="Akatab"/>
                <a:cs typeface="Akatab"/>
                <a:sym typeface="Akatab"/>
              </a:rPr>
              <a:t>: Dollarama's strong operational performance is reflected in stable gross and operating profit margins, with an anticipated EBITDA margin of 32%.</a:t>
            </a:r>
            <a:endParaRPr sz="1200">
              <a:latin typeface="Akatab"/>
              <a:ea typeface="Akatab"/>
              <a:cs typeface="Akatab"/>
              <a:sym typeface="Akatab"/>
            </a:endParaRPr>
          </a:p>
          <a:p>
            <a:pPr indent="-304800" lvl="0" marL="457200" rtl="0" algn="l">
              <a:lnSpc>
                <a:spcPct val="115000"/>
              </a:lnSpc>
              <a:spcBef>
                <a:spcPts val="0"/>
              </a:spcBef>
              <a:spcAft>
                <a:spcPts val="0"/>
              </a:spcAft>
              <a:buSzPts val="1200"/>
              <a:buFont typeface="Urbanist"/>
              <a:buChar char="●"/>
            </a:pPr>
            <a:r>
              <a:rPr b="1" lang="en" sz="1200">
                <a:latin typeface="Akatab"/>
                <a:ea typeface="Akatab"/>
                <a:cs typeface="Akatab"/>
                <a:sym typeface="Akatab"/>
              </a:rPr>
              <a:t>Sales Volume Increase</a:t>
            </a:r>
            <a:r>
              <a:rPr lang="en" sz="1200">
                <a:latin typeface="Akatab"/>
                <a:ea typeface="Akatab"/>
                <a:cs typeface="Akatab"/>
                <a:sym typeface="Akatab"/>
              </a:rPr>
              <a:t>: A forecasted 10% annual sales volume increase, fueled by comparable store sales growth and strategic new store openings, demonstrates our commitment to meeting market demand and expanding our customer base.</a:t>
            </a:r>
            <a:endParaRPr sz="1200">
              <a:latin typeface="Akatab"/>
              <a:ea typeface="Akatab"/>
              <a:cs typeface="Akatab"/>
              <a:sym typeface="Akatab"/>
            </a:endParaRPr>
          </a:p>
          <a:p>
            <a:pPr indent="-304800" lvl="0" marL="457200" rtl="0" algn="l">
              <a:lnSpc>
                <a:spcPct val="115000"/>
              </a:lnSpc>
              <a:spcBef>
                <a:spcPts val="0"/>
              </a:spcBef>
              <a:spcAft>
                <a:spcPts val="0"/>
              </a:spcAft>
              <a:buSzPts val="1200"/>
              <a:buFont typeface="Urbanist"/>
              <a:buChar char="●"/>
            </a:pPr>
            <a:r>
              <a:rPr b="1" lang="en" sz="1200">
                <a:latin typeface="Akatab"/>
                <a:ea typeface="Akatab"/>
                <a:cs typeface="Akatab"/>
                <a:sym typeface="Akatab"/>
              </a:rPr>
              <a:t>Store Chains and Operations</a:t>
            </a:r>
            <a:r>
              <a:rPr lang="en" sz="1200">
                <a:latin typeface="Akatab"/>
                <a:ea typeface="Akatab"/>
                <a:cs typeface="Akatab"/>
                <a:sym typeface="Akatab"/>
              </a:rPr>
              <a:t>: </a:t>
            </a:r>
            <a:r>
              <a:rPr lang="en" sz="1200">
                <a:latin typeface="Akatab"/>
                <a:ea typeface="Akatab"/>
                <a:cs typeface="Akatab"/>
                <a:sym typeface="Akatab"/>
              </a:rPr>
              <a:t>Dollarcity's</a:t>
            </a:r>
            <a:r>
              <a:rPr lang="en" sz="1200">
                <a:latin typeface="Akatab"/>
                <a:ea typeface="Akatab"/>
                <a:cs typeface="Akatab"/>
                <a:sym typeface="Akatab"/>
              </a:rPr>
              <a:t> positive contribution to earnings is expected to continue, with plans to add 50 to 70 new stores annually, strategically targeting key locations for maximum market penetration. The stable unit repurchase rate per store further supports profitability.</a:t>
            </a:r>
            <a:endParaRPr sz="1200">
              <a:latin typeface="Akatab"/>
              <a:ea typeface="Akatab"/>
              <a:cs typeface="Akatab"/>
              <a:sym typeface="Akatab"/>
            </a:endParaRPr>
          </a:p>
          <a:p>
            <a:pPr indent="-304800" lvl="0" marL="457200" rtl="0" algn="l">
              <a:lnSpc>
                <a:spcPct val="115000"/>
              </a:lnSpc>
              <a:spcBef>
                <a:spcPts val="0"/>
              </a:spcBef>
              <a:spcAft>
                <a:spcPts val="0"/>
              </a:spcAft>
              <a:buSzPts val="1200"/>
              <a:buFont typeface="Urbanist"/>
              <a:buChar char="●"/>
            </a:pPr>
            <a:r>
              <a:rPr b="1" lang="en" sz="1200">
                <a:latin typeface="Akatab"/>
                <a:ea typeface="Akatab"/>
                <a:cs typeface="Akatab"/>
                <a:sym typeface="Akatab"/>
              </a:rPr>
              <a:t>Financial Summary</a:t>
            </a:r>
            <a:r>
              <a:rPr lang="en" sz="1200">
                <a:latin typeface="Akatab"/>
                <a:ea typeface="Akatab"/>
                <a:cs typeface="Akatab"/>
                <a:sym typeface="Akatab"/>
              </a:rPr>
              <a:t>: Dollarama expects net earnings of approximately $900 million by FY 2024, with an anticipated EPS growth of 15% annually to reach $3.20 per diluted common share. ROE is estimated at 15%, and ROI stands at 20%, showcasing our commitment to shareholder value.</a:t>
            </a:r>
            <a:endParaRPr sz="1200">
              <a:latin typeface="Akatab"/>
              <a:ea typeface="Akatab"/>
              <a:cs typeface="Akatab"/>
              <a:sym typeface="Akatab"/>
            </a:endParaRPr>
          </a:p>
          <a:p>
            <a:pPr indent="0" lvl="0" marL="457200" rtl="0" algn="l">
              <a:lnSpc>
                <a:spcPct val="115000"/>
              </a:lnSpc>
              <a:spcBef>
                <a:spcPts val="0"/>
              </a:spcBef>
              <a:spcAft>
                <a:spcPts val="0"/>
              </a:spcAft>
              <a:buNone/>
            </a:pPr>
            <a:r>
              <a:t/>
            </a:r>
            <a:endParaRPr sz="1200">
              <a:latin typeface="Akatab"/>
              <a:ea typeface="Akatab"/>
              <a:cs typeface="Akatab"/>
              <a:sym typeface="Akatab"/>
            </a:endParaRPr>
          </a:p>
        </p:txBody>
      </p:sp>
      <p:sp>
        <p:nvSpPr>
          <p:cNvPr id="315" name="Google Shape;315;p33"/>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20</a:t>
            </a:r>
            <a:endParaRPr sz="1200">
              <a:solidFill>
                <a:schemeClr val="dk1"/>
              </a:solidFill>
              <a:latin typeface="Noto Serif Ethiopic"/>
              <a:ea typeface="Noto Serif Ethiopic"/>
              <a:cs typeface="Noto Serif Ethiopic"/>
              <a:sym typeface="Noto Serif Ethiopic"/>
            </a:endParaRPr>
          </a:p>
        </p:txBody>
      </p:sp>
      <p:sp>
        <p:nvSpPr>
          <p:cNvPr id="316" name="Google Shape;316;p33"/>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id="321" name="Google Shape;321;p34"/>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322" name="Google Shape;322;p34"/>
          <p:cNvSpPr txBox="1"/>
          <p:nvPr>
            <p:ph type="title"/>
          </p:nvPr>
        </p:nvSpPr>
        <p:spPr>
          <a:xfrm>
            <a:off x="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11 </a:t>
            </a:r>
            <a:r>
              <a:rPr lang="en" sz="1600"/>
              <a:t>Launch</a:t>
            </a:r>
            <a:r>
              <a:rPr lang="en" sz="1600"/>
              <a:t> Details for Expanding E-commerce Platform</a:t>
            </a:r>
            <a:endParaRPr sz="1600"/>
          </a:p>
        </p:txBody>
      </p:sp>
      <p:sp>
        <p:nvSpPr>
          <p:cNvPr id="323" name="Google Shape;323;p34"/>
          <p:cNvSpPr txBox="1"/>
          <p:nvPr/>
        </p:nvSpPr>
        <p:spPr>
          <a:xfrm>
            <a:off x="445575" y="525400"/>
            <a:ext cx="4395900" cy="1127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900">
                <a:latin typeface="Akatab"/>
                <a:ea typeface="Akatab"/>
                <a:cs typeface="Akatab"/>
                <a:sym typeface="Akatab"/>
              </a:rPr>
              <a:t>2025 January to March:</a:t>
            </a:r>
            <a:endParaRPr b="1" sz="900">
              <a:latin typeface="Akatab"/>
              <a:ea typeface="Akatab"/>
              <a:cs typeface="Akatab"/>
              <a:sym typeface="Akatab"/>
            </a:endParaRPr>
          </a:p>
          <a:p>
            <a:pPr indent="-285750" lvl="0" marL="457200" rtl="0" algn="l">
              <a:lnSpc>
                <a:spcPct val="100000"/>
              </a:lnSpc>
              <a:spcBef>
                <a:spcPts val="0"/>
              </a:spcBef>
              <a:spcAft>
                <a:spcPts val="0"/>
              </a:spcAft>
              <a:buSzPts val="900"/>
              <a:buFont typeface="Akatab"/>
              <a:buAutoNum type="arabicPeriod"/>
            </a:pPr>
            <a:r>
              <a:rPr lang="en" sz="900">
                <a:latin typeface="Akatab"/>
                <a:ea typeface="Akatab"/>
                <a:cs typeface="Akatab"/>
                <a:sym typeface="Akatab"/>
              </a:rPr>
              <a:t>Conduct a market research to understand general customer preferences and e-commerce trends.</a:t>
            </a:r>
            <a:endParaRPr sz="900">
              <a:latin typeface="Akatab"/>
              <a:ea typeface="Akatab"/>
              <a:cs typeface="Akatab"/>
              <a:sym typeface="Akatab"/>
            </a:endParaRPr>
          </a:p>
          <a:p>
            <a:pPr indent="-285750" lvl="0" marL="457200" rtl="0" algn="l">
              <a:lnSpc>
                <a:spcPct val="100000"/>
              </a:lnSpc>
              <a:spcBef>
                <a:spcPts val="0"/>
              </a:spcBef>
              <a:spcAft>
                <a:spcPts val="0"/>
              </a:spcAft>
              <a:buSzPts val="900"/>
              <a:buFont typeface="Akatab"/>
              <a:buAutoNum type="arabicPeriod"/>
            </a:pPr>
            <a:r>
              <a:rPr lang="en" sz="900">
                <a:latin typeface="Akatab"/>
                <a:ea typeface="Akatab"/>
                <a:cs typeface="Akatab"/>
                <a:sym typeface="Akatab"/>
              </a:rPr>
              <a:t>Analyze Dollarama's competitors' e-commerce platforms to identify areas of improvement or gaps that need to be filled.</a:t>
            </a:r>
            <a:endParaRPr sz="900">
              <a:latin typeface="Akatab"/>
              <a:ea typeface="Akatab"/>
              <a:cs typeface="Akatab"/>
              <a:sym typeface="Akatab"/>
            </a:endParaRPr>
          </a:p>
          <a:p>
            <a:pPr indent="-285750" lvl="0" marL="457200" rtl="0" algn="l">
              <a:lnSpc>
                <a:spcPct val="100000"/>
              </a:lnSpc>
              <a:spcBef>
                <a:spcPts val="0"/>
              </a:spcBef>
              <a:spcAft>
                <a:spcPts val="0"/>
              </a:spcAft>
              <a:buSzPts val="900"/>
              <a:buFont typeface="Akatab"/>
              <a:buAutoNum type="arabicPeriod"/>
            </a:pPr>
            <a:r>
              <a:rPr lang="en" sz="900">
                <a:latin typeface="Akatab"/>
                <a:ea typeface="Akatab"/>
                <a:cs typeface="Akatab"/>
                <a:sym typeface="Akatab"/>
              </a:rPr>
              <a:t>Develop a comprehensive marketing plan outlining Dollarama's new product's objective, target audience, and channels.</a:t>
            </a:r>
            <a:endParaRPr sz="900">
              <a:latin typeface="Akatab"/>
              <a:ea typeface="Akatab"/>
              <a:cs typeface="Akatab"/>
              <a:sym typeface="Akatab"/>
            </a:endParaRPr>
          </a:p>
        </p:txBody>
      </p:sp>
      <p:sp>
        <p:nvSpPr>
          <p:cNvPr id="324" name="Google Shape;324;p34"/>
          <p:cNvSpPr/>
          <p:nvPr/>
        </p:nvSpPr>
        <p:spPr>
          <a:xfrm>
            <a:off x="2495940" y="1763262"/>
            <a:ext cx="364800" cy="257400"/>
          </a:xfrm>
          <a:prstGeom prst="downArrow">
            <a:avLst>
              <a:gd fmla="val 45874" name="adj1"/>
              <a:gd fmla="val 36699" name="adj2"/>
            </a:avLst>
          </a:prstGeom>
          <a:solidFill>
            <a:srgbClr val="38761D"/>
          </a:solidFill>
          <a:ln cap="flat" cmpd="sng" w="9525">
            <a:solidFill>
              <a:srgbClr val="ECE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latin typeface="Akatab"/>
              <a:ea typeface="Akatab"/>
              <a:cs typeface="Akatab"/>
              <a:sym typeface="Akatab"/>
            </a:endParaRPr>
          </a:p>
        </p:txBody>
      </p:sp>
      <p:sp>
        <p:nvSpPr>
          <p:cNvPr id="325" name="Google Shape;325;p34"/>
          <p:cNvSpPr txBox="1"/>
          <p:nvPr/>
        </p:nvSpPr>
        <p:spPr>
          <a:xfrm>
            <a:off x="367659" y="3378280"/>
            <a:ext cx="5034300" cy="1262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900">
                <a:latin typeface="Akatab"/>
                <a:ea typeface="Akatab"/>
                <a:cs typeface="Akatab"/>
                <a:sym typeface="Akatab"/>
              </a:rPr>
              <a:t>2025 July to September:</a:t>
            </a:r>
            <a:endParaRPr b="1" sz="900">
              <a:latin typeface="Akatab"/>
              <a:ea typeface="Akatab"/>
              <a:cs typeface="Akatab"/>
              <a:sym typeface="Akatab"/>
            </a:endParaRPr>
          </a:p>
          <a:p>
            <a:pPr indent="-285750" lvl="0" marL="457200" rtl="0" algn="l">
              <a:lnSpc>
                <a:spcPct val="100000"/>
              </a:lnSpc>
              <a:spcBef>
                <a:spcPts val="0"/>
              </a:spcBef>
              <a:spcAft>
                <a:spcPts val="0"/>
              </a:spcAft>
              <a:buSzPts val="900"/>
              <a:buFont typeface="Akatab"/>
              <a:buAutoNum type="arabicPeriod"/>
            </a:pPr>
            <a:r>
              <a:rPr lang="en" sz="900">
                <a:latin typeface="Akatab"/>
                <a:ea typeface="Akatab"/>
                <a:cs typeface="Akatab"/>
                <a:sym typeface="Akatab"/>
              </a:rPr>
              <a:t>Finalize branding elements including narrowing down target markets, selecting key benefits, positioning, selecting brand architecture, logo and brand name.</a:t>
            </a:r>
            <a:endParaRPr sz="900">
              <a:latin typeface="Akatab"/>
              <a:ea typeface="Akatab"/>
              <a:cs typeface="Akatab"/>
              <a:sym typeface="Akatab"/>
            </a:endParaRPr>
          </a:p>
          <a:p>
            <a:pPr indent="-285750" lvl="0" marL="457200" rtl="0" algn="l">
              <a:lnSpc>
                <a:spcPct val="100000"/>
              </a:lnSpc>
              <a:spcBef>
                <a:spcPts val="0"/>
              </a:spcBef>
              <a:spcAft>
                <a:spcPts val="0"/>
              </a:spcAft>
              <a:buSzPts val="900"/>
              <a:buFont typeface="Akatab"/>
              <a:buAutoNum type="arabicPeriod"/>
            </a:pPr>
            <a:r>
              <a:rPr lang="en" sz="900">
                <a:latin typeface="Akatab"/>
                <a:ea typeface="Akatab"/>
                <a:cs typeface="Akatab"/>
                <a:sym typeface="Akatab"/>
              </a:rPr>
              <a:t>Develop graphics and visuals for websites, apps and other marketing materials.</a:t>
            </a:r>
            <a:endParaRPr sz="900">
              <a:latin typeface="Akatab"/>
              <a:ea typeface="Akatab"/>
              <a:cs typeface="Akatab"/>
              <a:sym typeface="Akatab"/>
            </a:endParaRPr>
          </a:p>
          <a:p>
            <a:pPr indent="-285750" lvl="0" marL="457200" rtl="0" algn="l">
              <a:lnSpc>
                <a:spcPct val="100000"/>
              </a:lnSpc>
              <a:spcBef>
                <a:spcPts val="0"/>
              </a:spcBef>
              <a:spcAft>
                <a:spcPts val="0"/>
              </a:spcAft>
              <a:buSzPts val="900"/>
              <a:buFont typeface="Akatab"/>
              <a:buAutoNum type="arabicPeriod"/>
            </a:pPr>
            <a:r>
              <a:rPr lang="en" sz="900">
                <a:latin typeface="Akatab"/>
                <a:ea typeface="Akatab"/>
                <a:cs typeface="Akatab"/>
                <a:sym typeface="Akatab"/>
              </a:rPr>
              <a:t>Conduct internal sales meetings and educate employees on new features and functionality.</a:t>
            </a:r>
            <a:endParaRPr sz="900">
              <a:latin typeface="Akatab"/>
              <a:ea typeface="Akatab"/>
              <a:cs typeface="Akatab"/>
              <a:sym typeface="Akatab"/>
            </a:endParaRPr>
          </a:p>
          <a:p>
            <a:pPr indent="-285750" lvl="0" marL="457200" rtl="0" algn="l">
              <a:lnSpc>
                <a:spcPct val="100000"/>
              </a:lnSpc>
              <a:spcBef>
                <a:spcPts val="0"/>
              </a:spcBef>
              <a:spcAft>
                <a:spcPts val="0"/>
              </a:spcAft>
              <a:buSzPts val="900"/>
              <a:buFont typeface="Akatab"/>
              <a:buAutoNum type="arabicPeriod"/>
            </a:pPr>
            <a:r>
              <a:rPr lang="en" sz="900">
                <a:latin typeface="Akatab"/>
                <a:ea typeface="Akatab"/>
                <a:cs typeface="Akatab"/>
                <a:sym typeface="Akatab"/>
              </a:rPr>
              <a:t>Launch media plan including digital advertising, social media promotions and partnerships with celebrities or influencers.</a:t>
            </a:r>
            <a:endParaRPr sz="900">
              <a:latin typeface="Akatab"/>
              <a:ea typeface="Akatab"/>
              <a:cs typeface="Akatab"/>
              <a:sym typeface="Akatab"/>
            </a:endParaRPr>
          </a:p>
        </p:txBody>
      </p:sp>
      <p:sp>
        <p:nvSpPr>
          <p:cNvPr id="326" name="Google Shape;326;p34"/>
          <p:cNvSpPr txBox="1"/>
          <p:nvPr/>
        </p:nvSpPr>
        <p:spPr>
          <a:xfrm>
            <a:off x="5208751" y="1336650"/>
            <a:ext cx="3648600" cy="1127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900">
                <a:latin typeface="Akatab"/>
                <a:ea typeface="Akatab"/>
                <a:cs typeface="Akatab"/>
                <a:sym typeface="Akatab"/>
              </a:rPr>
              <a:t>2025 October to November:</a:t>
            </a:r>
            <a:endParaRPr b="1" sz="900">
              <a:latin typeface="Akatab"/>
              <a:ea typeface="Akatab"/>
              <a:cs typeface="Akatab"/>
              <a:sym typeface="Akatab"/>
            </a:endParaRPr>
          </a:p>
          <a:p>
            <a:pPr indent="-285750" lvl="0" marL="457200" rtl="0" algn="l">
              <a:lnSpc>
                <a:spcPct val="100000"/>
              </a:lnSpc>
              <a:spcBef>
                <a:spcPts val="0"/>
              </a:spcBef>
              <a:spcAft>
                <a:spcPts val="0"/>
              </a:spcAft>
              <a:buSzPts val="900"/>
              <a:buFont typeface="Akatab"/>
              <a:buAutoNum type="arabicPeriod"/>
            </a:pPr>
            <a:r>
              <a:rPr lang="en" sz="900">
                <a:latin typeface="Akatab"/>
                <a:ea typeface="Akatab"/>
                <a:cs typeface="Akatab"/>
                <a:sym typeface="Akatab"/>
              </a:rPr>
              <a:t>Launch beta testing of the updated platform in target markets to collect feedback.</a:t>
            </a:r>
            <a:endParaRPr sz="900">
              <a:latin typeface="Akatab"/>
              <a:ea typeface="Akatab"/>
              <a:cs typeface="Akatab"/>
              <a:sym typeface="Akatab"/>
            </a:endParaRPr>
          </a:p>
          <a:p>
            <a:pPr indent="-285750" lvl="0" marL="457200" rtl="0" algn="l">
              <a:lnSpc>
                <a:spcPct val="100000"/>
              </a:lnSpc>
              <a:spcBef>
                <a:spcPts val="0"/>
              </a:spcBef>
              <a:spcAft>
                <a:spcPts val="0"/>
              </a:spcAft>
              <a:buSzPts val="900"/>
              <a:buFont typeface="Akatab"/>
              <a:buAutoNum type="arabicPeriod"/>
            </a:pPr>
            <a:r>
              <a:rPr lang="en" sz="900">
                <a:latin typeface="Akatab"/>
                <a:ea typeface="Akatab"/>
                <a:cs typeface="Akatab"/>
                <a:sym typeface="Akatab"/>
              </a:rPr>
              <a:t>Conduct surveys of these beta testing participants to assess usability and customer satisfaction.</a:t>
            </a:r>
            <a:endParaRPr sz="900">
              <a:latin typeface="Akatab"/>
              <a:ea typeface="Akatab"/>
              <a:cs typeface="Akatab"/>
              <a:sym typeface="Akatab"/>
            </a:endParaRPr>
          </a:p>
          <a:p>
            <a:pPr indent="-285750" lvl="0" marL="457200" rtl="0" algn="l">
              <a:lnSpc>
                <a:spcPct val="100000"/>
              </a:lnSpc>
              <a:spcBef>
                <a:spcPts val="0"/>
              </a:spcBef>
              <a:spcAft>
                <a:spcPts val="0"/>
              </a:spcAft>
              <a:buSzPts val="900"/>
              <a:buFont typeface="Akatab"/>
              <a:buAutoNum type="arabicPeriod"/>
            </a:pPr>
            <a:r>
              <a:rPr lang="en" sz="900">
                <a:latin typeface="Akatab"/>
                <a:ea typeface="Akatab"/>
                <a:cs typeface="Akatab"/>
                <a:sym typeface="Akatab"/>
              </a:rPr>
              <a:t>Make necessary adjustments based on feedback.</a:t>
            </a:r>
            <a:endParaRPr sz="900">
              <a:latin typeface="Akatab"/>
              <a:ea typeface="Akatab"/>
              <a:cs typeface="Akatab"/>
              <a:sym typeface="Akatab"/>
            </a:endParaRPr>
          </a:p>
          <a:p>
            <a:pPr indent="-285750" lvl="0" marL="457200" rtl="0" algn="l">
              <a:lnSpc>
                <a:spcPct val="100000"/>
              </a:lnSpc>
              <a:spcBef>
                <a:spcPts val="0"/>
              </a:spcBef>
              <a:spcAft>
                <a:spcPts val="0"/>
              </a:spcAft>
              <a:buSzPts val="900"/>
              <a:buFont typeface="Akatab"/>
              <a:buAutoNum type="arabicPeriod"/>
            </a:pPr>
            <a:r>
              <a:rPr lang="en" sz="900">
                <a:latin typeface="Akatab"/>
                <a:ea typeface="Akatab"/>
                <a:cs typeface="Akatab"/>
                <a:sym typeface="Akatab"/>
              </a:rPr>
              <a:t>Develop a media plan for nationwide launch.</a:t>
            </a:r>
            <a:endParaRPr sz="900">
              <a:latin typeface="Akatab"/>
              <a:ea typeface="Akatab"/>
              <a:cs typeface="Akatab"/>
              <a:sym typeface="Akatab"/>
            </a:endParaRPr>
          </a:p>
        </p:txBody>
      </p:sp>
      <p:sp>
        <p:nvSpPr>
          <p:cNvPr id="327" name="Google Shape;327;p34"/>
          <p:cNvSpPr/>
          <p:nvPr/>
        </p:nvSpPr>
        <p:spPr>
          <a:xfrm>
            <a:off x="2495950" y="3183450"/>
            <a:ext cx="364800" cy="257400"/>
          </a:xfrm>
          <a:prstGeom prst="downArrow">
            <a:avLst>
              <a:gd fmla="val 45874" name="adj1"/>
              <a:gd fmla="val 36699" name="adj2"/>
            </a:avLst>
          </a:prstGeom>
          <a:solidFill>
            <a:srgbClr val="38761D"/>
          </a:solidFill>
          <a:ln cap="flat" cmpd="sng" w="9525">
            <a:solidFill>
              <a:srgbClr val="ECE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latin typeface="Akatab"/>
              <a:ea typeface="Akatab"/>
              <a:cs typeface="Akatab"/>
              <a:sym typeface="Akatab"/>
            </a:endParaRPr>
          </a:p>
        </p:txBody>
      </p:sp>
      <p:sp>
        <p:nvSpPr>
          <p:cNvPr id="328" name="Google Shape;328;p34"/>
          <p:cNvSpPr/>
          <p:nvPr/>
        </p:nvSpPr>
        <p:spPr>
          <a:xfrm>
            <a:off x="7028500" y="2649362"/>
            <a:ext cx="364800" cy="308100"/>
          </a:xfrm>
          <a:prstGeom prst="downArrow">
            <a:avLst>
              <a:gd fmla="val 45874" name="adj1"/>
              <a:gd fmla="val 36699" name="adj2"/>
            </a:avLst>
          </a:prstGeom>
          <a:solidFill>
            <a:srgbClr val="38761D"/>
          </a:solidFill>
          <a:ln cap="flat" cmpd="sng" w="9525">
            <a:solidFill>
              <a:srgbClr val="ECE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latin typeface="Akatab"/>
              <a:ea typeface="Akatab"/>
              <a:cs typeface="Akatab"/>
              <a:sym typeface="Akatab"/>
            </a:endParaRPr>
          </a:p>
        </p:txBody>
      </p:sp>
      <p:sp>
        <p:nvSpPr>
          <p:cNvPr id="329" name="Google Shape;329;p34"/>
          <p:cNvSpPr txBox="1"/>
          <p:nvPr/>
        </p:nvSpPr>
        <p:spPr>
          <a:xfrm>
            <a:off x="423821" y="2008053"/>
            <a:ext cx="4439400" cy="1127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900">
                <a:latin typeface="Akatab"/>
                <a:ea typeface="Akatab"/>
                <a:cs typeface="Akatab"/>
                <a:sym typeface="Akatab"/>
              </a:rPr>
              <a:t>2025 April to June:</a:t>
            </a:r>
            <a:endParaRPr b="1" sz="900">
              <a:latin typeface="Akatab"/>
              <a:ea typeface="Akatab"/>
              <a:cs typeface="Akatab"/>
              <a:sym typeface="Akatab"/>
            </a:endParaRPr>
          </a:p>
          <a:p>
            <a:pPr indent="-285750" lvl="0" marL="457200" rtl="0" algn="l">
              <a:lnSpc>
                <a:spcPct val="100000"/>
              </a:lnSpc>
              <a:spcBef>
                <a:spcPts val="0"/>
              </a:spcBef>
              <a:spcAft>
                <a:spcPts val="0"/>
              </a:spcAft>
              <a:buSzPts val="900"/>
              <a:buFont typeface="Akatab"/>
              <a:buAutoNum type="arabicPeriod"/>
            </a:pPr>
            <a:r>
              <a:rPr lang="en" sz="900">
                <a:latin typeface="Akatab"/>
                <a:ea typeface="Akatab"/>
                <a:cs typeface="Akatab"/>
                <a:sym typeface="Akatab"/>
              </a:rPr>
              <a:t>Brief the creative department and digital designers on the project scope, goals and design requirements.</a:t>
            </a:r>
            <a:endParaRPr sz="900">
              <a:latin typeface="Akatab"/>
              <a:ea typeface="Akatab"/>
              <a:cs typeface="Akatab"/>
              <a:sym typeface="Akatab"/>
            </a:endParaRPr>
          </a:p>
          <a:p>
            <a:pPr indent="-285750" lvl="0" marL="457200" rtl="0" algn="l">
              <a:lnSpc>
                <a:spcPct val="100000"/>
              </a:lnSpc>
              <a:spcBef>
                <a:spcPts val="0"/>
              </a:spcBef>
              <a:spcAft>
                <a:spcPts val="0"/>
              </a:spcAft>
              <a:buSzPts val="900"/>
              <a:buFont typeface="Akatab"/>
              <a:buAutoNum type="arabicPeriod"/>
            </a:pPr>
            <a:r>
              <a:rPr lang="en" sz="900">
                <a:latin typeface="Akatab"/>
                <a:ea typeface="Akatab"/>
                <a:cs typeface="Akatab"/>
                <a:sym typeface="Akatab"/>
              </a:rPr>
              <a:t>Brief the technology department on the development of wireframes and samples for the enhanced website and mobile apps, as well as the implementation plan for bringing VR and AR technologies to the e-commerce platform for an interactive shopping experience.</a:t>
            </a:r>
            <a:endParaRPr sz="900">
              <a:latin typeface="Akatab"/>
              <a:ea typeface="Akatab"/>
              <a:cs typeface="Akatab"/>
              <a:sym typeface="Akatab"/>
            </a:endParaRPr>
          </a:p>
        </p:txBody>
      </p:sp>
      <p:sp>
        <p:nvSpPr>
          <p:cNvPr id="330" name="Google Shape;330;p34"/>
          <p:cNvSpPr txBox="1"/>
          <p:nvPr/>
        </p:nvSpPr>
        <p:spPr>
          <a:xfrm>
            <a:off x="5258848" y="3132757"/>
            <a:ext cx="3548400" cy="992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900">
                <a:latin typeface="Akatab"/>
                <a:ea typeface="Akatab"/>
                <a:cs typeface="Akatab"/>
                <a:sym typeface="Akatab"/>
              </a:rPr>
              <a:t>2025 December to 2026 January:</a:t>
            </a:r>
            <a:endParaRPr b="1" sz="900">
              <a:latin typeface="Akatab"/>
              <a:ea typeface="Akatab"/>
              <a:cs typeface="Akatab"/>
              <a:sym typeface="Akatab"/>
            </a:endParaRPr>
          </a:p>
          <a:p>
            <a:pPr indent="-285750" lvl="0" marL="457200" rtl="0" algn="l">
              <a:lnSpc>
                <a:spcPct val="100000"/>
              </a:lnSpc>
              <a:spcBef>
                <a:spcPts val="0"/>
              </a:spcBef>
              <a:spcAft>
                <a:spcPts val="0"/>
              </a:spcAft>
              <a:buSzPts val="900"/>
              <a:buFont typeface="Akatab"/>
              <a:buAutoNum type="arabicPeriod"/>
            </a:pPr>
            <a:r>
              <a:rPr lang="en" sz="900">
                <a:latin typeface="Akatab"/>
                <a:ea typeface="Akatab"/>
                <a:cs typeface="Akatab"/>
                <a:sym typeface="Akatab"/>
              </a:rPr>
              <a:t>Promote the expanded e-commerce platform nationally.</a:t>
            </a:r>
            <a:endParaRPr sz="900">
              <a:latin typeface="Akatab"/>
              <a:ea typeface="Akatab"/>
              <a:cs typeface="Akatab"/>
              <a:sym typeface="Akatab"/>
            </a:endParaRPr>
          </a:p>
          <a:p>
            <a:pPr indent="-285750" lvl="0" marL="457200" rtl="0" algn="l">
              <a:lnSpc>
                <a:spcPct val="100000"/>
              </a:lnSpc>
              <a:spcBef>
                <a:spcPts val="0"/>
              </a:spcBef>
              <a:spcAft>
                <a:spcPts val="0"/>
              </a:spcAft>
              <a:buSzPts val="900"/>
              <a:buFont typeface="Akatab"/>
              <a:buAutoNum type="arabicPeriod"/>
            </a:pPr>
            <a:r>
              <a:rPr lang="en" sz="900">
                <a:latin typeface="Akatab"/>
                <a:ea typeface="Akatab"/>
                <a:cs typeface="Akatab"/>
                <a:sym typeface="Akatab"/>
              </a:rPr>
              <a:t>Run promotions through digital channels to drive traffic to the platform.</a:t>
            </a:r>
            <a:endParaRPr sz="900">
              <a:latin typeface="Akatab"/>
              <a:ea typeface="Akatab"/>
              <a:cs typeface="Akatab"/>
              <a:sym typeface="Akatab"/>
            </a:endParaRPr>
          </a:p>
          <a:p>
            <a:pPr indent="-285750" lvl="0" marL="457200" rtl="0" algn="l">
              <a:lnSpc>
                <a:spcPct val="100000"/>
              </a:lnSpc>
              <a:spcBef>
                <a:spcPts val="0"/>
              </a:spcBef>
              <a:spcAft>
                <a:spcPts val="0"/>
              </a:spcAft>
              <a:buSzPts val="900"/>
              <a:buFont typeface="Akatab"/>
              <a:buAutoNum type="arabicPeriod"/>
            </a:pPr>
            <a:r>
              <a:rPr lang="en" sz="900">
                <a:latin typeface="Akatab"/>
                <a:ea typeface="Akatab"/>
                <a:cs typeface="Akatab"/>
                <a:sym typeface="Akatab"/>
              </a:rPr>
              <a:t>Monitor the performance metrics and customer feedback for further improvement.</a:t>
            </a:r>
            <a:endParaRPr sz="900">
              <a:latin typeface="Akatab"/>
              <a:ea typeface="Akatab"/>
              <a:cs typeface="Akatab"/>
              <a:sym typeface="Akatab"/>
            </a:endParaRPr>
          </a:p>
        </p:txBody>
      </p:sp>
      <p:sp>
        <p:nvSpPr>
          <p:cNvPr id="331" name="Google Shape;331;p34"/>
          <p:cNvSpPr/>
          <p:nvPr/>
        </p:nvSpPr>
        <p:spPr>
          <a:xfrm>
            <a:off x="7028494" y="1028550"/>
            <a:ext cx="364800" cy="308100"/>
          </a:xfrm>
          <a:prstGeom prst="downArrow">
            <a:avLst>
              <a:gd fmla="val 45874" name="adj1"/>
              <a:gd fmla="val 36699" name="adj2"/>
            </a:avLst>
          </a:prstGeom>
          <a:solidFill>
            <a:srgbClr val="38761D"/>
          </a:solidFill>
          <a:ln cap="flat" cmpd="sng" w="9525">
            <a:solidFill>
              <a:srgbClr val="ECE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latin typeface="Akatab"/>
              <a:ea typeface="Akatab"/>
              <a:cs typeface="Akatab"/>
              <a:sym typeface="Akatab"/>
            </a:endParaRPr>
          </a:p>
        </p:txBody>
      </p:sp>
      <p:sp>
        <p:nvSpPr>
          <p:cNvPr id="332" name="Google Shape;332;p34"/>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2</a:t>
            </a:r>
            <a:r>
              <a:rPr lang="en" sz="1200">
                <a:solidFill>
                  <a:schemeClr val="dk1"/>
                </a:solidFill>
                <a:latin typeface="Noto Serif Ethiopic"/>
                <a:ea typeface="Noto Serif Ethiopic"/>
                <a:cs typeface="Noto Serif Ethiopic"/>
                <a:sym typeface="Noto Serif Ethiopic"/>
              </a:rPr>
              <a:t>1</a:t>
            </a:r>
            <a:endParaRPr sz="1200">
              <a:solidFill>
                <a:schemeClr val="dk1"/>
              </a:solidFill>
              <a:latin typeface="Noto Serif Ethiopic"/>
              <a:ea typeface="Noto Serif Ethiopic"/>
              <a:cs typeface="Noto Serif Ethiopic"/>
              <a:sym typeface="Noto Serif Ethiopic"/>
            </a:endParaRPr>
          </a:p>
        </p:txBody>
      </p:sp>
      <p:sp>
        <p:nvSpPr>
          <p:cNvPr id="333" name="Google Shape;333;p34"/>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id="338" name="Google Shape;338;p35"/>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339" name="Google Shape;339;p35"/>
          <p:cNvSpPr txBox="1"/>
          <p:nvPr>
            <p:ph type="title"/>
          </p:nvPr>
        </p:nvSpPr>
        <p:spPr>
          <a:xfrm>
            <a:off x="626813" y="171950"/>
            <a:ext cx="6129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11 Launch Details for Increasing the Snacks Area’s Selection of Healthy Snacks</a:t>
            </a:r>
            <a:endParaRPr sz="1600"/>
          </a:p>
        </p:txBody>
      </p:sp>
      <p:sp>
        <p:nvSpPr>
          <p:cNvPr id="340" name="Google Shape;340;p35"/>
          <p:cNvSpPr txBox="1"/>
          <p:nvPr/>
        </p:nvSpPr>
        <p:spPr>
          <a:xfrm>
            <a:off x="317625" y="870950"/>
            <a:ext cx="4254300" cy="1464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200">
                <a:latin typeface="Akatab"/>
                <a:ea typeface="Akatab"/>
                <a:cs typeface="Akatab"/>
                <a:sym typeface="Akatab"/>
              </a:rPr>
              <a:t>2025 January through February:</a:t>
            </a:r>
            <a:endParaRPr b="1" sz="1200">
              <a:latin typeface="Akatab"/>
              <a:ea typeface="Akatab"/>
              <a:cs typeface="Akatab"/>
              <a:sym typeface="Akatab"/>
            </a:endParaRPr>
          </a:p>
          <a:p>
            <a:pPr indent="-304800" lvl="0" marL="457200" rtl="0" algn="l">
              <a:lnSpc>
                <a:spcPct val="100000"/>
              </a:lnSpc>
              <a:spcBef>
                <a:spcPts val="0"/>
              </a:spcBef>
              <a:spcAft>
                <a:spcPts val="0"/>
              </a:spcAft>
              <a:buSzPts val="1200"/>
              <a:buFont typeface="Akatab"/>
              <a:buAutoNum type="arabicPeriod"/>
            </a:pPr>
            <a:r>
              <a:rPr lang="en" sz="1200">
                <a:latin typeface="Akatab"/>
                <a:ea typeface="Akatab"/>
                <a:cs typeface="Akatab"/>
                <a:sym typeface="Akatab"/>
              </a:rPr>
              <a:t>Research and source a variety of healthful snacks, considering factors such as taste, nutritional value and packaging.</a:t>
            </a:r>
            <a:endParaRPr sz="1200">
              <a:latin typeface="Akatab"/>
              <a:ea typeface="Akatab"/>
              <a:cs typeface="Akatab"/>
              <a:sym typeface="Akatab"/>
            </a:endParaRPr>
          </a:p>
          <a:p>
            <a:pPr indent="-304800" lvl="0" marL="457200" rtl="0" algn="l">
              <a:lnSpc>
                <a:spcPct val="100000"/>
              </a:lnSpc>
              <a:spcBef>
                <a:spcPts val="0"/>
              </a:spcBef>
              <a:spcAft>
                <a:spcPts val="0"/>
              </a:spcAft>
              <a:buSzPts val="1200"/>
              <a:buFont typeface="Akatab"/>
              <a:buAutoNum type="arabicPeriod"/>
            </a:pPr>
            <a:r>
              <a:rPr lang="en" sz="1200">
                <a:latin typeface="Akatab"/>
                <a:ea typeface="Akatab"/>
                <a:cs typeface="Akatab"/>
                <a:sym typeface="Akatab"/>
              </a:rPr>
              <a:t>Collaborate and sign agreement with manufacturers and suppliers to negotiate prices and finalize product selections.</a:t>
            </a:r>
            <a:endParaRPr sz="1200">
              <a:latin typeface="Akatab"/>
              <a:ea typeface="Akatab"/>
              <a:cs typeface="Akatab"/>
              <a:sym typeface="Akatab"/>
            </a:endParaRPr>
          </a:p>
        </p:txBody>
      </p:sp>
      <p:sp>
        <p:nvSpPr>
          <p:cNvPr id="341" name="Google Shape;341;p35"/>
          <p:cNvSpPr txBox="1"/>
          <p:nvPr/>
        </p:nvSpPr>
        <p:spPr>
          <a:xfrm>
            <a:off x="317625" y="3039950"/>
            <a:ext cx="6577200" cy="1647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200">
                <a:latin typeface="Akatab"/>
                <a:ea typeface="Akatab"/>
                <a:cs typeface="Akatab"/>
                <a:sym typeface="Akatab"/>
              </a:rPr>
              <a:t>February through March to May:</a:t>
            </a:r>
            <a:endParaRPr b="1" sz="1200">
              <a:latin typeface="Akatab"/>
              <a:ea typeface="Akatab"/>
              <a:cs typeface="Akatab"/>
              <a:sym typeface="Akatab"/>
            </a:endParaRPr>
          </a:p>
          <a:p>
            <a:pPr indent="-304800" lvl="0" marL="457200" rtl="0" algn="l">
              <a:lnSpc>
                <a:spcPct val="100000"/>
              </a:lnSpc>
              <a:spcBef>
                <a:spcPts val="0"/>
              </a:spcBef>
              <a:spcAft>
                <a:spcPts val="0"/>
              </a:spcAft>
              <a:buSzPts val="1200"/>
              <a:buFont typeface="Akatab"/>
              <a:buAutoNum type="arabicPeriod"/>
            </a:pPr>
            <a:r>
              <a:rPr lang="en" sz="1200">
                <a:latin typeface="Akatab"/>
                <a:ea typeface="Akatab"/>
                <a:cs typeface="Akatab"/>
                <a:sym typeface="Akatab"/>
              </a:rPr>
              <a:t>Designed packaging for new snack products to ensure it fits Dollarama's current brand image and appeals to health-conscious customers.</a:t>
            </a:r>
            <a:endParaRPr sz="1200">
              <a:latin typeface="Akatab"/>
              <a:ea typeface="Akatab"/>
              <a:cs typeface="Akatab"/>
              <a:sym typeface="Akatab"/>
            </a:endParaRPr>
          </a:p>
          <a:p>
            <a:pPr indent="-304800" lvl="0" marL="457200" rtl="0" algn="l">
              <a:lnSpc>
                <a:spcPct val="100000"/>
              </a:lnSpc>
              <a:spcBef>
                <a:spcPts val="0"/>
              </a:spcBef>
              <a:spcAft>
                <a:spcPts val="0"/>
              </a:spcAft>
              <a:buSzPts val="1200"/>
              <a:buFont typeface="Akatab"/>
              <a:buAutoNum type="arabicPeriod"/>
            </a:pPr>
            <a:r>
              <a:rPr lang="en" sz="1200">
                <a:latin typeface="Akatab"/>
                <a:ea typeface="Akatab"/>
                <a:cs typeface="Akatab"/>
                <a:sym typeface="Akatab"/>
              </a:rPr>
              <a:t>Brief the creative department on project scope, objectives, and package design requirements, and collaborate with nutritionists to design healthy formulas and recipes. </a:t>
            </a:r>
            <a:endParaRPr sz="1200">
              <a:latin typeface="Akatab"/>
              <a:ea typeface="Akatab"/>
              <a:cs typeface="Akatab"/>
              <a:sym typeface="Akatab"/>
            </a:endParaRPr>
          </a:p>
          <a:p>
            <a:pPr indent="-304800" lvl="0" marL="457200" rtl="0" algn="l">
              <a:lnSpc>
                <a:spcPct val="100000"/>
              </a:lnSpc>
              <a:spcBef>
                <a:spcPts val="0"/>
              </a:spcBef>
              <a:spcAft>
                <a:spcPts val="0"/>
              </a:spcAft>
              <a:buSzPts val="1200"/>
              <a:buFont typeface="Akatab"/>
              <a:buAutoNum type="arabicPeriod"/>
            </a:pPr>
            <a:r>
              <a:rPr lang="en" sz="1200">
                <a:latin typeface="Akatab"/>
                <a:ea typeface="Akatab"/>
                <a:cs typeface="Akatab"/>
                <a:sym typeface="Akatab"/>
              </a:rPr>
              <a:t>Conduct taste tests and focus groups to understand customers' preferences and interests.</a:t>
            </a:r>
            <a:endParaRPr sz="1200">
              <a:latin typeface="Akatab"/>
              <a:ea typeface="Akatab"/>
              <a:cs typeface="Akatab"/>
              <a:sym typeface="Akatab"/>
            </a:endParaRPr>
          </a:p>
          <a:p>
            <a:pPr indent="-304800" lvl="0" marL="457200" rtl="0" algn="l">
              <a:lnSpc>
                <a:spcPct val="100000"/>
              </a:lnSpc>
              <a:spcBef>
                <a:spcPts val="0"/>
              </a:spcBef>
              <a:spcAft>
                <a:spcPts val="0"/>
              </a:spcAft>
              <a:buSzPts val="1200"/>
              <a:buFont typeface="Akatab"/>
              <a:buAutoNum type="arabicPeriod"/>
            </a:pPr>
            <a:r>
              <a:rPr lang="en" sz="1200">
                <a:latin typeface="Akatab"/>
                <a:ea typeface="Akatab"/>
                <a:cs typeface="Akatab"/>
                <a:sym typeface="Akatab"/>
              </a:rPr>
              <a:t>Prepare in-store signs and promotional materials to feature the new snack products.</a:t>
            </a:r>
            <a:endParaRPr sz="1200">
              <a:latin typeface="Akatab"/>
              <a:ea typeface="Akatab"/>
              <a:cs typeface="Akatab"/>
              <a:sym typeface="Akatab"/>
            </a:endParaRPr>
          </a:p>
        </p:txBody>
      </p:sp>
      <p:sp>
        <p:nvSpPr>
          <p:cNvPr id="342" name="Google Shape;342;p35"/>
          <p:cNvSpPr txBox="1"/>
          <p:nvPr/>
        </p:nvSpPr>
        <p:spPr>
          <a:xfrm>
            <a:off x="5239862" y="1056028"/>
            <a:ext cx="3521100" cy="1464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200">
                <a:latin typeface="Akatab"/>
                <a:ea typeface="Akatab"/>
                <a:cs typeface="Akatab"/>
                <a:sym typeface="Akatab"/>
              </a:rPr>
              <a:t>2025 June to July:</a:t>
            </a:r>
            <a:endParaRPr b="1" sz="1200">
              <a:latin typeface="Akatab"/>
              <a:ea typeface="Akatab"/>
              <a:cs typeface="Akatab"/>
              <a:sym typeface="Akatab"/>
            </a:endParaRPr>
          </a:p>
          <a:p>
            <a:pPr indent="-304800" lvl="0" marL="457200" rtl="0" algn="l">
              <a:lnSpc>
                <a:spcPct val="100000"/>
              </a:lnSpc>
              <a:spcBef>
                <a:spcPts val="0"/>
              </a:spcBef>
              <a:spcAft>
                <a:spcPts val="0"/>
              </a:spcAft>
              <a:buSzPts val="1200"/>
              <a:buFont typeface="Akatab"/>
              <a:buAutoNum type="arabicPeriod"/>
            </a:pPr>
            <a:r>
              <a:rPr lang="en" sz="1200">
                <a:latin typeface="Akatab"/>
                <a:ea typeface="Akatab"/>
                <a:cs typeface="Akatab"/>
                <a:sym typeface="Akatab"/>
              </a:rPr>
              <a:t>Launch healthy snacks in selected stores for a test run.</a:t>
            </a:r>
            <a:endParaRPr sz="1200">
              <a:latin typeface="Akatab"/>
              <a:ea typeface="Akatab"/>
              <a:cs typeface="Akatab"/>
              <a:sym typeface="Akatab"/>
            </a:endParaRPr>
          </a:p>
          <a:p>
            <a:pPr indent="-304800" lvl="0" marL="457200" rtl="0" algn="l">
              <a:lnSpc>
                <a:spcPct val="100000"/>
              </a:lnSpc>
              <a:spcBef>
                <a:spcPts val="0"/>
              </a:spcBef>
              <a:spcAft>
                <a:spcPts val="0"/>
              </a:spcAft>
              <a:buSzPts val="1200"/>
              <a:buFont typeface="Akatab"/>
              <a:buAutoNum type="arabicPeriod"/>
            </a:pPr>
            <a:r>
              <a:rPr lang="en" sz="1200">
                <a:latin typeface="Akatab"/>
                <a:ea typeface="Akatab"/>
                <a:cs typeface="Akatab"/>
                <a:sym typeface="Akatab"/>
              </a:rPr>
              <a:t>Collect feedback through customer surveys and sales data.</a:t>
            </a:r>
            <a:endParaRPr sz="1200">
              <a:latin typeface="Akatab"/>
              <a:ea typeface="Akatab"/>
              <a:cs typeface="Akatab"/>
              <a:sym typeface="Akatab"/>
            </a:endParaRPr>
          </a:p>
          <a:p>
            <a:pPr indent="-304800" lvl="0" marL="457200" rtl="0" algn="l">
              <a:lnSpc>
                <a:spcPct val="100000"/>
              </a:lnSpc>
              <a:spcBef>
                <a:spcPts val="0"/>
              </a:spcBef>
              <a:spcAft>
                <a:spcPts val="0"/>
              </a:spcAft>
              <a:buSzPts val="1200"/>
              <a:buFont typeface="Akatab"/>
              <a:buAutoNum type="arabicPeriod"/>
            </a:pPr>
            <a:r>
              <a:rPr lang="en" sz="1200">
                <a:latin typeface="Akatab"/>
                <a:ea typeface="Akatab"/>
                <a:cs typeface="Akatab"/>
                <a:sym typeface="Akatab"/>
              </a:rPr>
              <a:t>Adjust product assortment and marketing strategy based on trial results.</a:t>
            </a:r>
            <a:endParaRPr sz="1200">
              <a:latin typeface="Akatab"/>
              <a:ea typeface="Akatab"/>
              <a:cs typeface="Akatab"/>
              <a:sym typeface="Akatab"/>
            </a:endParaRPr>
          </a:p>
        </p:txBody>
      </p:sp>
      <p:sp>
        <p:nvSpPr>
          <p:cNvPr id="343" name="Google Shape;343;p35"/>
          <p:cNvSpPr/>
          <p:nvPr/>
        </p:nvSpPr>
        <p:spPr>
          <a:xfrm>
            <a:off x="2119437" y="2345691"/>
            <a:ext cx="512100" cy="452100"/>
          </a:xfrm>
          <a:prstGeom prst="downArrow">
            <a:avLst>
              <a:gd fmla="val 45874" name="adj1"/>
              <a:gd fmla="val 36699" name="adj2"/>
            </a:avLst>
          </a:prstGeom>
          <a:solidFill>
            <a:srgbClr val="38761D"/>
          </a:solidFill>
          <a:ln cap="flat" cmpd="sng" w="9525">
            <a:solidFill>
              <a:srgbClr val="ECE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Akatab"/>
              <a:ea typeface="Akatab"/>
              <a:cs typeface="Akatab"/>
              <a:sym typeface="Akatab"/>
            </a:endParaRPr>
          </a:p>
        </p:txBody>
      </p:sp>
      <p:sp>
        <p:nvSpPr>
          <p:cNvPr id="344" name="Google Shape;344;p35"/>
          <p:cNvSpPr/>
          <p:nvPr/>
        </p:nvSpPr>
        <p:spPr>
          <a:xfrm rot="-8100000">
            <a:off x="5402639" y="2609696"/>
            <a:ext cx="462448" cy="506147"/>
          </a:xfrm>
          <a:prstGeom prst="downArrow">
            <a:avLst>
              <a:gd fmla="val 45874" name="adj1"/>
              <a:gd fmla="val 36699" name="adj2"/>
            </a:avLst>
          </a:prstGeom>
          <a:solidFill>
            <a:srgbClr val="38761D"/>
          </a:solidFill>
          <a:ln cap="flat" cmpd="sng" w="9525">
            <a:solidFill>
              <a:srgbClr val="ECE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Akatab"/>
              <a:ea typeface="Akatab"/>
              <a:cs typeface="Akatab"/>
              <a:sym typeface="Akatab"/>
            </a:endParaRPr>
          </a:p>
        </p:txBody>
      </p:sp>
      <p:sp>
        <p:nvSpPr>
          <p:cNvPr id="345" name="Google Shape;345;p35"/>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22</a:t>
            </a:r>
            <a:endParaRPr sz="1200">
              <a:solidFill>
                <a:schemeClr val="dk1"/>
              </a:solidFill>
              <a:latin typeface="Noto Serif Ethiopic"/>
              <a:ea typeface="Noto Serif Ethiopic"/>
              <a:cs typeface="Noto Serif Ethiopic"/>
              <a:sym typeface="Noto Serif Ethiopic"/>
            </a:endParaRPr>
          </a:p>
        </p:txBody>
      </p:sp>
      <p:sp>
        <p:nvSpPr>
          <p:cNvPr id="346" name="Google Shape;346;p35"/>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pic>
        <p:nvPicPr>
          <p:cNvPr id="351" name="Google Shape;351;p36"/>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352" name="Google Shape;352;p36"/>
          <p:cNvSpPr txBox="1"/>
          <p:nvPr>
            <p:ph type="title"/>
          </p:nvPr>
        </p:nvSpPr>
        <p:spPr>
          <a:xfrm>
            <a:off x="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11 Launch Details for Loyalty Points</a:t>
            </a:r>
            <a:endParaRPr sz="1600"/>
          </a:p>
        </p:txBody>
      </p:sp>
      <p:sp>
        <p:nvSpPr>
          <p:cNvPr id="353" name="Google Shape;353;p36"/>
          <p:cNvSpPr txBox="1"/>
          <p:nvPr/>
        </p:nvSpPr>
        <p:spPr>
          <a:xfrm>
            <a:off x="5063400" y="3009100"/>
            <a:ext cx="3730200" cy="1743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100">
                <a:latin typeface="Akatab"/>
                <a:ea typeface="Akatab"/>
                <a:cs typeface="Akatab"/>
                <a:sym typeface="Akatab"/>
              </a:rPr>
              <a:t>2025 July through September:</a:t>
            </a:r>
            <a:endParaRPr b="1" sz="1100">
              <a:latin typeface="Akatab"/>
              <a:ea typeface="Akatab"/>
              <a:cs typeface="Akatab"/>
              <a:sym typeface="Akatab"/>
            </a:endParaRPr>
          </a:p>
          <a:p>
            <a:pPr indent="-298450" lvl="0" marL="457200" rtl="0" algn="l">
              <a:lnSpc>
                <a:spcPct val="100000"/>
              </a:lnSpc>
              <a:spcBef>
                <a:spcPts val="0"/>
              </a:spcBef>
              <a:spcAft>
                <a:spcPts val="0"/>
              </a:spcAft>
              <a:buSzPts val="1100"/>
              <a:buFont typeface="Akatab"/>
              <a:buAutoNum type="arabicPeriod"/>
            </a:pPr>
            <a:r>
              <a:rPr lang="en" sz="1100">
                <a:latin typeface="Akatab"/>
                <a:ea typeface="Akatab"/>
                <a:cs typeface="Akatab"/>
                <a:sym typeface="Akatab"/>
              </a:rPr>
              <a:t>Officially launch the loyalty points program at all Dollarama locations.</a:t>
            </a:r>
            <a:endParaRPr sz="1100">
              <a:latin typeface="Akatab"/>
              <a:ea typeface="Akatab"/>
              <a:cs typeface="Akatab"/>
              <a:sym typeface="Akatab"/>
            </a:endParaRPr>
          </a:p>
          <a:p>
            <a:pPr indent="-298450" lvl="0" marL="457200" rtl="0" algn="l">
              <a:lnSpc>
                <a:spcPct val="100000"/>
              </a:lnSpc>
              <a:spcBef>
                <a:spcPts val="0"/>
              </a:spcBef>
              <a:spcAft>
                <a:spcPts val="0"/>
              </a:spcAft>
              <a:buSzPts val="1100"/>
              <a:buFont typeface="Akatab"/>
              <a:buAutoNum type="arabicPeriod"/>
            </a:pPr>
            <a:r>
              <a:rPr lang="en" sz="1100">
                <a:latin typeface="Akatab"/>
                <a:ea typeface="Akatab"/>
                <a:cs typeface="Akatab"/>
                <a:sym typeface="Akatab"/>
              </a:rPr>
              <a:t>Implement marketing campaigns to promote the program and encourage sign-ups.</a:t>
            </a:r>
            <a:endParaRPr sz="1100">
              <a:latin typeface="Akatab"/>
              <a:ea typeface="Akatab"/>
              <a:cs typeface="Akatab"/>
              <a:sym typeface="Akatab"/>
            </a:endParaRPr>
          </a:p>
          <a:p>
            <a:pPr indent="-298450" lvl="0" marL="457200" rtl="0" algn="l">
              <a:lnSpc>
                <a:spcPct val="100000"/>
              </a:lnSpc>
              <a:spcBef>
                <a:spcPts val="0"/>
              </a:spcBef>
              <a:spcAft>
                <a:spcPts val="0"/>
              </a:spcAft>
              <a:buSzPts val="1100"/>
              <a:buFont typeface="Akatab"/>
              <a:buAutoNum type="arabicPeriod"/>
            </a:pPr>
            <a:r>
              <a:rPr lang="en" sz="1100">
                <a:latin typeface="Akatab"/>
                <a:ea typeface="Akatab"/>
                <a:cs typeface="Akatab"/>
                <a:sym typeface="Akatab"/>
              </a:rPr>
              <a:t>Monitor program participation and redemption rates and make necessary adjustments to promotions and rewards based on customer feedback and data analysis.</a:t>
            </a:r>
            <a:endParaRPr sz="1100">
              <a:latin typeface="Akatab"/>
              <a:ea typeface="Akatab"/>
              <a:cs typeface="Akatab"/>
              <a:sym typeface="Akatab"/>
            </a:endParaRPr>
          </a:p>
        </p:txBody>
      </p:sp>
      <p:sp>
        <p:nvSpPr>
          <p:cNvPr id="354" name="Google Shape;354;p36"/>
          <p:cNvSpPr txBox="1"/>
          <p:nvPr/>
        </p:nvSpPr>
        <p:spPr>
          <a:xfrm>
            <a:off x="390227" y="847200"/>
            <a:ext cx="4152600" cy="1743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100">
                <a:latin typeface="Akatab"/>
                <a:ea typeface="Akatab"/>
                <a:cs typeface="Akatab"/>
                <a:sym typeface="Akatab"/>
              </a:rPr>
              <a:t>2025 January through February:</a:t>
            </a:r>
            <a:endParaRPr b="1" sz="1100">
              <a:latin typeface="Akatab"/>
              <a:ea typeface="Akatab"/>
              <a:cs typeface="Akatab"/>
              <a:sym typeface="Akatab"/>
            </a:endParaRPr>
          </a:p>
          <a:p>
            <a:pPr indent="-298450" lvl="0" marL="457200" rtl="0" algn="l">
              <a:spcBef>
                <a:spcPts val="0"/>
              </a:spcBef>
              <a:spcAft>
                <a:spcPts val="0"/>
              </a:spcAft>
              <a:buSzPts val="1100"/>
              <a:buFont typeface="Akatab"/>
              <a:buAutoNum type="arabicPeriod"/>
            </a:pPr>
            <a:r>
              <a:rPr lang="en" sz="1100">
                <a:latin typeface="Akatab"/>
                <a:ea typeface="Akatab"/>
                <a:cs typeface="Akatab"/>
                <a:sym typeface="Akatab"/>
              </a:rPr>
              <a:t>Conduct a market research to understand general customer preferences about loyalty points program and also those that are popular for discount stores/chains. </a:t>
            </a:r>
            <a:endParaRPr sz="1100">
              <a:latin typeface="Akatab"/>
              <a:ea typeface="Akatab"/>
              <a:cs typeface="Akatab"/>
              <a:sym typeface="Akatab"/>
            </a:endParaRPr>
          </a:p>
          <a:p>
            <a:pPr indent="-298450" lvl="0" marL="457200" rtl="0" algn="l">
              <a:lnSpc>
                <a:spcPct val="100000"/>
              </a:lnSpc>
              <a:spcBef>
                <a:spcPts val="0"/>
              </a:spcBef>
              <a:spcAft>
                <a:spcPts val="0"/>
              </a:spcAft>
              <a:buSzPts val="1100"/>
              <a:buFont typeface="Akatab"/>
              <a:buAutoNum type="arabicPeriod"/>
            </a:pPr>
            <a:r>
              <a:rPr lang="en" sz="1100">
                <a:latin typeface="Akatab"/>
                <a:ea typeface="Akatab"/>
                <a:cs typeface="Akatab"/>
                <a:sym typeface="Akatab"/>
              </a:rPr>
              <a:t>Develop a loyalty points program, including defining earning and redemption rules, reward structure and technology platform (app or web).</a:t>
            </a:r>
            <a:endParaRPr sz="1100">
              <a:latin typeface="Akatab"/>
              <a:ea typeface="Akatab"/>
              <a:cs typeface="Akatab"/>
              <a:sym typeface="Akatab"/>
            </a:endParaRPr>
          </a:p>
          <a:p>
            <a:pPr indent="-298450" lvl="0" marL="457200" rtl="0" algn="l">
              <a:lnSpc>
                <a:spcPct val="100000"/>
              </a:lnSpc>
              <a:spcBef>
                <a:spcPts val="0"/>
              </a:spcBef>
              <a:spcAft>
                <a:spcPts val="0"/>
              </a:spcAft>
              <a:buSzPts val="1100"/>
              <a:buFont typeface="Akatab"/>
              <a:buAutoNum type="arabicPeriod"/>
            </a:pPr>
            <a:r>
              <a:rPr lang="en" sz="1100">
                <a:latin typeface="Akatab"/>
                <a:ea typeface="Akatab"/>
                <a:cs typeface="Akatab"/>
                <a:sym typeface="Akatab"/>
              </a:rPr>
              <a:t>Work with IT to build and test the points program platform.</a:t>
            </a:r>
            <a:endParaRPr sz="1100">
              <a:latin typeface="Akatab"/>
              <a:ea typeface="Akatab"/>
              <a:cs typeface="Akatab"/>
              <a:sym typeface="Akatab"/>
            </a:endParaRPr>
          </a:p>
        </p:txBody>
      </p:sp>
      <p:sp>
        <p:nvSpPr>
          <p:cNvPr id="355" name="Google Shape;355;p36"/>
          <p:cNvSpPr txBox="1"/>
          <p:nvPr/>
        </p:nvSpPr>
        <p:spPr>
          <a:xfrm>
            <a:off x="429084" y="3095800"/>
            <a:ext cx="4074900" cy="1569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100">
                <a:latin typeface="Akatab"/>
                <a:ea typeface="Akatab"/>
                <a:cs typeface="Akatab"/>
                <a:sym typeface="Akatab"/>
              </a:rPr>
              <a:t>2025 February through April:</a:t>
            </a:r>
            <a:endParaRPr b="1" sz="1100">
              <a:latin typeface="Akatab"/>
              <a:ea typeface="Akatab"/>
              <a:cs typeface="Akatab"/>
              <a:sym typeface="Akatab"/>
            </a:endParaRPr>
          </a:p>
          <a:p>
            <a:pPr indent="-298450" lvl="0" marL="457200" rtl="0" algn="l">
              <a:lnSpc>
                <a:spcPct val="100000"/>
              </a:lnSpc>
              <a:spcBef>
                <a:spcPts val="0"/>
              </a:spcBef>
              <a:spcAft>
                <a:spcPts val="0"/>
              </a:spcAft>
              <a:buSzPts val="1100"/>
              <a:buFont typeface="Akatab"/>
              <a:buAutoNum type="arabicPeriod"/>
            </a:pPr>
            <a:r>
              <a:rPr lang="en" sz="1100">
                <a:latin typeface="Akatab"/>
                <a:ea typeface="Akatab"/>
                <a:cs typeface="Akatab"/>
                <a:sym typeface="Akatab"/>
              </a:rPr>
              <a:t>Design promotional materials to inform customers about the benefits of the loyalty points program.</a:t>
            </a:r>
            <a:endParaRPr sz="1100">
              <a:latin typeface="Akatab"/>
              <a:ea typeface="Akatab"/>
              <a:cs typeface="Akatab"/>
              <a:sym typeface="Akatab"/>
            </a:endParaRPr>
          </a:p>
          <a:p>
            <a:pPr indent="-298450" lvl="0" marL="457200" rtl="0" algn="l">
              <a:lnSpc>
                <a:spcPct val="100000"/>
              </a:lnSpc>
              <a:spcBef>
                <a:spcPts val="0"/>
              </a:spcBef>
              <a:spcAft>
                <a:spcPts val="0"/>
              </a:spcAft>
              <a:buSzPts val="1100"/>
              <a:buFont typeface="Akatab"/>
              <a:buAutoNum type="arabicPeriod"/>
            </a:pPr>
            <a:r>
              <a:rPr lang="en" sz="1100">
                <a:latin typeface="Akatab"/>
                <a:ea typeface="Akatab"/>
                <a:cs typeface="Akatab"/>
                <a:sym typeface="Akatab"/>
              </a:rPr>
              <a:t>Conduct in-house training for in-store staff on program details and procedures.</a:t>
            </a:r>
            <a:endParaRPr sz="1100">
              <a:latin typeface="Akatab"/>
              <a:ea typeface="Akatab"/>
              <a:cs typeface="Akatab"/>
              <a:sym typeface="Akatab"/>
            </a:endParaRPr>
          </a:p>
          <a:p>
            <a:pPr indent="-298450" lvl="0" marL="457200" rtl="0" algn="l">
              <a:lnSpc>
                <a:spcPct val="100000"/>
              </a:lnSpc>
              <a:spcBef>
                <a:spcPts val="0"/>
              </a:spcBef>
              <a:spcAft>
                <a:spcPts val="0"/>
              </a:spcAft>
              <a:buSzPts val="1100"/>
              <a:buFont typeface="Akatab"/>
              <a:buAutoNum type="arabicPeriod"/>
            </a:pPr>
            <a:r>
              <a:rPr lang="en" sz="1100">
                <a:latin typeface="Akatab"/>
                <a:ea typeface="Akatab"/>
                <a:cs typeface="Akatab"/>
                <a:sym typeface="Akatab"/>
              </a:rPr>
              <a:t>Develop a marketing campaign to launch the loyalty program, including email newsletters, social media posts and in-store signage.</a:t>
            </a:r>
            <a:endParaRPr sz="1100">
              <a:latin typeface="Akatab"/>
              <a:ea typeface="Akatab"/>
              <a:cs typeface="Akatab"/>
              <a:sym typeface="Akatab"/>
            </a:endParaRPr>
          </a:p>
        </p:txBody>
      </p:sp>
      <p:sp>
        <p:nvSpPr>
          <p:cNvPr id="356" name="Google Shape;356;p36"/>
          <p:cNvSpPr txBox="1"/>
          <p:nvPr/>
        </p:nvSpPr>
        <p:spPr>
          <a:xfrm>
            <a:off x="4771250" y="1229738"/>
            <a:ext cx="4074900" cy="1396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100">
                <a:latin typeface="Akatab"/>
                <a:ea typeface="Akatab"/>
                <a:cs typeface="Akatab"/>
                <a:sym typeface="Akatab"/>
              </a:rPr>
              <a:t>2025 May through June:</a:t>
            </a:r>
            <a:endParaRPr b="1" sz="1100">
              <a:latin typeface="Akatab"/>
              <a:ea typeface="Akatab"/>
              <a:cs typeface="Akatab"/>
              <a:sym typeface="Akatab"/>
            </a:endParaRPr>
          </a:p>
          <a:p>
            <a:pPr indent="-298450" lvl="0" marL="457200" rtl="0" algn="l">
              <a:lnSpc>
                <a:spcPct val="100000"/>
              </a:lnSpc>
              <a:spcBef>
                <a:spcPts val="0"/>
              </a:spcBef>
              <a:spcAft>
                <a:spcPts val="0"/>
              </a:spcAft>
              <a:buSzPts val="1100"/>
              <a:buFont typeface="Akatab"/>
              <a:buAutoNum type="arabicPeriod"/>
            </a:pPr>
            <a:r>
              <a:rPr lang="en" sz="1100">
                <a:latin typeface="Akatab"/>
                <a:ea typeface="Akatab"/>
                <a:cs typeface="Akatab"/>
                <a:sym typeface="Akatab"/>
              </a:rPr>
              <a:t>Test launch the loyalty points program in a few selected Dollarama stores.</a:t>
            </a:r>
            <a:endParaRPr sz="1100">
              <a:latin typeface="Akatab"/>
              <a:ea typeface="Akatab"/>
              <a:cs typeface="Akatab"/>
              <a:sym typeface="Akatab"/>
            </a:endParaRPr>
          </a:p>
          <a:p>
            <a:pPr indent="-298450" lvl="0" marL="457200" rtl="0" algn="l">
              <a:lnSpc>
                <a:spcPct val="100000"/>
              </a:lnSpc>
              <a:spcBef>
                <a:spcPts val="0"/>
              </a:spcBef>
              <a:spcAft>
                <a:spcPts val="0"/>
              </a:spcAft>
              <a:buSzPts val="1100"/>
              <a:buFont typeface="Akatab"/>
              <a:buAutoNum type="arabicPeriod"/>
            </a:pPr>
            <a:r>
              <a:rPr lang="en" sz="1100">
                <a:latin typeface="Akatab"/>
                <a:ea typeface="Akatab"/>
                <a:cs typeface="Akatab"/>
                <a:sym typeface="Akatab"/>
              </a:rPr>
              <a:t>Invite customers to participate in the test and provide feedback through surveys.</a:t>
            </a:r>
            <a:endParaRPr sz="1100">
              <a:latin typeface="Akatab"/>
              <a:ea typeface="Akatab"/>
              <a:cs typeface="Akatab"/>
              <a:sym typeface="Akatab"/>
            </a:endParaRPr>
          </a:p>
          <a:p>
            <a:pPr indent="-298450" lvl="0" marL="457200" rtl="0" algn="l">
              <a:lnSpc>
                <a:spcPct val="100000"/>
              </a:lnSpc>
              <a:spcBef>
                <a:spcPts val="0"/>
              </a:spcBef>
              <a:spcAft>
                <a:spcPts val="0"/>
              </a:spcAft>
              <a:buSzPts val="1100"/>
              <a:buFont typeface="Akatab"/>
              <a:buAutoNum type="arabicPeriod"/>
            </a:pPr>
            <a:r>
              <a:rPr lang="en" sz="1100">
                <a:latin typeface="Akatab"/>
                <a:ea typeface="Akatab"/>
                <a:cs typeface="Akatab"/>
                <a:sym typeface="Akatab"/>
              </a:rPr>
              <a:t>Evaluate the results of the test and make necessary adjustments to the program and marketing materials.</a:t>
            </a:r>
            <a:endParaRPr sz="1100">
              <a:latin typeface="Akatab"/>
              <a:ea typeface="Akatab"/>
              <a:cs typeface="Akatab"/>
              <a:sym typeface="Akatab"/>
            </a:endParaRPr>
          </a:p>
        </p:txBody>
      </p:sp>
      <p:sp>
        <p:nvSpPr>
          <p:cNvPr id="357" name="Google Shape;357;p36"/>
          <p:cNvSpPr/>
          <p:nvPr/>
        </p:nvSpPr>
        <p:spPr>
          <a:xfrm>
            <a:off x="7006867" y="2676669"/>
            <a:ext cx="369600" cy="332400"/>
          </a:xfrm>
          <a:prstGeom prst="downArrow">
            <a:avLst>
              <a:gd fmla="val 45874" name="adj1"/>
              <a:gd fmla="val 36699" name="adj2"/>
            </a:avLst>
          </a:prstGeom>
          <a:solidFill>
            <a:srgbClr val="38761D"/>
          </a:solidFill>
          <a:ln cap="flat" cmpd="sng" w="9525">
            <a:solidFill>
              <a:srgbClr val="ECE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katab"/>
              <a:ea typeface="Akatab"/>
              <a:cs typeface="Akatab"/>
              <a:sym typeface="Akatab"/>
            </a:endParaRPr>
          </a:p>
        </p:txBody>
      </p:sp>
      <p:sp>
        <p:nvSpPr>
          <p:cNvPr id="358" name="Google Shape;358;p36"/>
          <p:cNvSpPr/>
          <p:nvPr/>
        </p:nvSpPr>
        <p:spPr>
          <a:xfrm>
            <a:off x="7006878" y="946949"/>
            <a:ext cx="369600" cy="332400"/>
          </a:xfrm>
          <a:prstGeom prst="downArrow">
            <a:avLst>
              <a:gd fmla="val 45874" name="adj1"/>
              <a:gd fmla="val 36699" name="adj2"/>
            </a:avLst>
          </a:prstGeom>
          <a:solidFill>
            <a:srgbClr val="38761D"/>
          </a:solidFill>
          <a:ln cap="flat" cmpd="sng" w="9525">
            <a:solidFill>
              <a:srgbClr val="ECE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katab"/>
              <a:ea typeface="Akatab"/>
              <a:cs typeface="Akatab"/>
              <a:sym typeface="Akatab"/>
            </a:endParaRPr>
          </a:p>
        </p:txBody>
      </p:sp>
      <p:sp>
        <p:nvSpPr>
          <p:cNvPr id="359" name="Google Shape;359;p36"/>
          <p:cNvSpPr/>
          <p:nvPr/>
        </p:nvSpPr>
        <p:spPr>
          <a:xfrm>
            <a:off x="2281728" y="2626561"/>
            <a:ext cx="369600" cy="332400"/>
          </a:xfrm>
          <a:prstGeom prst="downArrow">
            <a:avLst>
              <a:gd fmla="val 45874" name="adj1"/>
              <a:gd fmla="val 36699" name="adj2"/>
            </a:avLst>
          </a:prstGeom>
          <a:solidFill>
            <a:srgbClr val="38761D"/>
          </a:solidFill>
          <a:ln cap="flat" cmpd="sng" w="9525">
            <a:solidFill>
              <a:srgbClr val="ECE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katab"/>
              <a:ea typeface="Akatab"/>
              <a:cs typeface="Akatab"/>
              <a:sym typeface="Akatab"/>
            </a:endParaRPr>
          </a:p>
        </p:txBody>
      </p:sp>
      <p:sp>
        <p:nvSpPr>
          <p:cNvPr id="360" name="Google Shape;360;p36"/>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23</a:t>
            </a:r>
            <a:endParaRPr sz="1200">
              <a:solidFill>
                <a:schemeClr val="dk1"/>
              </a:solidFill>
              <a:latin typeface="Noto Serif Ethiopic"/>
              <a:ea typeface="Noto Serif Ethiopic"/>
              <a:cs typeface="Noto Serif Ethiopic"/>
              <a:sym typeface="Noto Serif Ethiopic"/>
            </a:endParaRPr>
          </a:p>
        </p:txBody>
      </p:sp>
      <p:sp>
        <p:nvSpPr>
          <p:cNvPr id="361" name="Google Shape;361;p36"/>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pic>
        <p:nvPicPr>
          <p:cNvPr id="366" name="Google Shape;366;p37"/>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367" name="Google Shape;367;p37"/>
          <p:cNvSpPr txBox="1"/>
          <p:nvPr>
            <p:ph type="title"/>
          </p:nvPr>
        </p:nvSpPr>
        <p:spPr>
          <a:xfrm>
            <a:off x="-132341"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12</a:t>
            </a:r>
            <a:r>
              <a:rPr lang="en" sz="1800"/>
              <a:t> Financial Intellectual Property/Trademark List </a:t>
            </a:r>
            <a:endParaRPr sz="1800"/>
          </a:p>
        </p:txBody>
      </p:sp>
      <p:sp>
        <p:nvSpPr>
          <p:cNvPr id="368" name="Google Shape;368;p37"/>
          <p:cNvSpPr txBox="1"/>
          <p:nvPr/>
        </p:nvSpPr>
        <p:spPr>
          <a:xfrm>
            <a:off x="360600" y="744650"/>
            <a:ext cx="8422800" cy="382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Akatab"/>
                <a:ea typeface="Akatab"/>
                <a:cs typeface="Akatab"/>
                <a:sym typeface="Akatab"/>
              </a:rPr>
              <a:t>1)   </a:t>
            </a:r>
            <a:r>
              <a:rPr b="1" lang="en" sz="1100">
                <a:latin typeface="Akatab"/>
                <a:ea typeface="Akatab"/>
                <a:cs typeface="Akatab"/>
                <a:sym typeface="Akatab"/>
              </a:rPr>
              <a:t>Trademark Databases </a:t>
            </a:r>
            <a:endParaRPr b="1" sz="1100">
              <a:latin typeface="Akatab"/>
              <a:ea typeface="Akatab"/>
              <a:cs typeface="Akatab"/>
              <a:sym typeface="Akatab"/>
            </a:endParaRPr>
          </a:p>
          <a:p>
            <a:pPr indent="0" lvl="0" marL="0" rtl="0" algn="l">
              <a:spcBef>
                <a:spcPts val="0"/>
              </a:spcBef>
              <a:spcAft>
                <a:spcPts val="0"/>
              </a:spcAft>
              <a:buNone/>
            </a:pPr>
            <a:r>
              <a:rPr lang="en" sz="1100">
                <a:latin typeface="Akatab"/>
                <a:ea typeface="Akatab"/>
                <a:cs typeface="Akatab"/>
                <a:sym typeface="Akatab"/>
              </a:rPr>
              <a:t>USA patent and trademark Office (USPTO): The USPTO's internet database is the main source for U.S. trademarks. The Trademark Electronic Search System (TESS) allows users to search for both registered trademarks and trademark applications. </a:t>
            </a:r>
            <a:endParaRPr sz="1100">
              <a:latin typeface="Akatab"/>
              <a:ea typeface="Akatab"/>
              <a:cs typeface="Akatab"/>
              <a:sym typeface="Akatab"/>
            </a:endParaRPr>
          </a:p>
          <a:p>
            <a:pPr indent="0" lvl="0" marL="0" rtl="0" algn="l">
              <a:spcBef>
                <a:spcPts val="0"/>
              </a:spcBef>
              <a:spcAft>
                <a:spcPts val="0"/>
              </a:spcAft>
              <a:buNone/>
            </a:pPr>
            <a:r>
              <a:rPr lang="en" sz="1100">
                <a:latin typeface="Akatab"/>
                <a:ea typeface="Akatab"/>
                <a:cs typeface="Akatab"/>
                <a:sym typeface="Akatab"/>
              </a:rPr>
              <a:t>World Intellectual Property Organization (WIPO): The Global Brand Database provided by WIPO is a recommended initial resource for international trademarks. This feature enables you to conduct trademark searches across several legal jurisdictions.</a:t>
            </a:r>
            <a:endParaRPr sz="1100">
              <a:latin typeface="Akatab"/>
              <a:ea typeface="Akatab"/>
              <a:cs typeface="Akatab"/>
              <a:sym typeface="Akatab"/>
            </a:endParaRPr>
          </a:p>
          <a:p>
            <a:pPr indent="0" lvl="0" marL="0" rtl="0" algn="l">
              <a:spcBef>
                <a:spcPts val="0"/>
              </a:spcBef>
              <a:spcAft>
                <a:spcPts val="0"/>
              </a:spcAft>
              <a:buNone/>
            </a:pPr>
            <a:r>
              <a:rPr lang="en" sz="1100">
                <a:latin typeface="Akatab"/>
                <a:ea typeface="Akatab"/>
                <a:cs typeface="Akatab"/>
                <a:sym typeface="Akatab"/>
              </a:rPr>
              <a:t> </a:t>
            </a:r>
            <a:endParaRPr sz="1100">
              <a:latin typeface="Akatab"/>
              <a:ea typeface="Akatab"/>
              <a:cs typeface="Akatab"/>
              <a:sym typeface="Akatab"/>
            </a:endParaRPr>
          </a:p>
          <a:p>
            <a:pPr indent="0" lvl="0" marL="0" rtl="0" algn="l">
              <a:spcBef>
                <a:spcPts val="0"/>
              </a:spcBef>
              <a:spcAft>
                <a:spcPts val="0"/>
              </a:spcAft>
              <a:buNone/>
            </a:pPr>
            <a:r>
              <a:rPr lang="en" sz="1100">
                <a:latin typeface="Akatab"/>
                <a:ea typeface="Akatab"/>
                <a:cs typeface="Akatab"/>
                <a:sym typeface="Akatab"/>
              </a:rPr>
              <a:t>2)   </a:t>
            </a:r>
            <a:r>
              <a:rPr b="1" lang="en" sz="1100">
                <a:latin typeface="Akatab"/>
                <a:ea typeface="Akatab"/>
                <a:cs typeface="Akatab"/>
                <a:sym typeface="Akatab"/>
              </a:rPr>
              <a:t>Financial Intellectual Property</a:t>
            </a:r>
            <a:endParaRPr b="1" sz="1100">
              <a:latin typeface="Akatab"/>
              <a:ea typeface="Akatab"/>
              <a:cs typeface="Akatab"/>
              <a:sym typeface="Akatab"/>
            </a:endParaRPr>
          </a:p>
          <a:p>
            <a:pPr indent="0" lvl="0" marL="0" rtl="0" algn="l">
              <a:spcBef>
                <a:spcPts val="0"/>
              </a:spcBef>
              <a:spcAft>
                <a:spcPts val="0"/>
              </a:spcAft>
              <a:buNone/>
            </a:pPr>
            <a:r>
              <a:rPr lang="en" sz="1100">
                <a:latin typeface="Akatab"/>
                <a:ea typeface="Akatab"/>
                <a:cs typeface="Akatab"/>
                <a:sym typeface="Akatab"/>
              </a:rPr>
              <a:t>Financial intellectual properties: Financial intellectual properties encompass a broad spectrum of assets, ranging from algorithms and exclusive financial models to consumer data and software. Obtaining information on these assets may not be easily accessible like trademark registrations, as they are frequently safeguarded as trade secrets or by copyright law rather than being publicly registered.</a:t>
            </a:r>
            <a:endParaRPr sz="1100">
              <a:latin typeface="Akatab"/>
              <a:ea typeface="Akatab"/>
              <a:cs typeface="Akatab"/>
              <a:sym typeface="Akatab"/>
            </a:endParaRPr>
          </a:p>
          <a:p>
            <a:pPr indent="0" lvl="0" marL="0" rtl="0" algn="l">
              <a:spcBef>
                <a:spcPts val="0"/>
              </a:spcBef>
              <a:spcAft>
                <a:spcPts val="0"/>
              </a:spcAft>
              <a:buNone/>
            </a:pPr>
            <a:r>
              <a:rPr lang="en" sz="1100">
                <a:latin typeface="Akatab"/>
                <a:ea typeface="Akatab"/>
                <a:cs typeface="Akatab"/>
                <a:sym typeface="Akatab"/>
              </a:rPr>
              <a:t> Public Disclosures: Companies may reveal certain details regarding their financial intellectual assets in their annual reports, SEC (security exchange commission) filings (if they are a publicly traded company in the United States), or in patent filings if they have sought patent protection for specific technology.</a:t>
            </a:r>
            <a:endParaRPr sz="1100">
              <a:latin typeface="Akatab"/>
              <a:ea typeface="Akatab"/>
              <a:cs typeface="Akatab"/>
              <a:sym typeface="Akatab"/>
            </a:endParaRPr>
          </a:p>
          <a:p>
            <a:pPr indent="0" lvl="0" marL="0" rtl="0" algn="l">
              <a:spcBef>
                <a:spcPts val="0"/>
              </a:spcBef>
              <a:spcAft>
                <a:spcPts val="0"/>
              </a:spcAft>
              <a:buNone/>
            </a:pPr>
            <a:r>
              <a:t/>
            </a:r>
            <a:endParaRPr sz="1100">
              <a:latin typeface="Akatab"/>
              <a:ea typeface="Akatab"/>
              <a:cs typeface="Akatab"/>
              <a:sym typeface="Akatab"/>
            </a:endParaRPr>
          </a:p>
          <a:p>
            <a:pPr indent="0" lvl="0" marL="0" rtl="0" algn="l">
              <a:spcBef>
                <a:spcPts val="0"/>
              </a:spcBef>
              <a:spcAft>
                <a:spcPts val="0"/>
              </a:spcAft>
              <a:buNone/>
            </a:pPr>
            <a:r>
              <a:rPr lang="en" sz="1100">
                <a:latin typeface="Akatab"/>
                <a:ea typeface="Akatab"/>
                <a:cs typeface="Akatab"/>
                <a:sym typeface="Akatab"/>
              </a:rPr>
              <a:t>3) </a:t>
            </a:r>
            <a:r>
              <a:rPr b="1" lang="en" sz="1100">
                <a:latin typeface="Akatab"/>
                <a:ea typeface="Akatab"/>
                <a:cs typeface="Akatab"/>
                <a:sym typeface="Akatab"/>
              </a:rPr>
              <a:t>Consulting Legal Databases and Professionals</a:t>
            </a:r>
            <a:endParaRPr b="1" sz="1100">
              <a:latin typeface="Akatab"/>
              <a:ea typeface="Akatab"/>
              <a:cs typeface="Akatab"/>
              <a:sym typeface="Akatab"/>
            </a:endParaRPr>
          </a:p>
          <a:p>
            <a:pPr indent="0" lvl="0" marL="0" rtl="0" algn="l">
              <a:spcBef>
                <a:spcPts val="0"/>
              </a:spcBef>
              <a:spcAft>
                <a:spcPts val="0"/>
              </a:spcAft>
              <a:buNone/>
            </a:pPr>
            <a:r>
              <a:rPr lang="en" sz="1100">
                <a:latin typeface="Akatab"/>
                <a:ea typeface="Akatab"/>
                <a:cs typeface="Akatab"/>
                <a:sym typeface="Akatab"/>
              </a:rPr>
              <a:t>Legal Databases: Platforms such as LexisNexis or Westlaw can offer valuable information on intellectual property lawsuits or submissions that may disclose valuable intellectual property assets.</a:t>
            </a:r>
            <a:endParaRPr sz="1100">
              <a:latin typeface="Akatab"/>
              <a:ea typeface="Akatab"/>
              <a:cs typeface="Akatab"/>
              <a:sym typeface="Akatab"/>
            </a:endParaRPr>
          </a:p>
          <a:p>
            <a:pPr indent="0" lvl="0" marL="0" rtl="0" algn="l">
              <a:spcBef>
                <a:spcPts val="0"/>
              </a:spcBef>
              <a:spcAft>
                <a:spcPts val="0"/>
              </a:spcAft>
              <a:buNone/>
            </a:pPr>
            <a:r>
              <a:rPr lang="en" sz="1100">
                <a:latin typeface="Akatab"/>
                <a:ea typeface="Akatab"/>
                <a:cs typeface="Akatab"/>
                <a:sym typeface="Akatab"/>
              </a:rPr>
              <a:t>Intellectual Property Lawyers: To conduct thorough research or obtain legal guidance, it would be advantageous to seek the counsel of an attorney who specializes in intellectual property. They possess the ability to offer precise instructions and may have the privilege of accessing specialist databases or networks.</a:t>
            </a:r>
            <a:endParaRPr sz="1100">
              <a:latin typeface="Akatab"/>
              <a:ea typeface="Akatab"/>
              <a:cs typeface="Akatab"/>
              <a:sym typeface="Akatab"/>
            </a:endParaRPr>
          </a:p>
          <a:p>
            <a:pPr indent="0" lvl="0" marL="0" rtl="0" algn="l">
              <a:spcBef>
                <a:spcPts val="0"/>
              </a:spcBef>
              <a:spcAft>
                <a:spcPts val="0"/>
              </a:spcAft>
              <a:buNone/>
            </a:pPr>
            <a:r>
              <a:t/>
            </a:r>
            <a:endParaRPr sz="1100">
              <a:latin typeface="Akatab"/>
              <a:ea typeface="Akatab"/>
              <a:cs typeface="Akatab"/>
              <a:sym typeface="Akatab"/>
            </a:endParaRPr>
          </a:p>
        </p:txBody>
      </p:sp>
      <p:sp>
        <p:nvSpPr>
          <p:cNvPr id="369" name="Google Shape;369;p37"/>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24</a:t>
            </a:r>
            <a:endParaRPr sz="1200">
              <a:solidFill>
                <a:schemeClr val="dk1"/>
              </a:solidFill>
              <a:latin typeface="Noto Serif Ethiopic"/>
              <a:ea typeface="Noto Serif Ethiopic"/>
              <a:cs typeface="Noto Serif Ethiopic"/>
              <a:sym typeface="Noto Serif Ethiopic"/>
            </a:endParaRPr>
          </a:p>
        </p:txBody>
      </p:sp>
      <p:sp>
        <p:nvSpPr>
          <p:cNvPr id="370" name="Google Shape;370;p37"/>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id="375" name="Google Shape;375;p38"/>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376" name="Google Shape;376;p38"/>
          <p:cNvSpPr txBox="1"/>
          <p:nvPr>
            <p:ph type="title"/>
          </p:nvPr>
        </p:nvSpPr>
        <p:spPr>
          <a:xfrm>
            <a:off x="72030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13 Brand identity &amp; Digital Identity</a:t>
            </a:r>
            <a:endParaRPr sz="1800"/>
          </a:p>
        </p:txBody>
      </p:sp>
      <p:sp>
        <p:nvSpPr>
          <p:cNvPr id="377" name="Google Shape;377;p38"/>
          <p:cNvSpPr txBox="1"/>
          <p:nvPr/>
        </p:nvSpPr>
        <p:spPr>
          <a:xfrm>
            <a:off x="365698" y="651600"/>
            <a:ext cx="8413200" cy="3840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200">
                <a:latin typeface="Akatab"/>
                <a:ea typeface="Akatab"/>
                <a:cs typeface="Akatab"/>
                <a:sym typeface="Akatab"/>
              </a:rPr>
              <a:t>BRAND IDENTITY</a:t>
            </a:r>
            <a:endParaRPr b="1" sz="1200">
              <a:latin typeface="Akatab"/>
              <a:ea typeface="Akatab"/>
              <a:cs typeface="Akatab"/>
              <a:sym typeface="Akatab"/>
            </a:endParaRPr>
          </a:p>
          <a:p>
            <a:pPr indent="0" lvl="0" marL="0" rtl="0" algn="l">
              <a:lnSpc>
                <a:spcPct val="100000"/>
              </a:lnSpc>
              <a:spcBef>
                <a:spcPts val="0"/>
              </a:spcBef>
              <a:spcAft>
                <a:spcPts val="0"/>
              </a:spcAft>
              <a:buNone/>
            </a:pPr>
            <a:r>
              <a:t/>
            </a:r>
            <a:endParaRPr b="1" sz="1200">
              <a:latin typeface="Akatab"/>
              <a:ea typeface="Akatab"/>
              <a:cs typeface="Akatab"/>
              <a:sym typeface="Akatab"/>
            </a:endParaRPr>
          </a:p>
          <a:p>
            <a:pPr indent="-304800" lvl="0" marL="457200" rtl="0" algn="l">
              <a:spcBef>
                <a:spcPts val="0"/>
              </a:spcBef>
              <a:spcAft>
                <a:spcPts val="0"/>
              </a:spcAft>
              <a:buSzPts val="1200"/>
              <a:buFont typeface="Akatab"/>
              <a:buAutoNum type="arabicPeriod"/>
            </a:pPr>
            <a:r>
              <a:rPr b="1" lang="en" sz="1200">
                <a:latin typeface="Akatab"/>
                <a:ea typeface="Akatab"/>
                <a:cs typeface="Akatab"/>
                <a:sym typeface="Akatab"/>
              </a:rPr>
              <a:t>Commitment to Diversity</a:t>
            </a:r>
            <a:r>
              <a:rPr lang="en" sz="1200">
                <a:latin typeface="Akatab"/>
                <a:ea typeface="Akatab"/>
                <a:cs typeface="Akatab"/>
                <a:sym typeface="Akatab"/>
              </a:rPr>
              <a:t>: Dollarama's strategic pivot to a multi-price range approach in 2009 solidified our position as Canada's retail leader, with 1,486 locations across ten provinces, showcasing our dedication to providing exceptional products at accessible prices.</a:t>
            </a:r>
            <a:endParaRPr sz="1200">
              <a:latin typeface="Akatab"/>
              <a:ea typeface="Akatab"/>
              <a:cs typeface="Akatab"/>
              <a:sym typeface="Akatab"/>
            </a:endParaRPr>
          </a:p>
          <a:p>
            <a:pPr indent="0" lvl="0" marL="457200" rtl="0" algn="l">
              <a:spcBef>
                <a:spcPts val="0"/>
              </a:spcBef>
              <a:spcAft>
                <a:spcPts val="0"/>
              </a:spcAft>
              <a:buNone/>
            </a:pPr>
            <a:r>
              <a:t/>
            </a:r>
            <a:endParaRPr sz="1200">
              <a:latin typeface="Akatab"/>
              <a:ea typeface="Akatab"/>
              <a:cs typeface="Akatab"/>
              <a:sym typeface="Akatab"/>
            </a:endParaRPr>
          </a:p>
          <a:p>
            <a:pPr indent="-304800" lvl="0" marL="457200" rtl="0" algn="l">
              <a:spcBef>
                <a:spcPts val="0"/>
              </a:spcBef>
              <a:spcAft>
                <a:spcPts val="0"/>
              </a:spcAft>
              <a:buSzPts val="1200"/>
              <a:buFont typeface="Akatab"/>
              <a:buAutoNum type="arabicPeriod"/>
            </a:pPr>
            <a:r>
              <a:rPr b="1" lang="en" sz="1200">
                <a:latin typeface="Akatab"/>
                <a:ea typeface="Akatab"/>
                <a:cs typeface="Akatab"/>
                <a:sym typeface="Akatab"/>
              </a:rPr>
              <a:t>Brand Ethos</a:t>
            </a:r>
            <a:r>
              <a:rPr lang="en" sz="1200">
                <a:latin typeface="Akatab"/>
                <a:ea typeface="Akatab"/>
                <a:cs typeface="Akatab"/>
                <a:sym typeface="Akatab"/>
              </a:rPr>
              <a:t>: We embody honesty, innovation, and customer-centricity, ensuring that every interaction with Dollarama is characterized by efficiency and value. Beyond retail, we are deeply committed to making a positive impact in the communities we serve through local employment initiatives, community service programs, and sustainable business practices.</a:t>
            </a:r>
            <a:endParaRPr sz="1200">
              <a:latin typeface="Akatab"/>
              <a:ea typeface="Akatab"/>
              <a:cs typeface="Akatab"/>
              <a:sym typeface="Akatab"/>
            </a:endParaRPr>
          </a:p>
          <a:p>
            <a:pPr indent="0" lvl="0" marL="457200" rtl="0" algn="l">
              <a:spcBef>
                <a:spcPts val="0"/>
              </a:spcBef>
              <a:spcAft>
                <a:spcPts val="0"/>
              </a:spcAft>
              <a:buNone/>
            </a:pPr>
            <a:r>
              <a:t/>
            </a:r>
            <a:endParaRPr sz="1200">
              <a:latin typeface="Akatab"/>
              <a:ea typeface="Akatab"/>
              <a:cs typeface="Akatab"/>
              <a:sym typeface="Akatab"/>
            </a:endParaRPr>
          </a:p>
          <a:p>
            <a:pPr indent="-304800" lvl="0" marL="457200" rtl="0" algn="l">
              <a:spcBef>
                <a:spcPts val="0"/>
              </a:spcBef>
              <a:spcAft>
                <a:spcPts val="0"/>
              </a:spcAft>
              <a:buSzPts val="1200"/>
              <a:buFont typeface="Akatab"/>
              <a:buAutoNum type="arabicPeriod"/>
            </a:pPr>
            <a:r>
              <a:rPr b="1" lang="en" sz="1200">
                <a:latin typeface="Akatab"/>
                <a:ea typeface="Akatab"/>
                <a:cs typeface="Akatab"/>
                <a:sym typeface="Akatab"/>
              </a:rPr>
              <a:t>Digital Transformation</a:t>
            </a:r>
            <a:r>
              <a:rPr lang="en" sz="1200">
                <a:latin typeface="Akatab"/>
                <a:ea typeface="Akatab"/>
                <a:cs typeface="Akatab"/>
                <a:sym typeface="Akatab"/>
              </a:rPr>
              <a:t>: Our digital presence mirrors our commitment to accessibility and sustainability, offering a user-friendly website with a diverse product selection and secure payment options. Through cutting-edge innovations, we are redefining the online shopping experience, while promoting responsible consumption and social responsibility initiatives.</a:t>
            </a:r>
            <a:endParaRPr sz="1200">
              <a:latin typeface="Akatab"/>
              <a:ea typeface="Akatab"/>
              <a:cs typeface="Akatab"/>
              <a:sym typeface="Akatab"/>
            </a:endParaRPr>
          </a:p>
          <a:p>
            <a:pPr indent="0" lvl="0" marL="457200" rtl="0" algn="l">
              <a:spcBef>
                <a:spcPts val="0"/>
              </a:spcBef>
              <a:spcAft>
                <a:spcPts val="0"/>
              </a:spcAft>
              <a:buNone/>
            </a:pPr>
            <a:r>
              <a:t/>
            </a:r>
            <a:endParaRPr sz="1200">
              <a:latin typeface="Akatab"/>
              <a:ea typeface="Akatab"/>
              <a:cs typeface="Akatab"/>
              <a:sym typeface="Akatab"/>
            </a:endParaRPr>
          </a:p>
          <a:p>
            <a:pPr indent="-304800" lvl="0" marL="457200" rtl="0" algn="l">
              <a:spcBef>
                <a:spcPts val="0"/>
              </a:spcBef>
              <a:spcAft>
                <a:spcPts val="0"/>
              </a:spcAft>
              <a:buSzPts val="1200"/>
              <a:buFont typeface="Akatab"/>
              <a:buAutoNum type="arabicPeriod"/>
            </a:pPr>
            <a:r>
              <a:rPr b="1" lang="en" sz="1200">
                <a:latin typeface="Akatab"/>
                <a:ea typeface="Akatab"/>
                <a:cs typeface="Akatab"/>
                <a:sym typeface="Akatab"/>
              </a:rPr>
              <a:t>Community Engagement</a:t>
            </a:r>
            <a:r>
              <a:rPr lang="en" sz="1200">
                <a:latin typeface="Akatab"/>
                <a:ea typeface="Akatab"/>
                <a:cs typeface="Akatab"/>
                <a:sym typeface="Akatab"/>
              </a:rPr>
              <a:t>: Dollarama is more than just a store; we are a trusted partner dedicated to enriching the lives of our customers and strengthening communities. Our brand identity reflects our unwavering commitment to quality, innovation, and sustainability, ensuring that every interaction with Dollarama leaves a lasting positive impact.</a:t>
            </a:r>
            <a:endParaRPr sz="1200">
              <a:latin typeface="Akatab"/>
              <a:ea typeface="Akatab"/>
              <a:cs typeface="Akatab"/>
              <a:sym typeface="Akatab"/>
            </a:endParaRPr>
          </a:p>
        </p:txBody>
      </p:sp>
      <p:sp>
        <p:nvSpPr>
          <p:cNvPr id="378" name="Google Shape;378;p38"/>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25</a:t>
            </a:r>
            <a:endParaRPr sz="1200">
              <a:solidFill>
                <a:schemeClr val="dk1"/>
              </a:solidFill>
              <a:latin typeface="Noto Serif Ethiopic"/>
              <a:ea typeface="Noto Serif Ethiopic"/>
              <a:cs typeface="Noto Serif Ethiopic"/>
              <a:sym typeface="Noto Serif Ethiopic"/>
            </a:endParaRPr>
          </a:p>
        </p:txBody>
      </p:sp>
      <p:sp>
        <p:nvSpPr>
          <p:cNvPr id="379" name="Google Shape;379;p38"/>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id="384" name="Google Shape;384;p39"/>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385" name="Google Shape;385;p39"/>
          <p:cNvSpPr txBox="1"/>
          <p:nvPr/>
        </p:nvSpPr>
        <p:spPr>
          <a:xfrm>
            <a:off x="414548" y="396750"/>
            <a:ext cx="8413200" cy="4157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300">
                <a:latin typeface="Akatab"/>
                <a:ea typeface="Akatab"/>
                <a:cs typeface="Akatab"/>
                <a:sym typeface="Akatab"/>
              </a:rPr>
              <a:t>DIGITAL IDENTITY</a:t>
            </a:r>
            <a:endParaRPr b="1" sz="1300">
              <a:latin typeface="Akatab"/>
              <a:ea typeface="Akatab"/>
              <a:cs typeface="Akatab"/>
              <a:sym typeface="Akatab"/>
            </a:endParaRPr>
          </a:p>
          <a:p>
            <a:pPr indent="0" lvl="0" marL="0" rtl="0" algn="l">
              <a:lnSpc>
                <a:spcPct val="100000"/>
              </a:lnSpc>
              <a:spcBef>
                <a:spcPts val="0"/>
              </a:spcBef>
              <a:spcAft>
                <a:spcPts val="0"/>
              </a:spcAft>
              <a:buNone/>
            </a:pPr>
            <a:r>
              <a:t/>
            </a:r>
            <a:endParaRPr b="1" sz="1100">
              <a:latin typeface="Akatab"/>
              <a:ea typeface="Akatab"/>
              <a:cs typeface="Akatab"/>
              <a:sym typeface="Akatab"/>
            </a:endParaRPr>
          </a:p>
          <a:p>
            <a:pPr indent="-304800" lvl="0" marL="457200" rtl="0" algn="l">
              <a:lnSpc>
                <a:spcPct val="115000"/>
              </a:lnSpc>
              <a:spcBef>
                <a:spcPts val="0"/>
              </a:spcBef>
              <a:spcAft>
                <a:spcPts val="0"/>
              </a:spcAft>
              <a:buClr>
                <a:srgbClr val="0D0D0D"/>
              </a:buClr>
              <a:buSzPts val="1200"/>
              <a:buFont typeface="Roboto"/>
              <a:buAutoNum type="arabicPeriod"/>
            </a:pPr>
            <a:r>
              <a:rPr b="1" lang="en" sz="1200">
                <a:solidFill>
                  <a:srgbClr val="0D0D0D"/>
                </a:solidFill>
                <a:highlight>
                  <a:srgbClr val="FFFFFF"/>
                </a:highlight>
                <a:latin typeface="Akatab"/>
                <a:ea typeface="Akatab"/>
                <a:cs typeface="Akatab"/>
                <a:sym typeface="Akatab"/>
              </a:rPr>
              <a:t>Comprehensive and User-Friendly E-commerce Platform</a:t>
            </a:r>
            <a:r>
              <a:rPr lang="en" sz="1200">
                <a:solidFill>
                  <a:srgbClr val="0D0D0D"/>
                </a:solidFill>
                <a:highlight>
                  <a:srgbClr val="FFFFFF"/>
                </a:highlight>
                <a:latin typeface="Akatab"/>
                <a:ea typeface="Akatab"/>
                <a:cs typeface="Akatab"/>
                <a:sym typeface="Akatab"/>
              </a:rPr>
              <a:t>: Dollarama is a company with a very satisfactory online shopping site and mobile application facilities that reflect its brand values and target audience. Since both the website and mobile application have a wide range of products, customers can access the products they want in the digital environment, just like the in-store experience, through these platforms. At the same time, Dollarama gives confidence to its customers as it offers secure payment opportunities on these digital platforms.</a:t>
            </a:r>
            <a:endParaRPr sz="1200">
              <a:solidFill>
                <a:srgbClr val="0D0D0D"/>
              </a:solidFill>
              <a:highlight>
                <a:srgbClr val="FFFFFF"/>
              </a:highlight>
              <a:latin typeface="Akatab"/>
              <a:ea typeface="Akatab"/>
              <a:cs typeface="Akatab"/>
              <a:sym typeface="Akatab"/>
            </a:endParaRPr>
          </a:p>
          <a:p>
            <a:pPr indent="-304800" lvl="0" marL="457200" rtl="0" algn="l">
              <a:lnSpc>
                <a:spcPct val="115000"/>
              </a:lnSpc>
              <a:spcBef>
                <a:spcPts val="0"/>
              </a:spcBef>
              <a:spcAft>
                <a:spcPts val="0"/>
              </a:spcAft>
              <a:buClr>
                <a:srgbClr val="0D0D0D"/>
              </a:buClr>
              <a:buSzPts val="1200"/>
              <a:buFont typeface="Roboto"/>
              <a:buAutoNum type="arabicPeriod"/>
            </a:pPr>
            <a:r>
              <a:rPr b="1" lang="en" sz="1200">
                <a:solidFill>
                  <a:srgbClr val="0D0D0D"/>
                </a:solidFill>
                <a:highlight>
                  <a:srgbClr val="FFFFFF"/>
                </a:highlight>
                <a:latin typeface="Akatab"/>
                <a:ea typeface="Akatab"/>
                <a:cs typeface="Akatab"/>
                <a:sym typeface="Akatab"/>
              </a:rPr>
              <a:t> Online Shopping with Advanced Technology</a:t>
            </a:r>
            <a:r>
              <a:rPr lang="en" sz="1200">
                <a:solidFill>
                  <a:srgbClr val="0D0D0D"/>
                </a:solidFill>
                <a:highlight>
                  <a:srgbClr val="FFFFFF"/>
                </a:highlight>
                <a:latin typeface="Akatab"/>
                <a:ea typeface="Akatab"/>
                <a:cs typeface="Akatab"/>
                <a:sym typeface="Akatab"/>
              </a:rPr>
              <a:t>: Dollarama can offer its customers the opportunity to shop in a three-dimensional environment by using VR and AR technologies, which are increasingly entering our lives day by day. Thus, customers have the opportunity to visually examine the products they want to buy through a virtual store experience instead of a physical store. By using these technologies, Dollarama can make customers feel as if they are browsing the aisles of Dollarama stores in the digital environment and increase their shopping appetite.</a:t>
            </a:r>
            <a:endParaRPr sz="1200">
              <a:solidFill>
                <a:srgbClr val="0D0D0D"/>
              </a:solidFill>
              <a:highlight>
                <a:srgbClr val="FFFFFF"/>
              </a:highlight>
              <a:latin typeface="Akatab"/>
              <a:ea typeface="Akatab"/>
              <a:cs typeface="Akatab"/>
              <a:sym typeface="Akatab"/>
            </a:endParaRPr>
          </a:p>
          <a:p>
            <a:pPr indent="-304800" lvl="0" marL="457200" rtl="0" algn="l">
              <a:lnSpc>
                <a:spcPct val="115000"/>
              </a:lnSpc>
              <a:spcBef>
                <a:spcPts val="0"/>
              </a:spcBef>
              <a:spcAft>
                <a:spcPts val="0"/>
              </a:spcAft>
              <a:buClr>
                <a:srgbClr val="0D0D0D"/>
              </a:buClr>
              <a:buSzPts val="1200"/>
              <a:buFont typeface="Roboto"/>
              <a:buAutoNum type="arabicPeriod"/>
            </a:pPr>
            <a:r>
              <a:rPr b="1" lang="en" sz="1200">
                <a:solidFill>
                  <a:srgbClr val="0D0D0D"/>
                </a:solidFill>
                <a:highlight>
                  <a:srgbClr val="FFFFFF"/>
                </a:highlight>
                <a:latin typeface="Akatab"/>
                <a:ea typeface="Akatab"/>
                <a:cs typeface="Akatab"/>
                <a:sym typeface="Akatab"/>
              </a:rPr>
              <a:t>Focusing on Sustainability</a:t>
            </a:r>
            <a:r>
              <a:rPr lang="en" sz="1200">
                <a:solidFill>
                  <a:srgbClr val="0D0D0D"/>
                </a:solidFill>
                <a:highlight>
                  <a:srgbClr val="FFFFFF"/>
                </a:highlight>
                <a:latin typeface="Akatab"/>
                <a:ea typeface="Akatab"/>
                <a:cs typeface="Akatab"/>
                <a:sym typeface="Akatab"/>
              </a:rPr>
              <a:t>: Today, sustainability has gained importance at a global level, requiring companies to concentrate on this issue. Therefore, Dollarama can make promotions that highlight this issue on its website and mobile application. It may emphasize that the packaging it uses is completely recyclable and that it supports some social responsibility projects. It may apply certain campaigns for every purchase made through digital platforms. Consumers' increased awareness of sustainability will ensure that Dollarama's efforts in this regard are quickly appreciated by customers and may ultimately have a positive impact on the image of Dollarama's digital identity.</a:t>
            </a:r>
            <a:endParaRPr sz="1200">
              <a:solidFill>
                <a:srgbClr val="0D0D0D"/>
              </a:solidFill>
              <a:highlight>
                <a:srgbClr val="FFFFFF"/>
              </a:highlight>
              <a:latin typeface="Akatab"/>
              <a:ea typeface="Akatab"/>
              <a:cs typeface="Akatab"/>
              <a:sym typeface="Akatab"/>
            </a:endParaRPr>
          </a:p>
          <a:p>
            <a:pPr indent="-304800" lvl="0" marL="457200" rtl="0" algn="l">
              <a:lnSpc>
                <a:spcPct val="115000"/>
              </a:lnSpc>
              <a:spcBef>
                <a:spcPts val="0"/>
              </a:spcBef>
              <a:spcAft>
                <a:spcPts val="0"/>
              </a:spcAft>
              <a:buClr>
                <a:srgbClr val="0D0D0D"/>
              </a:buClr>
              <a:buSzPts val="1200"/>
              <a:buFont typeface="Roboto"/>
              <a:buAutoNum type="arabicPeriod"/>
            </a:pPr>
            <a:r>
              <a:rPr b="1" lang="en" sz="1200">
                <a:solidFill>
                  <a:srgbClr val="0D0D0D"/>
                </a:solidFill>
                <a:highlight>
                  <a:srgbClr val="FFFFFF"/>
                </a:highlight>
                <a:latin typeface="Akatab"/>
                <a:ea typeface="Akatab"/>
                <a:cs typeface="Akatab"/>
                <a:sym typeface="Akatab"/>
              </a:rPr>
              <a:t>Digital Payment Options</a:t>
            </a:r>
            <a:r>
              <a:rPr lang="en" sz="1200">
                <a:solidFill>
                  <a:srgbClr val="0D0D0D"/>
                </a:solidFill>
                <a:highlight>
                  <a:srgbClr val="FFFFFF"/>
                </a:highlight>
                <a:latin typeface="Akatab"/>
                <a:ea typeface="Akatab"/>
                <a:cs typeface="Akatab"/>
                <a:sym typeface="Akatab"/>
              </a:rPr>
              <a:t>: A wide range of payment options should be provided to enable customers to pay safely.</a:t>
            </a:r>
            <a:endParaRPr sz="1200">
              <a:solidFill>
                <a:srgbClr val="0D0D0D"/>
              </a:solidFill>
              <a:highlight>
                <a:srgbClr val="FFFFFF"/>
              </a:highlight>
              <a:latin typeface="Akatab"/>
              <a:ea typeface="Akatab"/>
              <a:cs typeface="Akatab"/>
              <a:sym typeface="Akatab"/>
            </a:endParaRPr>
          </a:p>
        </p:txBody>
      </p:sp>
      <p:sp>
        <p:nvSpPr>
          <p:cNvPr id="386" name="Google Shape;386;p39"/>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26</a:t>
            </a:r>
            <a:endParaRPr sz="1200">
              <a:solidFill>
                <a:schemeClr val="dk1"/>
              </a:solidFill>
              <a:latin typeface="Noto Serif Ethiopic"/>
              <a:ea typeface="Noto Serif Ethiopic"/>
              <a:cs typeface="Noto Serif Ethiopic"/>
              <a:sym typeface="Noto Serif Ethiopic"/>
            </a:endParaRPr>
          </a:p>
        </p:txBody>
      </p:sp>
      <p:sp>
        <p:nvSpPr>
          <p:cNvPr id="387" name="Google Shape;387;p39"/>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id="392" name="Google Shape;392;p40"/>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393" name="Google Shape;393;p40"/>
          <p:cNvSpPr txBox="1"/>
          <p:nvPr/>
        </p:nvSpPr>
        <p:spPr>
          <a:xfrm>
            <a:off x="365398" y="744650"/>
            <a:ext cx="8413200" cy="3522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300">
                <a:latin typeface="Akatab"/>
                <a:ea typeface="Akatab"/>
                <a:cs typeface="Akatab"/>
                <a:sym typeface="Akatab"/>
              </a:rPr>
              <a:t>DIGITAL IDENTITY</a:t>
            </a:r>
            <a:endParaRPr b="1" sz="1300">
              <a:latin typeface="Akatab"/>
              <a:ea typeface="Akatab"/>
              <a:cs typeface="Akatab"/>
              <a:sym typeface="Akatab"/>
            </a:endParaRPr>
          </a:p>
          <a:p>
            <a:pPr indent="0" lvl="0" marL="0" rtl="0" algn="l">
              <a:lnSpc>
                <a:spcPct val="100000"/>
              </a:lnSpc>
              <a:spcBef>
                <a:spcPts val="0"/>
              </a:spcBef>
              <a:spcAft>
                <a:spcPts val="0"/>
              </a:spcAft>
              <a:buNone/>
            </a:pPr>
            <a:r>
              <a:t/>
            </a:r>
            <a:endParaRPr b="1" sz="1100">
              <a:latin typeface="Akatab"/>
              <a:ea typeface="Akatab"/>
              <a:cs typeface="Akatab"/>
              <a:sym typeface="Akatab"/>
            </a:endParaRPr>
          </a:p>
          <a:p>
            <a:pPr indent="-304800" lvl="0" marL="457200" rtl="0" algn="l">
              <a:lnSpc>
                <a:spcPct val="115000"/>
              </a:lnSpc>
              <a:spcBef>
                <a:spcPts val="0"/>
              </a:spcBef>
              <a:spcAft>
                <a:spcPts val="0"/>
              </a:spcAft>
              <a:buClr>
                <a:srgbClr val="0D0D0D"/>
              </a:buClr>
              <a:buSzPts val="1200"/>
              <a:buFont typeface="Roboto"/>
              <a:buAutoNum type="arabicPeriod"/>
            </a:pPr>
            <a:r>
              <a:rPr b="1" lang="en" sz="1200">
                <a:solidFill>
                  <a:srgbClr val="0D0D0D"/>
                </a:solidFill>
                <a:highlight>
                  <a:srgbClr val="FFFFFF"/>
                </a:highlight>
                <a:latin typeface="Akatab"/>
                <a:ea typeface="Akatab"/>
                <a:cs typeface="Akatab"/>
                <a:sym typeface="Akatab"/>
              </a:rPr>
              <a:t>Interactive Use of social media</a:t>
            </a:r>
            <a:r>
              <a:rPr lang="en" sz="1200">
                <a:solidFill>
                  <a:srgbClr val="0D0D0D"/>
                </a:solidFill>
                <a:highlight>
                  <a:srgbClr val="FFFFFF"/>
                </a:highlight>
                <a:latin typeface="Akatab"/>
                <a:ea typeface="Akatab"/>
                <a:cs typeface="Akatab"/>
                <a:sym typeface="Akatab"/>
              </a:rPr>
              <a:t>: Ease of access and campaigns can be organized to ensure effective communication with customers on social media platforms such as Instagram, Twitter and Facebook. Brand loyalty of customers is ensured, and a data set is created with quick feedback from customers. Thus, the variety, personalization and pricing of products in the digital environment can be adjusted according to this data.</a:t>
            </a:r>
            <a:endParaRPr sz="1200">
              <a:solidFill>
                <a:srgbClr val="0D0D0D"/>
              </a:solidFill>
              <a:highlight>
                <a:srgbClr val="FFFFFF"/>
              </a:highlight>
              <a:latin typeface="Akatab"/>
              <a:ea typeface="Akatab"/>
              <a:cs typeface="Akatab"/>
              <a:sym typeface="Akatab"/>
            </a:endParaRPr>
          </a:p>
          <a:p>
            <a:pPr indent="-304800" lvl="0" marL="457200" rtl="0" algn="l">
              <a:lnSpc>
                <a:spcPct val="115000"/>
              </a:lnSpc>
              <a:spcBef>
                <a:spcPts val="0"/>
              </a:spcBef>
              <a:spcAft>
                <a:spcPts val="0"/>
              </a:spcAft>
              <a:buClr>
                <a:srgbClr val="0D0D0D"/>
              </a:buClr>
              <a:buSzPts val="1200"/>
              <a:buFont typeface="Roboto"/>
              <a:buAutoNum type="arabicPeriod"/>
            </a:pPr>
            <a:r>
              <a:rPr b="1" lang="en" sz="1200">
                <a:solidFill>
                  <a:srgbClr val="0D0D0D"/>
                </a:solidFill>
                <a:highlight>
                  <a:srgbClr val="FFFFFF"/>
                </a:highlight>
                <a:latin typeface="Akatab"/>
                <a:ea typeface="Akatab"/>
                <a:cs typeface="Akatab"/>
                <a:sym typeface="Akatab"/>
              </a:rPr>
              <a:t> Ensuring Digital Loyalty</a:t>
            </a:r>
            <a:r>
              <a:rPr lang="en" sz="1200">
                <a:solidFill>
                  <a:srgbClr val="0D0D0D"/>
                </a:solidFill>
                <a:highlight>
                  <a:srgbClr val="FFFFFF"/>
                </a:highlight>
                <a:latin typeface="Akatab"/>
                <a:ea typeface="Akatab"/>
                <a:cs typeface="Akatab"/>
                <a:sym typeface="Akatab"/>
              </a:rPr>
              <a:t>: In order to establish Dollarama's digital identity among customers, certain campaigns and strategies can be followed to ensure brand loyalty in purchases on digital platforms. In fact, reward plans can be made to ensure loyalty even when customers visit the digital platform and examine products without purchasing.</a:t>
            </a:r>
            <a:endParaRPr sz="1200">
              <a:solidFill>
                <a:srgbClr val="0D0D0D"/>
              </a:solidFill>
              <a:highlight>
                <a:srgbClr val="FFFFFF"/>
              </a:highlight>
              <a:latin typeface="Akatab"/>
              <a:ea typeface="Akatab"/>
              <a:cs typeface="Akatab"/>
              <a:sym typeface="Akatab"/>
            </a:endParaRPr>
          </a:p>
          <a:p>
            <a:pPr indent="-304800" lvl="0" marL="457200" rtl="0" algn="l">
              <a:lnSpc>
                <a:spcPct val="115000"/>
              </a:lnSpc>
              <a:spcBef>
                <a:spcPts val="0"/>
              </a:spcBef>
              <a:spcAft>
                <a:spcPts val="0"/>
              </a:spcAft>
              <a:buClr>
                <a:srgbClr val="0D0D0D"/>
              </a:buClr>
              <a:buSzPts val="1200"/>
              <a:buFont typeface="Roboto"/>
              <a:buAutoNum type="arabicPeriod"/>
            </a:pPr>
            <a:r>
              <a:rPr b="1" lang="en" sz="1200">
                <a:solidFill>
                  <a:srgbClr val="0D0D0D"/>
                </a:solidFill>
                <a:highlight>
                  <a:srgbClr val="FFFFFF"/>
                </a:highlight>
                <a:latin typeface="Akatab"/>
                <a:ea typeface="Akatab"/>
                <a:cs typeface="Akatab"/>
                <a:sym typeface="Akatab"/>
              </a:rPr>
              <a:t>Personalization on the Digital Platform</a:t>
            </a:r>
            <a:r>
              <a:rPr lang="en" sz="1200">
                <a:solidFill>
                  <a:srgbClr val="0D0D0D"/>
                </a:solidFill>
                <a:highlight>
                  <a:srgbClr val="FFFFFF"/>
                </a:highlight>
                <a:latin typeface="Akatab"/>
                <a:ea typeface="Akatab"/>
                <a:cs typeface="Akatab"/>
                <a:sym typeface="Akatab"/>
              </a:rPr>
              <a:t>: Dollarama can apply personalization policies for its customers since the behavior and preferences of consumers on the website, mobile application and social media channels can be easily tracked with the help of artificial intelligence. In this context, it can offer special shopping offers to each customer. A customer who logs into the digital platform can be encouraged to shop with digital personalization because his identity is known and there is data about him.</a:t>
            </a:r>
            <a:endParaRPr sz="1200">
              <a:solidFill>
                <a:srgbClr val="0D0D0D"/>
              </a:solidFill>
              <a:highlight>
                <a:srgbClr val="FFFFFF"/>
              </a:highlight>
              <a:latin typeface="Akatab"/>
              <a:ea typeface="Akatab"/>
              <a:cs typeface="Akatab"/>
              <a:sym typeface="Akatab"/>
            </a:endParaRPr>
          </a:p>
          <a:p>
            <a:pPr indent="0" lvl="0" marL="457200" rtl="0" algn="l">
              <a:lnSpc>
                <a:spcPct val="115000"/>
              </a:lnSpc>
              <a:spcBef>
                <a:spcPts val="0"/>
              </a:spcBef>
              <a:spcAft>
                <a:spcPts val="0"/>
              </a:spcAft>
              <a:buNone/>
            </a:pPr>
            <a:r>
              <a:t/>
            </a:r>
            <a:endParaRPr sz="1200">
              <a:solidFill>
                <a:srgbClr val="0D0D0D"/>
              </a:solidFill>
              <a:highlight>
                <a:srgbClr val="FFFFFF"/>
              </a:highlight>
              <a:latin typeface="Akatab"/>
              <a:ea typeface="Akatab"/>
              <a:cs typeface="Akatab"/>
              <a:sym typeface="Akatab"/>
            </a:endParaRPr>
          </a:p>
        </p:txBody>
      </p:sp>
      <p:sp>
        <p:nvSpPr>
          <p:cNvPr id="394" name="Google Shape;394;p40"/>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27</a:t>
            </a:r>
            <a:endParaRPr sz="1200">
              <a:solidFill>
                <a:schemeClr val="dk1"/>
              </a:solidFill>
              <a:latin typeface="Noto Serif Ethiopic"/>
              <a:ea typeface="Noto Serif Ethiopic"/>
              <a:cs typeface="Noto Serif Ethiopic"/>
              <a:sym typeface="Noto Serif Ethiopic"/>
            </a:endParaRPr>
          </a:p>
        </p:txBody>
      </p:sp>
      <p:sp>
        <p:nvSpPr>
          <p:cNvPr id="395" name="Google Shape;395;p40"/>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pic>
        <p:nvPicPr>
          <p:cNvPr id="400" name="Google Shape;400;p41"/>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401" name="Google Shape;401;p41"/>
          <p:cNvSpPr txBox="1"/>
          <p:nvPr>
            <p:ph type="title"/>
          </p:nvPr>
        </p:nvSpPr>
        <p:spPr>
          <a:xfrm>
            <a:off x="72030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14 Trade Tools</a:t>
            </a:r>
            <a:endParaRPr sz="1800"/>
          </a:p>
        </p:txBody>
      </p:sp>
      <p:sp>
        <p:nvSpPr>
          <p:cNvPr id="402" name="Google Shape;402;p41"/>
          <p:cNvSpPr txBox="1"/>
          <p:nvPr/>
        </p:nvSpPr>
        <p:spPr>
          <a:xfrm>
            <a:off x="256625" y="809400"/>
            <a:ext cx="5266200" cy="3474900"/>
          </a:xfrm>
          <a:prstGeom prst="rect">
            <a:avLst/>
          </a:prstGeom>
          <a:noFill/>
          <a:ln>
            <a:noFill/>
          </a:ln>
        </p:spPr>
        <p:txBody>
          <a:bodyPr anchorCtr="0" anchor="t" bIns="91425" lIns="91425" spcFirstLastPara="1" rIns="91425" wrap="square" tIns="91425">
            <a:spAutoFit/>
          </a:bodyPr>
          <a:lstStyle/>
          <a:p>
            <a:pPr indent="-292100" lvl="0" marL="457200" rtl="0" algn="l">
              <a:lnSpc>
                <a:spcPct val="115000"/>
              </a:lnSpc>
              <a:spcBef>
                <a:spcPts val="0"/>
              </a:spcBef>
              <a:spcAft>
                <a:spcPts val="0"/>
              </a:spcAft>
              <a:buSzPts val="1000"/>
              <a:buFont typeface="Akatab"/>
              <a:buChar char="●"/>
            </a:pPr>
            <a:r>
              <a:rPr b="1" lang="en" sz="1000">
                <a:latin typeface="Akatab"/>
                <a:ea typeface="Akatab"/>
                <a:cs typeface="Akatab"/>
                <a:sym typeface="Akatab"/>
              </a:rPr>
              <a:t>E-commerce Platform Expansion:</a:t>
            </a:r>
            <a:endParaRPr b="1" sz="1000">
              <a:latin typeface="Akatab"/>
              <a:ea typeface="Akatab"/>
              <a:cs typeface="Akatab"/>
              <a:sym typeface="Akatab"/>
            </a:endParaRPr>
          </a:p>
          <a:p>
            <a:pPr indent="-292100" lvl="1" marL="914400" rtl="0" algn="l">
              <a:lnSpc>
                <a:spcPct val="115000"/>
              </a:lnSpc>
              <a:spcBef>
                <a:spcPts val="0"/>
              </a:spcBef>
              <a:spcAft>
                <a:spcPts val="0"/>
              </a:spcAft>
              <a:buSzPts val="1000"/>
              <a:buFont typeface="Akatab"/>
              <a:buChar char="○"/>
            </a:pPr>
            <a:r>
              <a:rPr lang="en" sz="1000">
                <a:latin typeface="Akatab"/>
                <a:ea typeface="Akatab"/>
                <a:cs typeface="Akatab"/>
                <a:sym typeface="Akatab"/>
              </a:rPr>
              <a:t>Best-Fit Customer List: Online shoppers, tech-savvy individuals, people with busy lifestyles, and those living in remote areas.</a:t>
            </a:r>
            <a:endParaRPr sz="1000">
              <a:latin typeface="Akatab"/>
              <a:ea typeface="Akatab"/>
              <a:cs typeface="Akatab"/>
              <a:sym typeface="Akatab"/>
            </a:endParaRPr>
          </a:p>
          <a:p>
            <a:pPr indent="-292100" lvl="1" marL="914400" rtl="0" algn="l">
              <a:lnSpc>
                <a:spcPct val="115000"/>
              </a:lnSpc>
              <a:spcBef>
                <a:spcPts val="0"/>
              </a:spcBef>
              <a:spcAft>
                <a:spcPts val="0"/>
              </a:spcAft>
              <a:buSzPts val="1000"/>
              <a:buFont typeface="Akatab"/>
              <a:buChar char="○"/>
            </a:pPr>
            <a:r>
              <a:rPr lang="en" sz="1000">
                <a:latin typeface="Akatab"/>
                <a:ea typeface="Akatab"/>
                <a:cs typeface="Akatab"/>
                <a:sym typeface="Akatab"/>
              </a:rPr>
              <a:t>Defense: These customers benefit most from the convenience, variety, and accessibility offered by an enhanced online shopping experience. Targeting this demographic taps into the growing trend of digital consumption and leverages Dollarama’s operational strengths.</a:t>
            </a:r>
            <a:endParaRPr sz="1000">
              <a:latin typeface="Akatab"/>
              <a:ea typeface="Akatab"/>
              <a:cs typeface="Akatab"/>
              <a:sym typeface="Akatab"/>
            </a:endParaRPr>
          </a:p>
          <a:p>
            <a:pPr indent="-292100" lvl="0" marL="457200" rtl="0" algn="l">
              <a:lnSpc>
                <a:spcPct val="115000"/>
              </a:lnSpc>
              <a:spcBef>
                <a:spcPts val="0"/>
              </a:spcBef>
              <a:spcAft>
                <a:spcPts val="0"/>
              </a:spcAft>
              <a:buSzPts val="1000"/>
              <a:buFont typeface="Akatab"/>
              <a:buChar char="●"/>
            </a:pPr>
            <a:r>
              <a:rPr b="1" lang="en" sz="1000">
                <a:latin typeface="Akatab"/>
                <a:ea typeface="Akatab"/>
                <a:cs typeface="Akatab"/>
                <a:sym typeface="Akatab"/>
              </a:rPr>
              <a:t>Increased Selection of Healthful Snacks:</a:t>
            </a:r>
            <a:endParaRPr b="1" sz="1000">
              <a:latin typeface="Akatab"/>
              <a:ea typeface="Akatab"/>
              <a:cs typeface="Akatab"/>
              <a:sym typeface="Akatab"/>
            </a:endParaRPr>
          </a:p>
          <a:p>
            <a:pPr indent="-292100" lvl="1" marL="914400" rtl="0" algn="l">
              <a:lnSpc>
                <a:spcPct val="115000"/>
              </a:lnSpc>
              <a:spcBef>
                <a:spcPts val="0"/>
              </a:spcBef>
              <a:spcAft>
                <a:spcPts val="0"/>
              </a:spcAft>
              <a:buSzPts val="1000"/>
              <a:buFont typeface="Akatab"/>
              <a:buChar char="○"/>
            </a:pPr>
            <a:r>
              <a:rPr lang="en" sz="1000">
                <a:latin typeface="Akatab"/>
                <a:ea typeface="Akatab"/>
                <a:cs typeface="Akatab"/>
                <a:sym typeface="Akatab"/>
              </a:rPr>
              <a:t>Best-Fit Customer List: Health-conscious consumers, millennials, and parents looking for nutritious snack options for their families.</a:t>
            </a:r>
            <a:endParaRPr sz="1000">
              <a:latin typeface="Akatab"/>
              <a:ea typeface="Akatab"/>
              <a:cs typeface="Akatab"/>
              <a:sym typeface="Akatab"/>
            </a:endParaRPr>
          </a:p>
          <a:p>
            <a:pPr indent="-292100" lvl="1" marL="914400" rtl="0" algn="l">
              <a:lnSpc>
                <a:spcPct val="115000"/>
              </a:lnSpc>
              <a:spcBef>
                <a:spcPts val="0"/>
              </a:spcBef>
              <a:spcAft>
                <a:spcPts val="0"/>
              </a:spcAft>
              <a:buSzPts val="1000"/>
              <a:buFont typeface="Akatab"/>
              <a:buChar char="○"/>
            </a:pPr>
            <a:r>
              <a:rPr lang="en" sz="1000">
                <a:latin typeface="Akatab"/>
                <a:ea typeface="Akatab"/>
                <a:cs typeface="Akatab"/>
                <a:sym typeface="Akatab"/>
              </a:rPr>
              <a:t>Defense: Catering to this segment addresses the rising demand for healthier food choices and differentiates Dollarama in the competitive landscape by meeting specific dietary needs and preferences.</a:t>
            </a:r>
            <a:endParaRPr sz="1000">
              <a:latin typeface="Akatab"/>
              <a:ea typeface="Akatab"/>
              <a:cs typeface="Akatab"/>
              <a:sym typeface="Akatab"/>
            </a:endParaRPr>
          </a:p>
          <a:p>
            <a:pPr indent="-292100" lvl="0" marL="457200" rtl="0" algn="l">
              <a:lnSpc>
                <a:spcPct val="115000"/>
              </a:lnSpc>
              <a:spcBef>
                <a:spcPts val="0"/>
              </a:spcBef>
              <a:spcAft>
                <a:spcPts val="0"/>
              </a:spcAft>
              <a:buSzPts val="1000"/>
              <a:buFont typeface="Akatab"/>
              <a:buChar char="●"/>
            </a:pPr>
            <a:r>
              <a:rPr b="1" lang="en" sz="1000">
                <a:latin typeface="Akatab"/>
                <a:ea typeface="Akatab"/>
                <a:cs typeface="Akatab"/>
                <a:sym typeface="Akatab"/>
              </a:rPr>
              <a:t>Loyalty Points Program:</a:t>
            </a:r>
            <a:endParaRPr b="1" sz="1000">
              <a:latin typeface="Akatab"/>
              <a:ea typeface="Akatab"/>
              <a:cs typeface="Akatab"/>
              <a:sym typeface="Akatab"/>
            </a:endParaRPr>
          </a:p>
          <a:p>
            <a:pPr indent="-292100" lvl="1" marL="914400" rtl="0" algn="l">
              <a:lnSpc>
                <a:spcPct val="115000"/>
              </a:lnSpc>
              <a:spcBef>
                <a:spcPts val="0"/>
              </a:spcBef>
              <a:spcAft>
                <a:spcPts val="0"/>
              </a:spcAft>
              <a:buSzPts val="1000"/>
              <a:buFont typeface="Akatab"/>
              <a:buChar char="○"/>
            </a:pPr>
            <a:r>
              <a:rPr lang="en" sz="1000">
                <a:latin typeface="Akatab"/>
                <a:ea typeface="Akatab"/>
                <a:cs typeface="Akatab"/>
                <a:sym typeface="Akatab"/>
              </a:rPr>
              <a:t>Best-Fit Customer List: Frequent shoppers, buyers who looks for discounts, and Dollarama app users.</a:t>
            </a:r>
            <a:endParaRPr sz="1000">
              <a:latin typeface="Akatab"/>
              <a:ea typeface="Akatab"/>
              <a:cs typeface="Akatab"/>
              <a:sym typeface="Akatab"/>
            </a:endParaRPr>
          </a:p>
          <a:p>
            <a:pPr indent="-292100" lvl="1" marL="914400" rtl="0" algn="l">
              <a:lnSpc>
                <a:spcPct val="115000"/>
              </a:lnSpc>
              <a:spcBef>
                <a:spcPts val="0"/>
              </a:spcBef>
              <a:spcAft>
                <a:spcPts val="0"/>
              </a:spcAft>
              <a:buSzPts val="1000"/>
              <a:buFont typeface="Akatab"/>
              <a:buChar char="○"/>
            </a:pPr>
            <a:r>
              <a:rPr lang="en" sz="1000">
                <a:latin typeface="Akatab"/>
                <a:ea typeface="Akatab"/>
                <a:cs typeface="Akatab"/>
                <a:sym typeface="Akatab"/>
              </a:rPr>
              <a:t>Defense: This group values rewards and incentives that enhance their shopping experience and increase brand loyalty. Implementing a loyalty program encourages repeat visits and increases customer engagement.</a:t>
            </a:r>
            <a:endParaRPr sz="1000">
              <a:latin typeface="Akatab"/>
              <a:ea typeface="Akatab"/>
              <a:cs typeface="Akatab"/>
              <a:sym typeface="Akatab"/>
            </a:endParaRPr>
          </a:p>
        </p:txBody>
      </p:sp>
      <p:pic>
        <p:nvPicPr>
          <p:cNvPr id="403" name="Google Shape;403;p41"/>
          <p:cNvPicPr preferRelativeResize="0"/>
          <p:nvPr/>
        </p:nvPicPr>
        <p:blipFill>
          <a:blip r:embed="rId4">
            <a:alphaModFix/>
          </a:blip>
          <a:stretch>
            <a:fillRect/>
          </a:stretch>
        </p:blipFill>
        <p:spPr>
          <a:xfrm>
            <a:off x="5834525" y="1617925"/>
            <a:ext cx="2979225" cy="1702425"/>
          </a:xfrm>
          <a:prstGeom prst="rect">
            <a:avLst/>
          </a:prstGeom>
          <a:noFill/>
          <a:ln>
            <a:noFill/>
          </a:ln>
        </p:spPr>
      </p:pic>
      <p:sp>
        <p:nvSpPr>
          <p:cNvPr id="404" name="Google Shape;404;p41"/>
          <p:cNvSpPr txBox="1"/>
          <p:nvPr/>
        </p:nvSpPr>
        <p:spPr>
          <a:xfrm>
            <a:off x="5834525" y="3320363"/>
            <a:ext cx="3453000" cy="20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arker Grotesque Medium"/>
                <a:ea typeface="Darker Grotesque Medium"/>
                <a:cs typeface="Darker Grotesque Medium"/>
                <a:sym typeface="Darker Grotesque Medium"/>
              </a:rPr>
              <a:t>A concept design of Loyalty Card for Dollarama</a:t>
            </a:r>
            <a:endParaRPr sz="1200">
              <a:solidFill>
                <a:schemeClr val="dk1"/>
              </a:solidFill>
              <a:latin typeface="Darker Grotesque Medium"/>
              <a:ea typeface="Darker Grotesque Medium"/>
              <a:cs typeface="Darker Grotesque Medium"/>
              <a:sym typeface="Darker Grotesque Medium"/>
            </a:endParaRPr>
          </a:p>
        </p:txBody>
      </p:sp>
      <p:sp>
        <p:nvSpPr>
          <p:cNvPr id="405" name="Google Shape;405;p41"/>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28</a:t>
            </a:r>
            <a:endParaRPr sz="1200">
              <a:solidFill>
                <a:schemeClr val="dk1"/>
              </a:solidFill>
              <a:latin typeface="Noto Serif Ethiopic"/>
              <a:ea typeface="Noto Serif Ethiopic"/>
              <a:cs typeface="Noto Serif Ethiopic"/>
              <a:sym typeface="Noto Serif Ethiopic"/>
            </a:endParaRPr>
          </a:p>
        </p:txBody>
      </p:sp>
      <p:sp>
        <p:nvSpPr>
          <p:cNvPr id="406" name="Google Shape;406;p41"/>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2"/>
          <p:cNvSpPr txBox="1"/>
          <p:nvPr>
            <p:ph type="title"/>
          </p:nvPr>
        </p:nvSpPr>
        <p:spPr>
          <a:xfrm>
            <a:off x="720000" y="1719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References</a:t>
            </a:r>
            <a:endParaRPr sz="2500"/>
          </a:p>
        </p:txBody>
      </p:sp>
      <p:pic>
        <p:nvPicPr>
          <p:cNvPr id="412" name="Google Shape;412;p42"/>
          <p:cNvPicPr preferRelativeResize="0"/>
          <p:nvPr/>
        </p:nvPicPr>
        <p:blipFill rotWithShape="1">
          <a:blip r:embed="rId3">
            <a:alphaModFix/>
          </a:blip>
          <a:srcRect b="31563" l="0" r="4214" t="35336"/>
          <a:stretch/>
        </p:blipFill>
        <p:spPr>
          <a:xfrm>
            <a:off x="6459724" y="171950"/>
            <a:ext cx="2486077" cy="572700"/>
          </a:xfrm>
          <a:prstGeom prst="rect">
            <a:avLst/>
          </a:prstGeom>
          <a:noFill/>
          <a:ln>
            <a:noFill/>
          </a:ln>
        </p:spPr>
      </p:pic>
      <p:sp>
        <p:nvSpPr>
          <p:cNvPr id="413" name="Google Shape;413;p42"/>
          <p:cNvSpPr txBox="1"/>
          <p:nvPr/>
        </p:nvSpPr>
        <p:spPr>
          <a:xfrm>
            <a:off x="-83700" y="666450"/>
            <a:ext cx="9311400" cy="3810600"/>
          </a:xfrm>
          <a:prstGeom prst="rect">
            <a:avLst/>
          </a:prstGeom>
          <a:noFill/>
          <a:ln>
            <a:noFill/>
          </a:ln>
        </p:spPr>
        <p:txBody>
          <a:bodyPr anchorCtr="0" anchor="t" bIns="91425" lIns="91425" spcFirstLastPara="1" rIns="91425" wrap="square" tIns="91425">
            <a:noAutofit/>
          </a:bodyPr>
          <a:lstStyle/>
          <a:p>
            <a:pPr indent="457200" lvl="0" marL="0" rtl="0" algn="l">
              <a:lnSpc>
                <a:spcPct val="115000"/>
              </a:lnSpc>
              <a:spcBef>
                <a:spcPts val="1200"/>
              </a:spcBef>
              <a:spcAft>
                <a:spcPts val="0"/>
              </a:spcAft>
              <a:buNone/>
            </a:pPr>
            <a:r>
              <a:rPr lang="en" sz="600">
                <a:latin typeface="Akatab"/>
                <a:ea typeface="Akatab"/>
                <a:cs typeface="Akatab"/>
                <a:sym typeface="Akatab"/>
              </a:rPr>
              <a:t>“The Statistics Portal.” </a:t>
            </a:r>
            <a:r>
              <a:rPr i="1" lang="en" sz="600">
                <a:latin typeface="Akatab"/>
                <a:ea typeface="Akatab"/>
                <a:cs typeface="Akatab"/>
                <a:sym typeface="Akatab"/>
              </a:rPr>
              <a:t>Statista</a:t>
            </a:r>
            <a:r>
              <a:rPr lang="en" sz="600">
                <a:latin typeface="Akatab"/>
                <a:ea typeface="Akatab"/>
                <a:cs typeface="Akatab"/>
                <a:sym typeface="Akatab"/>
              </a:rPr>
              <a:t>, www.statista.com/. Accessed 22 Mar. 2024. </a:t>
            </a:r>
            <a:endParaRPr i="1" sz="600">
              <a:latin typeface="Akatab"/>
              <a:ea typeface="Akatab"/>
              <a:cs typeface="Akatab"/>
              <a:sym typeface="Akatab"/>
            </a:endParaRPr>
          </a:p>
          <a:p>
            <a:pPr indent="457200" lvl="0" marL="0" rtl="0" algn="l">
              <a:lnSpc>
                <a:spcPct val="115000"/>
              </a:lnSpc>
              <a:spcBef>
                <a:spcPts val="1200"/>
              </a:spcBef>
              <a:spcAft>
                <a:spcPts val="0"/>
              </a:spcAft>
              <a:buNone/>
            </a:pPr>
            <a:r>
              <a:rPr i="1" lang="en" sz="600">
                <a:latin typeface="Akatab"/>
                <a:ea typeface="Akatab"/>
                <a:cs typeface="Akatab"/>
                <a:sym typeface="Akatab"/>
              </a:rPr>
              <a:t>Investopedia</a:t>
            </a:r>
            <a:r>
              <a:rPr lang="en" sz="600">
                <a:latin typeface="Akatab"/>
                <a:ea typeface="Akatab"/>
                <a:cs typeface="Akatab"/>
                <a:sym typeface="Akatab"/>
              </a:rPr>
              <a:t>, Investopedia, www.investopedia.com/. Accessed 22 Mar. 2024. </a:t>
            </a:r>
            <a:endParaRPr sz="600">
              <a:solidFill>
                <a:srgbClr val="372D06"/>
              </a:solidFill>
              <a:latin typeface="Akatab"/>
              <a:ea typeface="Akatab"/>
              <a:cs typeface="Akatab"/>
              <a:sym typeface="Akatab"/>
            </a:endParaRPr>
          </a:p>
          <a:p>
            <a:pPr indent="457200" lvl="0" marL="0" rtl="0" algn="l">
              <a:lnSpc>
                <a:spcPct val="115000"/>
              </a:lnSpc>
              <a:spcBef>
                <a:spcPts val="1200"/>
              </a:spcBef>
              <a:spcAft>
                <a:spcPts val="0"/>
              </a:spcAft>
              <a:buNone/>
            </a:pPr>
            <a:r>
              <a:rPr i="1" lang="en" sz="600">
                <a:latin typeface="Akatab"/>
                <a:ea typeface="Akatab"/>
                <a:cs typeface="Akatab"/>
                <a:sym typeface="Akatab"/>
              </a:rPr>
              <a:t>TechCrunch</a:t>
            </a:r>
            <a:r>
              <a:rPr lang="en" sz="600">
                <a:latin typeface="Akatab"/>
                <a:ea typeface="Akatab"/>
                <a:cs typeface="Akatab"/>
                <a:sym typeface="Akatab"/>
              </a:rPr>
              <a:t>, techcrunch.com/. Accessed 22 Mar. 2024. </a:t>
            </a:r>
            <a:endParaRPr sz="600">
              <a:latin typeface="Akatab"/>
              <a:ea typeface="Akatab"/>
              <a:cs typeface="Akatab"/>
              <a:sym typeface="Akatab"/>
            </a:endParaRPr>
          </a:p>
          <a:p>
            <a:pPr indent="457200" lvl="0" marL="0" rtl="0" algn="l">
              <a:lnSpc>
                <a:spcPct val="115000"/>
              </a:lnSpc>
              <a:spcBef>
                <a:spcPts val="1200"/>
              </a:spcBef>
              <a:spcAft>
                <a:spcPts val="0"/>
              </a:spcAft>
              <a:buNone/>
            </a:pPr>
            <a:r>
              <a:rPr lang="en" sz="600">
                <a:latin typeface="Akatab"/>
                <a:ea typeface="Akatab"/>
                <a:cs typeface="Akatab"/>
                <a:sym typeface="Akatab"/>
              </a:rPr>
              <a:t>“Risk Managers, Consumers Cite Climate Change as Top Emerging Concern.” </a:t>
            </a:r>
            <a:r>
              <a:rPr i="1" lang="en" sz="600">
                <a:latin typeface="Akatab"/>
                <a:ea typeface="Akatab"/>
                <a:cs typeface="Akatab"/>
                <a:sym typeface="Akatab"/>
              </a:rPr>
              <a:t>Sustainable Brands</a:t>
            </a:r>
            <a:r>
              <a:rPr lang="en" sz="600">
                <a:latin typeface="Akatab"/>
                <a:ea typeface="Akatab"/>
                <a:cs typeface="Akatab"/>
                <a:sym typeface="Akatab"/>
              </a:rPr>
              <a:t>, www.sustainablebrands.com/. Accessed 22 Mar. 2024. </a:t>
            </a:r>
            <a:endParaRPr sz="600">
              <a:latin typeface="Akatab"/>
              <a:ea typeface="Akatab"/>
              <a:cs typeface="Akatab"/>
              <a:sym typeface="Akatab"/>
            </a:endParaRPr>
          </a:p>
          <a:p>
            <a:pPr indent="457200" lvl="0" marL="0" rtl="0" algn="l">
              <a:lnSpc>
                <a:spcPct val="115000"/>
              </a:lnSpc>
              <a:spcBef>
                <a:spcPts val="1200"/>
              </a:spcBef>
              <a:spcAft>
                <a:spcPts val="0"/>
              </a:spcAft>
              <a:buNone/>
            </a:pPr>
            <a:r>
              <a:rPr i="1" lang="en" sz="600">
                <a:solidFill>
                  <a:srgbClr val="372D06"/>
                </a:solidFill>
                <a:latin typeface="Akatab"/>
                <a:ea typeface="Akatab"/>
                <a:cs typeface="Akatab"/>
                <a:sym typeface="Akatab"/>
              </a:rPr>
              <a:t>Dollarama</a:t>
            </a:r>
            <a:r>
              <a:rPr lang="en" sz="600">
                <a:solidFill>
                  <a:srgbClr val="372D06"/>
                </a:solidFill>
                <a:latin typeface="Akatab"/>
                <a:ea typeface="Akatab"/>
                <a:cs typeface="Akatab"/>
                <a:sym typeface="Akatab"/>
              </a:rPr>
              <a:t>, </a:t>
            </a:r>
            <a:r>
              <a:rPr lang="en" sz="600" u="sng">
                <a:solidFill>
                  <a:srgbClr val="372D06"/>
                </a:solidFill>
                <a:latin typeface="Akatab"/>
                <a:ea typeface="Akatab"/>
                <a:cs typeface="Akatab"/>
                <a:sym typeface="Akatab"/>
                <a:hlinkClick r:id="rId4">
                  <a:extLst>
                    <a:ext uri="{A12FA001-AC4F-418D-AE19-62706E023703}">
                      <ahyp:hlinkClr val="tx"/>
                    </a:ext>
                  </a:extLst>
                </a:hlinkClick>
              </a:rPr>
              <a:t>https://www.dollarama.com/en-CA/corp/about-us</a:t>
            </a:r>
            <a:r>
              <a:rPr lang="en" sz="600">
                <a:solidFill>
                  <a:srgbClr val="372D06"/>
                </a:solidFill>
                <a:latin typeface="Akatab"/>
                <a:ea typeface="Akatab"/>
                <a:cs typeface="Akatab"/>
                <a:sym typeface="Akatab"/>
              </a:rPr>
              <a:t> </a:t>
            </a:r>
            <a:endParaRPr sz="600">
              <a:solidFill>
                <a:srgbClr val="372D06"/>
              </a:solidFill>
              <a:latin typeface="Akatab"/>
              <a:ea typeface="Akatab"/>
              <a:cs typeface="Akatab"/>
              <a:sym typeface="Akatab"/>
            </a:endParaRPr>
          </a:p>
          <a:p>
            <a:pPr indent="457200" lvl="0" marL="0" rtl="0" algn="l">
              <a:lnSpc>
                <a:spcPct val="115000"/>
              </a:lnSpc>
              <a:spcBef>
                <a:spcPts val="1200"/>
              </a:spcBef>
              <a:spcAft>
                <a:spcPts val="0"/>
              </a:spcAft>
              <a:buNone/>
            </a:pPr>
            <a:r>
              <a:rPr i="1" lang="en" sz="600">
                <a:latin typeface="Akatab"/>
                <a:ea typeface="Akatab"/>
                <a:cs typeface="Akatab"/>
                <a:sym typeface="Akatab"/>
              </a:rPr>
              <a:t>Dollar Tree Canada</a:t>
            </a:r>
            <a:r>
              <a:rPr lang="en" sz="600">
                <a:latin typeface="Akatab"/>
                <a:ea typeface="Akatab"/>
                <a:cs typeface="Akatab"/>
                <a:sym typeface="Akatab"/>
              </a:rPr>
              <a:t>. </a:t>
            </a:r>
            <a:r>
              <a:rPr lang="en" sz="600" u="sng">
                <a:solidFill>
                  <a:srgbClr val="372D06"/>
                </a:solidFill>
                <a:latin typeface="Akatab"/>
                <a:ea typeface="Akatab"/>
                <a:cs typeface="Akatab"/>
                <a:sym typeface="Akatab"/>
                <a:hlinkClick r:id="rId5">
                  <a:extLst>
                    <a:ext uri="{A12FA001-AC4F-418D-AE19-62706E023703}">
                      <ahyp:hlinkClr val="tx"/>
                    </a:ext>
                  </a:extLst>
                </a:hlinkClick>
              </a:rPr>
              <a:t>www.dollartreecanada.com</a:t>
            </a:r>
            <a:r>
              <a:rPr lang="en" sz="600">
                <a:latin typeface="Akatab"/>
                <a:ea typeface="Akatab"/>
                <a:cs typeface="Akatab"/>
                <a:sym typeface="Akatab"/>
              </a:rPr>
              <a:t>.</a:t>
            </a:r>
            <a:endParaRPr sz="600">
              <a:latin typeface="Akatab"/>
              <a:ea typeface="Akatab"/>
              <a:cs typeface="Akatab"/>
              <a:sym typeface="Akatab"/>
            </a:endParaRPr>
          </a:p>
          <a:p>
            <a:pPr indent="457200" lvl="0" marL="0" rtl="0" algn="l">
              <a:lnSpc>
                <a:spcPct val="115000"/>
              </a:lnSpc>
              <a:spcBef>
                <a:spcPts val="1200"/>
              </a:spcBef>
              <a:spcAft>
                <a:spcPts val="0"/>
              </a:spcAft>
              <a:buNone/>
            </a:pPr>
            <a:r>
              <a:rPr lang="en" sz="600">
                <a:latin typeface="Akatab"/>
                <a:ea typeface="Akatab"/>
                <a:cs typeface="Akatab"/>
                <a:sym typeface="Akatab"/>
              </a:rPr>
              <a:t>“mySTYLE.” </a:t>
            </a:r>
            <a:r>
              <a:rPr i="1" lang="en" sz="600">
                <a:latin typeface="Akatab"/>
                <a:ea typeface="Akatab"/>
                <a:cs typeface="Akatab"/>
                <a:sym typeface="Akatab"/>
              </a:rPr>
              <a:t>Giant Tiger</a:t>
            </a:r>
            <a:r>
              <a:rPr lang="en" sz="600">
                <a:latin typeface="Akatab"/>
                <a:ea typeface="Akatab"/>
                <a:cs typeface="Akatab"/>
                <a:sym typeface="Akatab"/>
              </a:rPr>
              <a:t>, </a:t>
            </a:r>
            <a:r>
              <a:rPr lang="en" sz="600" u="sng">
                <a:solidFill>
                  <a:srgbClr val="372D06"/>
                </a:solidFill>
                <a:latin typeface="Akatab"/>
                <a:ea typeface="Akatab"/>
                <a:cs typeface="Akatab"/>
                <a:sym typeface="Akatab"/>
                <a:hlinkClick r:id="rId6">
                  <a:extLst>
                    <a:ext uri="{A12FA001-AC4F-418D-AE19-62706E023703}">
                      <ahyp:hlinkClr val="tx"/>
                    </a:ext>
                  </a:extLst>
                </a:hlinkClick>
              </a:rPr>
              <a:t>www.gianttiger.com/collections/brand-mystyle?gad_source=1&amp;gclid=CjwKCAjwnv-vBhBdEiwABCYQA_q7KzvNqUKjkrChxjsrekcT2TN-8OLu8VlbCcCIJm6ZaPudFecYJxoCLcAQAvD_BwE&amp;store_inventory=bopis&amp;online_inventory=sth</a:t>
            </a:r>
            <a:r>
              <a:rPr lang="en" sz="600">
                <a:latin typeface="Akatab"/>
                <a:ea typeface="Akatab"/>
                <a:cs typeface="Akatab"/>
                <a:sym typeface="Akatab"/>
              </a:rPr>
              <a:t>.</a:t>
            </a:r>
            <a:endParaRPr sz="600">
              <a:latin typeface="Akatab"/>
              <a:ea typeface="Akatab"/>
              <a:cs typeface="Akatab"/>
              <a:sym typeface="Akatab"/>
            </a:endParaRPr>
          </a:p>
          <a:p>
            <a:pPr indent="457200" lvl="0" marL="0" rtl="0" algn="l">
              <a:lnSpc>
                <a:spcPct val="115000"/>
              </a:lnSpc>
              <a:spcBef>
                <a:spcPts val="1200"/>
              </a:spcBef>
              <a:spcAft>
                <a:spcPts val="0"/>
              </a:spcAft>
              <a:buNone/>
            </a:pPr>
            <a:r>
              <a:rPr i="1" lang="en" sz="600">
                <a:latin typeface="Akatab"/>
                <a:ea typeface="Akatab"/>
                <a:cs typeface="Akatab"/>
                <a:sym typeface="Akatab"/>
              </a:rPr>
              <a:t>Loblaws Supermarket | Grocery Shop Online or Instore</a:t>
            </a:r>
            <a:r>
              <a:rPr lang="en" sz="600">
                <a:latin typeface="Akatab"/>
                <a:ea typeface="Akatab"/>
                <a:cs typeface="Akatab"/>
                <a:sym typeface="Akatab"/>
              </a:rPr>
              <a:t>. </a:t>
            </a:r>
            <a:r>
              <a:rPr lang="en" sz="600" u="sng">
                <a:solidFill>
                  <a:schemeClr val="hlink"/>
                </a:solidFill>
                <a:latin typeface="Akatab"/>
                <a:ea typeface="Akatab"/>
                <a:cs typeface="Akatab"/>
                <a:sym typeface="Akatab"/>
                <a:hlinkClick r:id="rId7"/>
              </a:rPr>
              <a:t>www.loblaws.ca</a:t>
            </a:r>
            <a:r>
              <a:rPr lang="en" sz="600">
                <a:latin typeface="Akatab"/>
                <a:ea typeface="Akatab"/>
                <a:cs typeface="Akatab"/>
                <a:sym typeface="Akatab"/>
              </a:rPr>
              <a:t>.</a:t>
            </a:r>
            <a:endParaRPr sz="600">
              <a:latin typeface="Akatab"/>
              <a:ea typeface="Akatab"/>
              <a:cs typeface="Akatab"/>
              <a:sym typeface="Akatab"/>
            </a:endParaRPr>
          </a:p>
          <a:p>
            <a:pPr indent="457200" lvl="0" marL="0" rtl="0" algn="l">
              <a:lnSpc>
                <a:spcPct val="115000"/>
              </a:lnSpc>
              <a:spcBef>
                <a:spcPts val="1200"/>
              </a:spcBef>
              <a:spcAft>
                <a:spcPts val="0"/>
              </a:spcAft>
              <a:buNone/>
            </a:pPr>
            <a:r>
              <a:rPr lang="en" sz="600">
                <a:latin typeface="Akatab"/>
                <a:ea typeface="Akatab"/>
                <a:cs typeface="Akatab"/>
                <a:sym typeface="Akatab"/>
              </a:rPr>
              <a:t>USPTO Office of Public Affairs (OPA). (2024, March 20). </a:t>
            </a:r>
            <a:r>
              <a:rPr i="1" lang="en" sz="600">
                <a:latin typeface="Akatab"/>
                <a:ea typeface="Akatab"/>
                <a:cs typeface="Akatab"/>
                <a:sym typeface="Akatab"/>
              </a:rPr>
              <a:t>United States Patent and Trademark Office</a:t>
            </a:r>
            <a:r>
              <a:rPr lang="en" sz="600">
                <a:latin typeface="Akatab"/>
                <a:ea typeface="Akatab"/>
                <a:cs typeface="Akatab"/>
                <a:sym typeface="Akatab"/>
              </a:rPr>
              <a:t>. United States Patent and Trademark Office - An Agency of the Department of Commerce. https://www.uspto.gov/</a:t>
            </a:r>
            <a:r>
              <a:rPr lang="en" sz="600">
                <a:latin typeface="Akatab"/>
                <a:ea typeface="Akatab"/>
                <a:cs typeface="Akatab"/>
                <a:sym typeface="Akatab"/>
              </a:rPr>
              <a:t> </a:t>
            </a:r>
            <a:endParaRPr sz="600">
              <a:latin typeface="Akatab"/>
              <a:ea typeface="Akatab"/>
              <a:cs typeface="Akatab"/>
              <a:sym typeface="Akatab"/>
            </a:endParaRPr>
          </a:p>
          <a:p>
            <a:pPr indent="457200" lvl="0" marL="0" rtl="0" algn="l">
              <a:lnSpc>
                <a:spcPct val="115000"/>
              </a:lnSpc>
              <a:spcBef>
                <a:spcPts val="1200"/>
              </a:spcBef>
              <a:spcAft>
                <a:spcPts val="0"/>
              </a:spcAft>
              <a:buNone/>
            </a:pPr>
            <a:r>
              <a:rPr i="1" lang="en" sz="600">
                <a:latin typeface="Akatab"/>
                <a:ea typeface="Akatab"/>
                <a:cs typeface="Akatab"/>
                <a:sym typeface="Akatab"/>
              </a:rPr>
              <a:t>World Intellectual Property Organization</a:t>
            </a:r>
            <a:r>
              <a:rPr lang="en" sz="600">
                <a:latin typeface="Akatab"/>
                <a:ea typeface="Akatab"/>
                <a:cs typeface="Akatab"/>
                <a:sym typeface="Akatab"/>
              </a:rPr>
              <a:t>. WIPO. (n.d.). </a:t>
            </a:r>
            <a:r>
              <a:rPr lang="en" sz="600" u="sng">
                <a:solidFill>
                  <a:srgbClr val="372D06"/>
                </a:solidFill>
                <a:latin typeface="Akatab"/>
                <a:ea typeface="Akatab"/>
                <a:cs typeface="Akatab"/>
                <a:sym typeface="Akatab"/>
                <a:hlinkClick r:id="rId8">
                  <a:extLst>
                    <a:ext uri="{A12FA001-AC4F-418D-AE19-62706E023703}">
                      <ahyp:hlinkClr val="tx"/>
                    </a:ext>
                  </a:extLst>
                </a:hlinkClick>
              </a:rPr>
              <a:t>http://wipo.int/</a:t>
            </a:r>
            <a:endParaRPr sz="600" u="sng">
              <a:solidFill>
                <a:srgbClr val="372D06"/>
              </a:solidFill>
              <a:latin typeface="Akatab"/>
              <a:ea typeface="Akatab"/>
              <a:cs typeface="Akatab"/>
              <a:sym typeface="Akatab"/>
            </a:endParaRPr>
          </a:p>
          <a:p>
            <a:pPr indent="457200" lvl="0" marL="0" rtl="0" algn="l">
              <a:lnSpc>
                <a:spcPct val="115000"/>
              </a:lnSpc>
              <a:spcBef>
                <a:spcPts val="1200"/>
              </a:spcBef>
              <a:spcAft>
                <a:spcPts val="0"/>
              </a:spcAft>
              <a:buNone/>
            </a:pPr>
            <a:r>
              <a:rPr i="1" lang="en" sz="600">
                <a:latin typeface="Akatab"/>
                <a:ea typeface="Akatab"/>
                <a:cs typeface="Akatab"/>
                <a:sym typeface="Akatab"/>
              </a:rPr>
              <a:t>Home</a:t>
            </a:r>
            <a:r>
              <a:rPr lang="en" sz="600">
                <a:latin typeface="Akatab"/>
                <a:ea typeface="Akatab"/>
                <a:cs typeface="Akatab"/>
                <a:sym typeface="Akatab"/>
              </a:rPr>
              <a:t>. SEC Emblem. (2017, February 5). https://www.sec.gov/ </a:t>
            </a:r>
            <a:endParaRPr sz="600">
              <a:latin typeface="Akatab"/>
              <a:ea typeface="Akatab"/>
              <a:cs typeface="Akatab"/>
              <a:sym typeface="Akatab"/>
            </a:endParaRPr>
          </a:p>
          <a:p>
            <a:pPr indent="457200" lvl="0" marL="0" rtl="0" algn="l">
              <a:lnSpc>
                <a:spcPct val="115000"/>
              </a:lnSpc>
              <a:spcBef>
                <a:spcPts val="1200"/>
              </a:spcBef>
              <a:spcAft>
                <a:spcPts val="0"/>
              </a:spcAft>
              <a:buNone/>
            </a:pPr>
            <a:r>
              <a:rPr i="1" lang="en" sz="600">
                <a:latin typeface="Akatab"/>
                <a:ea typeface="Akatab"/>
                <a:cs typeface="Akatab"/>
                <a:sym typeface="Akatab"/>
              </a:rPr>
              <a:t>Solutions for professionals who shape the world.</a:t>
            </a:r>
            <a:r>
              <a:rPr lang="en" sz="600">
                <a:latin typeface="Akatab"/>
                <a:ea typeface="Akatab"/>
                <a:cs typeface="Akatab"/>
                <a:sym typeface="Akatab"/>
              </a:rPr>
              <a:t> Welcome to LexisNexis -Choose Your Path. (n.d.). </a:t>
            </a:r>
            <a:r>
              <a:rPr lang="en" sz="600" u="sng">
                <a:solidFill>
                  <a:srgbClr val="372D06"/>
                </a:solidFill>
                <a:latin typeface="Akatab"/>
                <a:ea typeface="Akatab"/>
                <a:cs typeface="Akatab"/>
                <a:sym typeface="Akatab"/>
                <a:hlinkClick r:id="rId9">
                  <a:extLst>
                    <a:ext uri="{A12FA001-AC4F-418D-AE19-62706E023703}">
                      <ahyp:hlinkClr val="tx"/>
                    </a:ext>
                  </a:extLst>
                </a:hlinkClick>
              </a:rPr>
              <a:t>http://lexisnexis.com/</a:t>
            </a:r>
            <a:endParaRPr sz="600" u="sng">
              <a:solidFill>
                <a:srgbClr val="372D06"/>
              </a:solidFill>
              <a:latin typeface="Akatab"/>
              <a:ea typeface="Akatab"/>
              <a:cs typeface="Akatab"/>
              <a:sym typeface="Akatab"/>
            </a:endParaRPr>
          </a:p>
          <a:p>
            <a:pPr indent="457200" lvl="0" marL="0" rtl="0" algn="l">
              <a:lnSpc>
                <a:spcPct val="115000"/>
              </a:lnSpc>
              <a:spcBef>
                <a:spcPts val="1200"/>
              </a:spcBef>
              <a:spcAft>
                <a:spcPts val="0"/>
              </a:spcAft>
              <a:buNone/>
            </a:pPr>
            <a:r>
              <a:rPr i="1" lang="en" sz="600">
                <a:latin typeface="Akatab"/>
                <a:ea typeface="Akatab"/>
                <a:cs typeface="Akatab"/>
                <a:sym typeface="Akatab"/>
              </a:rPr>
              <a:t>Westlaw Classic</a:t>
            </a:r>
            <a:r>
              <a:rPr lang="en" sz="600">
                <a:latin typeface="Akatab"/>
                <a:ea typeface="Akatab"/>
                <a:cs typeface="Akatab"/>
                <a:sym typeface="Akatab"/>
              </a:rPr>
              <a:t>. Westlaw Sign In | Thomson Reuters. (n.d.). http://westlaw.com/ </a:t>
            </a:r>
            <a:endParaRPr sz="600">
              <a:latin typeface="Akatab"/>
              <a:ea typeface="Akatab"/>
              <a:cs typeface="Akatab"/>
              <a:sym typeface="Akatab"/>
            </a:endParaRPr>
          </a:p>
          <a:p>
            <a:pPr indent="457200" lvl="0" marL="0" rtl="0" algn="l">
              <a:lnSpc>
                <a:spcPct val="115000"/>
              </a:lnSpc>
              <a:spcBef>
                <a:spcPts val="1200"/>
              </a:spcBef>
              <a:spcAft>
                <a:spcPts val="0"/>
              </a:spcAft>
              <a:buNone/>
            </a:pPr>
            <a:r>
              <a:rPr i="1" lang="en" sz="600">
                <a:latin typeface="Akatab"/>
                <a:ea typeface="Akatab"/>
                <a:cs typeface="Akatab"/>
                <a:sym typeface="Akatab"/>
              </a:rPr>
              <a:t>Home</a:t>
            </a:r>
            <a:r>
              <a:rPr lang="en" sz="600">
                <a:latin typeface="Akatab"/>
                <a:ea typeface="Akatab"/>
                <a:cs typeface="Akatab"/>
                <a:sym typeface="Akatab"/>
              </a:rPr>
              <a:t>. Default. (n.d.). https://www.aipla.org/ </a:t>
            </a:r>
            <a:endParaRPr sz="600">
              <a:solidFill>
                <a:srgbClr val="372D06"/>
              </a:solidFill>
              <a:latin typeface="Akatab"/>
              <a:ea typeface="Akatab"/>
              <a:cs typeface="Akatab"/>
              <a:sym typeface="Akatab"/>
            </a:endParaRPr>
          </a:p>
          <a:p>
            <a:pPr indent="0" lvl="0" marL="342900" rtl="0" algn="l">
              <a:lnSpc>
                <a:spcPct val="115000"/>
              </a:lnSpc>
              <a:spcBef>
                <a:spcPts val="1200"/>
              </a:spcBef>
              <a:spcAft>
                <a:spcPts val="0"/>
              </a:spcAft>
              <a:buNone/>
            </a:pPr>
            <a:r>
              <a:t/>
            </a:r>
            <a:endParaRPr sz="600">
              <a:solidFill>
                <a:srgbClr val="372D06"/>
              </a:solidFill>
              <a:latin typeface="Akatab"/>
              <a:ea typeface="Akatab"/>
              <a:cs typeface="Akatab"/>
              <a:sym typeface="Akatab"/>
            </a:endParaRPr>
          </a:p>
          <a:p>
            <a:pPr indent="0" lvl="0" marL="0" rtl="0" algn="l">
              <a:spcBef>
                <a:spcPts val="1200"/>
              </a:spcBef>
              <a:spcAft>
                <a:spcPts val="0"/>
              </a:spcAft>
              <a:buNone/>
            </a:pPr>
            <a:r>
              <a:t/>
            </a:r>
            <a:endParaRPr sz="600">
              <a:solidFill>
                <a:srgbClr val="372D06"/>
              </a:solidFill>
              <a:latin typeface="Akatab"/>
              <a:ea typeface="Akatab"/>
              <a:cs typeface="Akatab"/>
              <a:sym typeface="Akatab"/>
            </a:endParaRPr>
          </a:p>
        </p:txBody>
      </p:sp>
      <p:sp>
        <p:nvSpPr>
          <p:cNvPr id="414" name="Google Shape;414;p42"/>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29</a:t>
            </a:r>
            <a:endParaRPr sz="1200">
              <a:solidFill>
                <a:schemeClr val="dk1"/>
              </a:solidFill>
              <a:latin typeface="Noto Serif Ethiopic"/>
              <a:ea typeface="Noto Serif Ethiopic"/>
              <a:cs typeface="Noto Serif Ethiopic"/>
              <a:sym typeface="Noto Serif Ethiopic"/>
            </a:endParaRPr>
          </a:p>
        </p:txBody>
      </p:sp>
      <p:sp>
        <p:nvSpPr>
          <p:cNvPr id="415" name="Google Shape;415;p42"/>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3"/>
          <p:cNvSpPr txBox="1"/>
          <p:nvPr>
            <p:ph type="title"/>
          </p:nvPr>
        </p:nvSpPr>
        <p:spPr>
          <a:xfrm>
            <a:off x="720000" y="1470895"/>
            <a:ext cx="7704000" cy="2201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200"/>
              <a:t>Thank You!</a:t>
            </a:r>
            <a:endParaRPr sz="5200"/>
          </a:p>
          <a:p>
            <a:pPr indent="0" lvl="0" marL="0" rtl="0" algn="ctr">
              <a:spcBef>
                <a:spcPts val="0"/>
              </a:spcBef>
              <a:spcAft>
                <a:spcPts val="0"/>
              </a:spcAft>
              <a:buNone/>
            </a:pPr>
            <a:r>
              <a:t/>
            </a:r>
            <a:endParaRPr sz="1800"/>
          </a:p>
        </p:txBody>
      </p:sp>
      <p:sp>
        <p:nvSpPr>
          <p:cNvPr id="421" name="Google Shape;421;p43"/>
          <p:cNvSpPr txBox="1"/>
          <p:nvPr/>
        </p:nvSpPr>
        <p:spPr>
          <a:xfrm>
            <a:off x="220800" y="4702425"/>
            <a:ext cx="369000" cy="33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oto Serif Ethiopic"/>
                <a:ea typeface="Noto Serif Ethiopic"/>
                <a:cs typeface="Noto Serif Ethiopic"/>
                <a:sym typeface="Noto Serif Ethiopic"/>
              </a:rPr>
              <a:t>30</a:t>
            </a:r>
            <a:endParaRPr sz="1200">
              <a:solidFill>
                <a:schemeClr val="dk1"/>
              </a:solidFill>
              <a:latin typeface="Noto Serif Ethiopic"/>
              <a:ea typeface="Noto Serif Ethiopic"/>
              <a:cs typeface="Noto Serif Ethiopic"/>
              <a:sym typeface="Noto Serif Ethiopic"/>
            </a:endParaRPr>
          </a:p>
        </p:txBody>
      </p:sp>
      <p:sp>
        <p:nvSpPr>
          <p:cNvPr id="422" name="Google Shape;422;p43"/>
          <p:cNvSpPr txBox="1"/>
          <p:nvPr/>
        </p:nvSpPr>
        <p:spPr>
          <a:xfrm>
            <a:off x="3380526" y="4654325"/>
            <a:ext cx="2253900" cy="33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oto Serif Ethiopic"/>
                <a:ea typeface="Noto Serif Ethiopic"/>
                <a:cs typeface="Noto Serif Ethiopic"/>
                <a:sym typeface="Noto Serif Ethiopic"/>
              </a:rPr>
              <a:t>2024/04/19</a:t>
            </a:r>
            <a:endParaRPr sz="1200">
              <a:solidFill>
                <a:schemeClr val="dk1"/>
              </a:solidFill>
              <a:latin typeface="Noto Serif Ethiopic"/>
              <a:ea typeface="Noto Serif Ethiopic"/>
              <a:cs typeface="Noto Serif Ethiopic"/>
              <a:sym typeface="Noto Serif Ethiopic"/>
            </a:endParaRPr>
          </a:p>
        </p:txBody>
      </p:sp>
    </p:spTree>
  </p:cSld>
  <p:clrMapOvr>
    <a:masterClrMapping/>
  </p:clrMapOvr>
</p:sld>
</file>

<file path=ppt/theme/theme1.xml><?xml version="1.0" encoding="utf-8"?>
<a:theme xmlns:a="http://schemas.openxmlformats.org/drawingml/2006/main" xmlns:r="http://schemas.openxmlformats.org/officeDocument/2006/relationships" name="Executive Summary of Marketing Plan Infographics by Slidesgo">
  <a:themeElements>
    <a:clrScheme name="Simple Light">
      <a:dk1>
        <a:srgbClr val="586847"/>
      </a:dk1>
      <a:lt1>
        <a:srgbClr val="FCFCFC"/>
      </a:lt1>
      <a:dk2>
        <a:srgbClr val="F3ECE6"/>
      </a:dk2>
      <a:lt2>
        <a:srgbClr val="B4ACA2"/>
      </a:lt2>
      <a:accent1>
        <a:srgbClr val="475735"/>
      </a:accent1>
      <a:accent2>
        <a:srgbClr val="303A24"/>
      </a:accent2>
      <a:accent3>
        <a:srgbClr val="FFFFFF"/>
      </a:accent3>
      <a:accent4>
        <a:srgbClr val="FFFFFF"/>
      </a:accent4>
      <a:accent5>
        <a:srgbClr val="FFFFFF"/>
      </a:accent5>
      <a:accent6>
        <a:srgbClr val="FFFFFF"/>
      </a:accent6>
      <a:hlink>
        <a:srgbClr val="58684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